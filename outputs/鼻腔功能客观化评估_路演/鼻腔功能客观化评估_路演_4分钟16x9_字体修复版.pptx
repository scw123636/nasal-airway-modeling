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charts/chart1.xml" ContentType="application/vnd.openxmlformats-officedocument.drawingml.chart+xml"/>
  <Override PartName="/ppt/slides/media/image3.svg" ContentType="image/svg+xml"/>
  <Override PartName="/ppt/slides/media/image4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presProps" Target="presProps.xml"/><Relationship Id="rId12" Type="http://schemas.openxmlformats.org/officeDocument/2006/relationships/tableStyles" Target="tableStyles.xml"/><Relationship Id="rId13" Type="http://schemas.openxmlformats.org/officeDocument/2006/relationships/viewProps" Target="viewProps.xml"/></Relationship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png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hyperlink" Target="&#38468;&#20214;/01-&#24739;&#32773;&#38656;&#27714;&#35843;&#30740;/&#32034;&#24341;.md" TargetMode="Externa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chart" Target="charts/chart1.xml"/><Relationship Id="rId1" Type="http://schemas.openxmlformats.org/officeDocument/2006/relationships/slideLayout" Target="../slideLayouts/slideLayout1.xml"/><Relationship Id="rId3" Type="http://schemas.openxmlformats.org/officeDocument/2006/relationships/hyperlink" Target="&#38468;&#20214;/01-&#24739;&#32773;&#38656;&#27714;&#35843;&#30740;/&#32034;&#24341;.md" TargetMode="Externa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hyperlink" Target="http://localhost:8769/workspace/pro/index.html" TargetMode="Externa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hyperlink" Target="&#38468;&#20214;/03-&#26631;&#23450;&#19982;&#22522;&#20934;&#35745;&#21010;/&#20174;24&#20363;&#21040;&#26631;&#20934;_&#35757;&#32451;&#35774;&#35745;_v1.md" TargetMode="Externa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hyperlink" Target="&#38468;&#20214;/03-&#26631;&#23450;&#19982;&#22522;&#20934;&#35745;&#21010;/&#20174;24&#20363;&#21040;&#26631;&#20934;_&#35757;&#32451;&#35774;&#35745;_v1.md" TargetMode="Externa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hyperlink" Target="&#38468;&#20214;/01-&#24739;&#32773;&#38656;&#27714;&#35843;&#30740;/&#32034;&#24341;.md" TargetMode="External"/><Relationship Id="rId3" Type="http://schemas.openxmlformats.org/officeDocument/2006/relationships/hyperlink" Target="http://localhost:8769/workspace/pro/index.html" TargetMode="External"/><Relationship Id="rId4" Type="http://schemas.openxmlformats.org/officeDocument/2006/relationships/hyperlink" Target="&#38468;&#20214;/02-&#21151;&#33021;&#28436;&#31034;Demo/&#21551;&#21160;&#35828;&#26126;.md" TargetMode="External"/><Relationship Id="rId6" Type="http://schemas.openxmlformats.org/officeDocument/2006/relationships/hyperlink" Target="&#38468;&#20214;/03-&#26631;&#23450;&#19982;&#22522;&#20934;&#35745;&#21010;/&#20174;24&#20363;&#21040;&#26631;&#20934;_&#35757;&#32451;&#35774;&#35745;_v1.md" TargetMode="External"/></Relationships>
</file>

<file path=ppt/slides/charts/chart1.xml><?xml version="1.0" encoding="utf-8"?>
<c:chartSpace xmlns:a="http://schemas.openxmlformats.org/drawingml/2006/main" xmlns:c="http://schemas.openxmlformats.org/drawingml/2006/chart">
  <c:chart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基线均分</c:v>
                </c:pt>
              </c:strCache>
            </c:strRef>
          </c:tx>
          <c:spPr>
            <a:gradFill>
              <a:gsLst>
                <a:gs pos="0">
                  <a:srgbClr val="22D3EE"/>
                </a:gs>
                <a:gs pos="100000">
                  <a:srgbClr val="7DE3F4"/>
                </a:gs>
              </a:gsLst>
              <a:lin ang="0" scaled="1"/>
            </a:gradFill>
          </c:spPr>
          <c:dLbls>
            <c:txPr>
              <a:bodyPr/>
              <a:p>
                <a:pPr>
                  <a:defRPr sz="750">
                    <a:solidFill>
                      <a:srgbClr val="0A1A2F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6"/>
                <c:pt idx="0">
                  <c:v>干燥</c:v>
                </c:pt>
                <c:pt idx="1">
                  <c:v>气流感减弱</c:v>
                </c:pt>
                <c:pt idx="2">
                  <c:v>鼻腔过通</c:v>
                </c:pt>
                <c:pt idx="3">
                  <c:v>窒息感</c:v>
                </c:pt>
                <c:pt idx="4">
                  <c:v>灼热感</c:v>
                </c:pt>
                <c:pt idx="5">
                  <c:v>结痂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4.07</c:v>
                </c:pt>
                <c:pt idx="1">
                  <c:v>4.02</c:v>
                </c:pt>
                <c:pt idx="2">
                  <c:v>3.74</c:v>
                </c:pt>
                <c:pt idx="3">
                  <c:v>3.23</c:v>
                </c:pt>
                <c:pt idx="4">
                  <c:v>2.77</c:v>
                </c:pt>
                <c:pt idx="5">
                  <c:v>2.74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BA6C1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BA6C1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background: '#0A1A2F', position: 'relative', overflow: 'hidden', fontFamily: &quot;'Source Han Sans SC','PingFang SC','Microsoft YaHei',sans-serif&quot; }}&gt;&#10;    &lt;Image src=&quot;assets/cover_airway.png&quot; style={{ position: 'absolute', top: 0, left: 0, width: 1280, height: 720, objectFit: 'cover' }} /&gt;&#10;    &lt;Box style={{ position: 'absolute', top: 0, left: 0, width: 1280, height: 720, background: 'linear-gradient(90deg, rgba(10,26,47,0.97) 0%, rgba(10,26,47,0.90) 38%, rgba(10,26,47,0.35) 70%, rgba(10,26,47,0.72) 100%)' }} /&gt;&#10;    &lt;Box style={{ position: 'absolute', top: 0, left: 0, width: 600, height: 600, background: 'radial-gradient(circle at 0% 0%, rgba(34,211,238,0.16) 0%, rgba(34,211,238,0) 68%)' }} /&gt;&#10;&#10;    &lt;Box style={{ position: 'relative', width: 1280, height: 720, padding: '64px 72px', justifyContent: 'space-between' }}&gt;&#10;        &lt;Box style={{ flexDirection: 'row', alignItems: 'center', gap: 14 }}&gt;&#10;            &lt;Box style={{ width: 40, height: 3, background: '#22D3EE' }} /&gt;&#10;            &lt;Text style={{ fontSize: 15, fontWeight: 600, letterSpacing: 4, color: '#22D3EE' }}&gt;NASAL CFD · 鼻腔功能客观化评估&lt;/Text&gt;&#10;        &lt;/Box&gt;&#10;&#10;        &lt;Box style={{ flexDirection: 'row', alignItems: 'center', justifyContent: 'space-between' }}&gt;&#10;            &lt;Box style={{ flexDirection: 'column', gap: 24, width: 620 }}&gt;&#10;                &lt;Text style={{ fontSize: 72, fontWeight: 700, color: '#E8F1FA', lineHeight: 1.14, letterSpacing: -1 }}&gt;&#10;                    让鼻子重新&lt;br /&gt;&lt;span style={{ color: '#22D3EE' }}&gt;「被感觉到」&lt;/span&gt;&#10;                &lt;/Text&gt;&#10;                &lt;Text style={{ fontSize: 22, color: '#B7CBDD', lineHeight: 1.6 }}&gt;&#10;                    把一片鼻腔 CT，变成一组&lt;span style={{ color: '#E8F1FA', fontWeight: 600 }}&gt;可出示给医生看的客观功能数字&lt;/span&gt;——鼻阻力、壁面剪应力、后鼻孔温湿度。&#10;                &lt;/Text&gt;&#10;                &lt;Box style={{ flexDirection: 'row', gap: 12, alignItems: 'center' }}&gt;&#10;                    &lt;Box style={{ padding: '6px 14px', borderRadius: 999, background: 'rgba(34,211,238,0.12)', border: '1px solid rgba(34,211,238,0.42)' }}&gt;&#10;                        &lt;Text style={{ fontSize: 14, color: '#7DE3F4' }}&gt;空鼻症（ENS）功能评估&lt;/Text&gt;&#10;                    &lt;/Box&gt;&#10;                    &lt;Box style={{ padding: '6px 14px', borderRadius: 999, background: 'rgba(245,165,36,0.10)', border: '1px solid rgba(245,165,36,0.40)' }}&gt;&#10;                        &lt;Text style={{ fontSize: 14, color: '#F5A524' }}&gt;三例患者全链跑通&lt;/Text&gt;&#10;                    &lt;/Box&gt;&#10;                &lt;/Box&gt;&#10;            &lt;/Box&gt;&#10;&#10;            &lt;Box style={{ flexDirection: 'column', alignItems: 'flex-end', gap: 18, width: 320 }}&gt;&#10;                &lt;Box style={{ flexDirection: 'column', alignItems: 'flex-end', gap: 4 }}&gt;&#10;                    &lt;Text style={{ fontSize: 30, fontWeight: 700, color: '#E8F1FA', lineHeight: 1.2 }}&gt;CT → 网格 → 求解&lt;/Text&gt;&#10;                    &lt;Text style={{ fontSize: 15, color: '#B7CBDD' }}&gt;单命令全自动链路&lt;/Text&gt;&#10;                &lt;/Box&gt;&#10;                &lt;Box style={{ width: 210, height: 1, background: 'rgba(139,166,193,0.26)' }} /&gt;&#10;                &lt;Box style={{ flexDirection: 'column', alignItems: 'flex-end', gap: 4 }}&gt;&#10;                    &lt;Text style={{ fontSize: 30, fontWeight: 700, color: '#E8F1FA', lineHeight: 1.2 }}&gt;3 类功能指标&lt;/Text&gt;&#10;                    &lt;Text style={{ fontSize: 15, color: '#B7CBDD' }}&gt;对应患者三大主诉&lt;/Text&gt;&#10;                &lt;/Box&gt;&#10;                &lt;Box style={{ width: 210, height: 1, background: 'rgba(139,166,193,0.26)' }} /&gt;&#10;                &lt;Box style={{ flexDirection: 'column', alignItems: 'flex-end', gap: 4 }}&gt;&#10;                    &lt;Text style={{ fontSize: 30, fontWeight: 700, color: '#E8F1FA', lineHeight: 1.2 }}&gt;4 周&lt;/Text&gt;&#10;                    &lt;Text style={{ fontSize: 15, color: '#B7CBDD' }}&gt;从 0 到可复现交付&lt;/Text&gt;&#10;                &lt;/Box&gt;&#10;            &lt;/Box&gt;&#10;        &lt;/Box&gt;&#10;&#10;        &lt;Box style={{ flexDirection: 'row', alignItems: 'flex-end', justifyContent: 'space-between', borderTop: '1px solid rgba(139,166,193,0.28)', paddingTop: 20 }}&gt;&#10;            &lt;Text style={{ fontSize: 14, color: '#8BA6C1' }}&gt;医疗健康创新赛 · 路演答辩&lt;/Text&gt;&#10;            &lt;Text style={{ fontSize: 14, color: '#8BA6C1' }}&gt;2026.10 · 三例患者全链验证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3246" r="0" b="3246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A2F">
                  <a:alpha val="97000"/>
                </a:srgbClr>
              </a:gs>
              <a:gs pos="38000">
                <a:srgbClr val="0A1A2F">
                  <a:alpha val="90000"/>
                </a:srgbClr>
              </a:gs>
              <a:gs pos="70000">
                <a:srgbClr val="0A1A2F">
                  <a:alpha val="35000"/>
                </a:srgbClr>
              </a:gs>
              <a:gs pos="100000">
                <a:srgbClr val="0A1A2F">
                  <a:alpha val="72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6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685800" y="685800"/>
            <a:ext cx="381000" cy="2857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200150" y="609600"/>
            <a:ext cx="3067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00">
                <a:solidFill>
                  <a:srgbClr val="22D3EE"/>
                </a:solidFill>
                <a:latin typeface="Microsoft YaHei"/>
                <a:ea typeface="Microsoft YaHei"/>
              </a:rPr>
              <a:t xml:space="preserve">NASAL CFD · </a:t>
            </a:r>
            <a:r>
              <a:rPr lang="zh-CN" sz="1125" b="1" spc="300">
                <a:solidFill>
                  <a:srgbClr val="22D3EE"/>
                </a:solidFill>
                <a:latin typeface="Microsoft YaHei"/>
                <a:ea typeface="Microsoft YaHei"/>
              </a:rPr>
              <a:t>鼻腔功能客观化评估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85800" y="1628775"/>
            <a:ext cx="5905500" cy="1876425"/>
          </a:xfrm>
          <a:prstGeom prst="rect"/>
        </p:spPr>
        <p:txBody>
          <a:bodyPr wrap="none" lIns="0" tIns="0" rIns="0" bIns="0"/>
          <a:p>
            <a:pPr>
              <a:lnSpc>
                <a:spcPct val="113999"/>
              </a:lnSpc>
            </a:pPr>
            <a:r>
              <a:rPr lang="zh-CN" sz="5400" b="1" spc="-75">
                <a:solidFill>
                  <a:srgbClr val="E8F1FA"/>
                </a:solidFill>
                <a:latin typeface="Microsoft YaHei"/>
                <a:ea typeface="Microsoft YaHei"/>
              </a:rPr>
              <a:t>让鼻子重新</a:t>
            </a:r>
            <a:endParaRPr/>
          </a:p>
          <a:p>
            <a:pPr>
              <a:lnSpc>
                <a:spcPct val="113999"/>
              </a:lnSpc>
            </a:pPr>
            <a:r>
              <a:rPr lang="zh-CN" sz="5400" b="1" spc="-75">
                <a:solidFill>
                  <a:srgbClr val="22D3EE"/>
                </a:solidFill>
                <a:latin typeface="Microsoft YaHei"/>
                <a:ea typeface="Microsoft YaHei"/>
              </a:rPr>
              <a:t>「被感觉到」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85800" y="3733800"/>
            <a:ext cx="590550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B7CBDD"/>
                </a:solidFill>
                <a:latin typeface="Microsoft YaHei"/>
                <a:ea typeface="Microsoft YaHei"/>
              </a:rPr>
              <a:t>把一片鼻腔</a:t>
            </a:r>
            <a:r>
              <a:rPr lang="en-US" sz="1650">
                <a:solidFill>
                  <a:srgbClr val="B7CBDD"/>
                </a:solidFill>
                <a:latin typeface="Microsoft YaHei"/>
                <a:ea typeface="Microsoft YaHei"/>
              </a:rPr>
              <a:t xml:space="preserve"> CT</a:t>
            </a:r>
            <a:r>
              <a:rPr lang="zh-CN" sz="1650">
                <a:solidFill>
                  <a:srgbClr val="B7CBDD"/>
                </a:solidFill>
                <a:latin typeface="Microsoft YaHei"/>
                <a:ea typeface="Microsoft YaHei"/>
              </a:rPr>
              <a:t>，变成一组</a:t>
            </a:r>
            <a:r>
              <a:rPr lang="zh-CN" sz="1650" b="1">
                <a:solidFill>
                  <a:srgbClr val="E8F1FA"/>
                </a:solidFill>
                <a:latin typeface="Microsoft YaHei"/>
                <a:ea typeface="Microsoft YaHei"/>
              </a:rPr>
              <a:t>可出示给医生看的客观功能数字</a:t>
            </a:r>
            <a:r>
              <a:rPr lang="zh-CN" sz="1650">
                <a:solidFill>
                  <a:srgbClr val="B7CBDD"/>
                </a:solidFill>
                <a:latin typeface="Microsoft YaHei"/>
                <a:ea typeface="Microsoft YaHei"/>
              </a:rPr>
              <a:t>——鼻阻力、壁面剪应力、后鼻孔温湿度。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685800" y="4772025"/>
            <a:ext cx="1733550" cy="276225"/>
          </a:xfrm>
          <a:prstGeom prst="roundRect">
            <a:avLst>
              <a:gd name="adj" fmla="val 3444828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19150" y="482917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DE3F4"/>
                </a:solidFill>
                <a:latin typeface="Microsoft YaHei"/>
                <a:ea typeface="Microsoft YaHei"/>
              </a:rPr>
              <a:t>空鼻症（</a:t>
            </a:r>
            <a:r>
              <a:rPr lang="en-US" sz="1050">
                <a:solidFill>
                  <a:srgbClr val="7DE3F4"/>
                </a:solidFill>
                <a:latin typeface="Microsoft YaHei"/>
                <a:ea typeface="Microsoft YaHei"/>
              </a:rPr>
              <a:t>ENS</a:t>
            </a:r>
            <a:r>
              <a:rPr lang="zh-CN" sz="1050">
                <a:solidFill>
                  <a:srgbClr val="7DE3F4"/>
                </a:solidFill>
                <a:latin typeface="Microsoft YaHei"/>
                <a:ea typeface="Microsoft YaHei"/>
              </a:rPr>
              <a:t>）功能评估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2533650" y="4772025"/>
            <a:ext cx="1333500" cy="276225"/>
          </a:xfrm>
          <a:prstGeom prst="roundRect">
            <a:avLst>
              <a:gd name="adj" fmla="val 3444828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667000" y="48291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5A524"/>
                </a:solidFill>
                <a:latin typeface="Microsoft YaHei"/>
                <a:ea typeface="Microsoft YaHei"/>
              </a:rPr>
              <a:t>全链路可复现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9077325" y="2047875"/>
            <a:ext cx="2428875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CT → </a:t>
            </a:r>
            <a:r>
              <a:rPr lang="zh-CN" sz="2250" b="1">
                <a:solidFill>
                  <a:srgbClr val="E8F1FA"/>
                </a:solidFill>
                <a:latin typeface="Microsoft YaHei"/>
                <a:ea typeface="Microsoft YaHei"/>
              </a:rPr>
              <a:t>网格</a:t>
            </a:r>
            <a:r>
              <a:rPr lang="en-US" sz="225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250" b="1">
                <a:solidFill>
                  <a:srgbClr val="E8F1FA"/>
                </a:solidFill>
                <a:latin typeface="Microsoft YaHei"/>
                <a:ea typeface="Microsoft YaHei"/>
              </a:rPr>
              <a:t>求解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0363200" y="250507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单命令全自动链路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9505950" y="2847975"/>
            <a:ext cx="2000250" cy="9525"/>
          </a:xfrm>
          <a:prstGeom prst="rect">
            <a:avLst/>
          </a:prstGeom>
          <a:solidFill>
            <a:srgbClr val="8BA6C1">
              <a:alpha val="26000"/>
            </a:srgbClr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810750" y="3028950"/>
            <a:ext cx="169545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2250" b="1">
                <a:solidFill>
                  <a:srgbClr val="E8F1FA"/>
                </a:solidFill>
                <a:latin typeface="Microsoft YaHei"/>
                <a:ea typeface="Microsoft YaHei"/>
              </a:rPr>
              <a:t>类功能指标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0363200" y="348615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对应患者三大主诉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9505950" y="3829050"/>
            <a:ext cx="2000250" cy="9525"/>
          </a:xfrm>
          <a:prstGeom prst="rect">
            <a:avLst/>
          </a:prstGeom>
          <a:solidFill>
            <a:srgbClr val="8BA6C1">
              <a:alpha val="26000"/>
            </a:srgbClr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0953750" y="4010025"/>
            <a:ext cx="55245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2250" b="1">
                <a:solidFill>
                  <a:srgbClr val="E8F1FA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334625" y="4467225"/>
            <a:ext cx="1171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从</a:t>
            </a:r>
            <a:r>
              <a:rPr lang="en-US" sz="1125">
                <a:solidFill>
                  <a:srgbClr val="B7CBDD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到可复现交付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85800" y="5886450"/>
            <a:ext cx="10820400" cy="371475"/>
          </a:xfrm>
          <a:custGeom>
            <a:pathLst>
              <a:path w="1136" h="39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8000"/>
            </a:srgbClr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85800" y="6086475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医疗健康创新赛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/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/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9820275" y="6086475"/>
            <a:ext cx="1685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>2026.10 · 全链路验证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/>
            </a: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06200" y="609600"/>
            <a:ext cx="3200000" cy="30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00" b="1">
                <a:solidFill>
                  <a:srgbClr val="E8F1FA"/>
                </a:solidFill>
              </a:rPr>
              <a:t>剑穹小队</a:t>
            </a:r>
            <a:r>
              <a:rPr sz="1300">
                <a:solidFill>
                  <a:srgbClr val="22D3EE"/>
                </a:solidFill>
              </a:rPr>
              <a:t>　·　演讲序号 02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6" name="" descr="&lt;Slide style={{ width: 1280, height: 720, background: '#0A1A2F', position: 'relative', overflow: 'hidden', fontFamily: &quot;'Source Han Sans SC','PingFang SC','Microsoft YaHei',sans-serif&quot; }}&gt;&#10;    &lt;Image src=&quot;assets/sec_problem.png&quot; style={{ position: 'absolute', top: 0, left: 0, width: 1280, height: 720, objectFit: 'cover' }} /&gt;&#10;    &lt;Box style={{ position: 'absolute', top: 0, left: 0, width: 1280, height: 720, background: 'linear-gradient(90deg, rgba(10,26,47,0.98) 0%, rgba(10,26,47,0.92) 40%, rgba(10,26,47,0.25) 78%, rgba(10,26,47,0.60) 100%)' }} /&gt;&#10;&#10;    &lt;Box style={{ position: 'relative', width: 1280, height: 720, padding: '64px 80px', justifyContent: 'center' }}&gt;&#10;        &lt;Box style={{ flexDirection: 'row', alignItems: 'center', gap: 20 }}&gt;&#10;            &lt;Box style={{ width: 3, height: 84, background: '#22D3EE' }} /&gt;&#10;            &lt;Text style={{ fontSize: 68, fontWeight: 700, color: '#22D3EE', lineHeight: 1.05 }}&gt;01&lt;/Text&gt;&#10;            &lt;Text style={{ fontSize: 60, fontWeight: 700, color: '#E8F1FA', lineHeight: 1.1 }}&gt;问题与需求&lt;/Text&gt;&#10;        &lt;/Box&gt;&#10;        &lt;Text style={{ fontSize: 24, color: '#B7CBDD', marginTop: 28, lineHeight: 1.6, width: 720 }}&gt;&#10;            他们说的不是「堵」。是&lt;span style={{ color: '#22D3EE', fontWeight: 600 }}&gt;干&lt;/span&gt;、是&lt;span style={{ color: '#22D3EE', fontWeight: 600 }}&gt;感觉不到自己在呼吸&lt;/span&gt;，以及最伤人的——&lt;span style={{ color: '#F5A524', fontWeight: 600 }}&gt;没有人相信&lt;/span&gt;。&#10;        &lt;/Text&gt;&#10;        &lt;Box style={{ flexDirection: 'row', gap: 30, marginTop: 26 }}&gt;&#10;            &lt;Box style={{ flexDirection: 'row', alignItems: 'center', gap: 9 }}&gt;&#10;                &lt;Box style={{ width: 6, height: 6, borderRadius: 3, background: '#22D3EE' }} /&gt;&#10;                &lt;Text style={{ fontSize: 17, color: '#B7CBDD' }}&gt;患者画像&lt;/Text&gt;&#10;            &lt;/Box&gt;&#10;            &lt;Box style={{ flexDirection: 'row', alignItems: 'center', gap: 9 }}&gt;&#10;                &lt;Box style={{ width: 6, height: 6, borderRadius: 3, background: '#22D3EE' }} /&gt;&#10;                &lt;Text style={{ fontSize: 17, color: '#B7CBDD' }}&gt;五大共性问题&lt;/Text&gt;&#10;            &lt;/Box&gt;&#10;            &lt;Box style={{ flexDirection: 'row', alignItems: 'center', gap: 9 }}&gt;&#10;                &lt;Box style={{ width: 6, height: 6, borderRadius: 3, background: '#22D3EE' }} /&gt;&#10;                &lt;Text style={{ fontSize: 17, color: '#B7CBDD' }}&gt;20% 发生率&lt;/Text&gt;&#10;            &lt;/Box&gt;&#10;        &lt;/Box&gt;&#10;        &lt;Box style={{ flexDirection: 'row', gap: 40, marginTop: 44 }}&gt;&#10;            &lt;Box style={{ flexDirection: 'column', gap: 4 }}&gt;&#10;                &lt;Text style={{ fontSize: 14, letterSpacing: 2, color: '#8BA6C1' }}&gt;SECTION&lt;/Text&gt;&#10;                &lt;Text style={{ fontSize: 20, fontWeight: 600, color: '#E8F1FA' }}&gt;P02 – P04&lt;/Text&gt;&#10;            &lt;/Box&gt;&#10;            &lt;Box style={{ flexDirection: 'column', gap: 4 }}&gt;&#10;                &lt;Text style={{ fontSize: 14, letterSpacing: 2, color: '#8BA6C1' }}&gt;本章回答&lt;/Text&gt;&#10;                &lt;Text style={{ fontSize: 20, fontWeight: 600, color: '#E8F1FA' }}&gt;谁在受困 · 痛在哪里 · 为何值得解决&lt;/Text&gt;&#10;            &lt;/Box&gt;&#10;        &lt;/Box&gt;&#10;    &lt;/Box&gt;&#10;&#10;    &lt;Box style={{ position: 'absolute', left: 80, bottom: 52, width: 1120, flexDirection: 'row', gap: 14 }}&gt;&#10;        &lt;Box style={{ flex: 1, flexDirection: 'column', gap: 8 }}&gt;&#10;            &lt;Box style={{ height: 3, borderRadius: 2, background: '#22D3EE' }} /&gt;&#10;            &lt;Text style={{ fontSize: 12, fontWeight: 600, color: '#22D3EE' }}&gt;01 问题与需求&lt;/Text&gt;&#10;        &lt;/Box&gt;&#10;        &lt;Box style={{ flex: 1, flexDirection: 'column', gap: 8 }}&gt;&#10;            &lt;Box style={{ height: 3, borderRadius: 2, background: 'rgba(139,166,193,0.22)' }} /&gt;&#10;            &lt;Text style={{ fontSize: 12, color: '#3B5675' }}&gt;02 产品与解决方案&lt;/Text&gt;&#10;        &lt;/Box&gt;&#10;        &lt;Box style={{ flex: 1, flexDirection: 'column', gap: 8 }}&gt;&#10;            &lt;Box style={{ height: 3, borderRadius: 2, background: 'rgba(139,166,193,0.22)' }} /&gt;&#10;            &lt;Text style={{ fontSize: 12, color: '#3B5675' }}&gt;03 一个月的协作故事&lt;/Text&gt;&#10;        &lt;/Box&gt;&#10;        &lt;Box style={{ flex: 1, flexDirection: 'column', gap: 8 }}&gt;&#10;            &lt;Box style={{ height: 3, borderRadius: 2, background: 'rgba(139,166,193,0.22)' }} /&gt;&#10;            &lt;Text style={{ fontSize: 12, color: '#3B5675' }}&gt;04 测试过程与真实反馈&lt;/Text&gt;&#10;        &lt;/Box&gt;&#10;        &lt;Box style={{ flex: 1, flexDirection: 'column', gap: 8 }}&gt;&#10;            &lt;Box style={{ height: 3, borderRadius: 2, background: 'rgba(139,166,193,0.22)' }} /&gt;&#10;            &lt;Text style={{ fontSize: 12, color: '#3B5675' }}&gt;05 团队与产品的未来计划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pic>
        <p:nvPicPr>
          <p:cNvPr id="58" name=""/>
          <p:cNvPicPr>
            <a:picLocks noChangeAspect="1"/>
          </p:cNvPicPr>
          <p:nvPr/>
        </p:nvPicPr>
        <p:blipFill>
          <a:blip r:embed="rId1"/>
          <a:srcRect l="0" t="3246" r="0" b="3246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A2F">
                  <a:alpha val="98000"/>
                </a:srgbClr>
              </a:gs>
              <a:gs pos="40000">
                <a:srgbClr val="0A1A2F">
                  <a:alpha val="92000"/>
                </a:srgbClr>
              </a:gs>
              <a:gs pos="78000">
                <a:srgbClr val="0A1A2F">
                  <a:alpha val="25000"/>
                </a:srgbClr>
              </a:gs>
              <a:gs pos="100000">
                <a:srgbClr val="0A1A2F">
                  <a:alpha val="60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762000" y="1809750"/>
            <a:ext cx="28575" cy="800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981075" y="1800225"/>
            <a:ext cx="800100" cy="8191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100" b="1">
                <a:solidFill>
                  <a:srgbClr val="22D3E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971675" y="1828800"/>
            <a:ext cx="2857500" cy="762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>
                <a:solidFill>
                  <a:srgbClr val="E8F1FA"/>
                </a:solidFill>
                <a:latin typeface="Microsoft YaHei"/>
                <a:ea typeface="Microsoft YaHei"/>
              </a:rPr>
              <a:t>问题与需求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62000" y="2886075"/>
            <a:ext cx="68580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800">
                <a:solidFill>
                  <a:srgbClr val="B7CBDD"/>
                </a:solidFill>
                <a:latin typeface="Microsoft YaHei"/>
                <a:ea typeface="Microsoft YaHei"/>
              </a:rPr>
              <a:t>他们说的不是「堵」。是</a:t>
            </a:r>
            <a:r>
              <a:rPr lang="zh-CN" sz="1800" b="1">
                <a:solidFill>
                  <a:srgbClr val="22D3EE"/>
                </a:solidFill>
                <a:latin typeface="Microsoft YaHei"/>
                <a:ea typeface="Microsoft YaHei"/>
              </a:rPr>
              <a:t>干</a:t>
            </a:r>
            <a:r>
              <a:rPr lang="zh-CN" sz="1800">
                <a:solidFill>
                  <a:srgbClr val="B7CBDD"/>
                </a:solidFill>
                <a:latin typeface="Microsoft YaHei"/>
                <a:ea typeface="Microsoft YaHei"/>
              </a:rPr>
              <a:t>、是</a:t>
            </a:r>
            <a:r>
              <a:rPr lang="zh-CN" sz="1800" b="1">
                <a:solidFill>
                  <a:srgbClr val="22D3EE"/>
                </a:solidFill>
                <a:latin typeface="Microsoft YaHei"/>
                <a:ea typeface="Microsoft YaHei"/>
              </a:rPr>
              <a:t>感觉不到自己在呼吸</a:t>
            </a:r>
            <a:r>
              <a:rPr lang="zh-CN" sz="1800">
                <a:solidFill>
                  <a:srgbClr val="B7CBDD"/>
                </a:solidFill>
                <a:latin typeface="Microsoft YaHei"/>
                <a:ea typeface="Microsoft YaHei"/>
              </a:rPr>
              <a:t>，以及最伤人的——</a:t>
            </a:r>
            <a:r>
              <a:rPr lang="zh-CN" sz="1800" b="1">
                <a:solidFill>
                  <a:srgbClr val="F5A524"/>
                </a:solidFill>
                <a:latin typeface="Microsoft YaHei"/>
                <a:ea typeface="Microsoft YaHei"/>
              </a:rPr>
              <a:t>没有人相信</a:t>
            </a:r>
            <a:r>
              <a:rPr lang="zh-CN" sz="1800">
                <a:solidFill>
                  <a:srgbClr val="B7CBDD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762000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04875" y="40195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Microsoft YaHei"/>
                <a:ea typeface="Microsoft YaHei"/>
              </a:rPr>
              <a:t>患者画像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1838325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981200" y="401955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Microsoft YaHei"/>
                <a:ea typeface="Microsoft YaHei"/>
              </a:rPr>
              <a:t>五大共性问题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3238500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3381375" y="4019550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B7CBDD"/>
                </a:solidFill>
                <a:latin typeface="Microsoft YaHei"/>
                <a:ea typeface="Microsoft YaHei"/>
              </a:rPr>
              <a:t xml:space="preserve">20% </a:t>
            </a:r>
            <a:r>
              <a:rPr lang="zh-CN" sz="1275">
                <a:solidFill>
                  <a:srgbClr val="B7CBDD"/>
                </a:solidFill>
                <a:latin typeface="Microsoft YaHei"/>
                <a:ea typeface="Microsoft YaHei"/>
              </a:rPr>
              <a:t>发生率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62000" y="4638675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A6C1"/>
                </a:solidFill>
                <a:latin typeface="Microsoft YaHei"/>
                <a:ea typeface="Microsoft YaHei"/>
              </a:rPr>
              <a:t>SECTION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62000" y="4838700"/>
            <a:ext cx="942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F1FA"/>
                </a:solidFill>
                <a:latin typeface="Microsoft YaHei"/>
                <a:ea typeface="Microsoft YaHei"/>
              </a:rPr>
              <a:t>P02 – P04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2085975" y="4638675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BA6C1"/>
                </a:solidFill>
                <a:latin typeface="Microsoft YaHei"/>
                <a:ea typeface="Microsoft YaHei"/>
              </a:rPr>
              <a:t>本章回答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085975" y="4838700"/>
            <a:ext cx="3067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Microsoft YaHei"/>
                <a:ea typeface="Microsoft YaHei"/>
              </a:rPr>
              <a:t>谁在受困</a:t>
            </a:r>
            <a:r>
              <a:rPr lang="en-US" sz="150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Microsoft YaHei"/>
                <a:ea typeface="Microsoft YaHei"/>
              </a:rPr>
              <a:t>痛在哪里</a:t>
            </a:r>
            <a:r>
              <a:rPr lang="en-US" sz="150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Microsoft YaHei"/>
                <a:ea typeface="Microsoft YaHei"/>
              </a:rPr>
              <a:t>为何值得解决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762000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62000" y="6219825"/>
            <a:ext cx="2028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900" b="1">
                <a:solidFill>
                  <a:srgbClr val="22D3EE"/>
                </a:solidFill>
                <a:latin typeface="Microsoft YaHei"/>
                <a:ea typeface="Microsoft YaHei"/>
              </a:rPr>
              <a:t>问题与需求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2924175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2924175" y="6219825"/>
            <a:ext cx="2028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900">
                <a:solidFill>
                  <a:srgbClr val="3B5675"/>
                </a:solidFill>
                <a:latin typeface="Microsoft YaHei"/>
                <a:ea typeface="Microsoft YaHei"/>
              </a:rPr>
              <a:t>产品与解决方案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5086350" y="6115050"/>
            <a:ext cx="2019300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086350" y="6219825"/>
            <a:ext cx="2019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Microsoft YaHei"/>
                <a:ea typeface="Microsoft YaHei"/>
              </a:rPr>
              <a:t xml:space="preserve">03 </a:t>
            </a:r>
            <a:r>
              <a:rPr lang="zh-CN" sz="900">
                <a:solidFill>
                  <a:srgbClr val="3B5675"/>
                </a:solidFill>
                <a:latin typeface="Microsoft YaHei"/>
                <a:ea typeface="Microsoft YaHei"/>
              </a:rPr>
              <a:t>一个月的协作故事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7239000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239000" y="6219825"/>
            <a:ext cx="2028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900">
                <a:solidFill>
                  <a:srgbClr val="3B5675"/>
                </a:solidFill>
                <a:latin typeface="Microsoft YaHei"/>
                <a:ea typeface="Microsoft YaHei"/>
              </a:rPr>
              <a:t>测试过程与真实反馈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9401175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401175" y="6219825"/>
            <a:ext cx="2028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Microsoft YaHei"/>
                <a:ea typeface="Microsoft YaHei"/>
              </a:rPr>
              <a:t xml:space="preserve">05 </a:t>
            </a:r>
            <a:r>
              <a:rPr lang="zh-CN" sz="900">
                <a:solidFill>
                  <a:srgbClr val="3B5675"/>
                </a:solidFill>
                <a:latin typeface="Microsoft YaHei"/>
                <a:ea typeface="Microsoft YaHei"/>
              </a:rPr>
              <a:t>团队与产品的未来计划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84" name="" descr="&lt;Slide style={{ width: 1280, height: 720, background: '#0A1A2F', padding: '24px 64px', position: 'relative', overflow: 'hidden', fontFamily: &quot;'Source Han Sans SC','PingFang SC','Microsoft YaHei',sans-serif&quot; }}&gt;&#10;    &lt;Box style={{ position: 'absolute', top: 0, left: 0, width: 600, height: 600, background: 'radial-gradient(circle at 0% 0%, rgba(34,211,238,0.10) 0%, rgba(34,211,238,0) 68%)' }} /&gt;&#10;    &lt;Box style={{ position: 'absolute', bottom: 0, right: 0, width: 420, height: 420, background: 'radial-gradient(circle at 100% 100%, rgba(245,165,36,0.07) 0%, rgba(245,165,36,0) 68%)' }} /&gt;&#10;&#10;    &lt;Box style={{ position: 'relative', zIndex: 1, width: '100%', flexDirection: 'column' }}&gt;&#10;        &lt;Box style={{ height: 92, flexDirection: 'row', alignItems: 'flex-end', justifyContent: 'space-between' }}&gt;&#10;            &lt;Box style={{ flexDirection: 'column', gap: 6 }}&gt;&#10;                &lt;Text style={{ fontSize: 15, fontWeight: 600, letterSpacing: 3, color: '#22D3EE' }}&gt;01 / 问题与需求&lt;/Text&gt;&#10;                &lt;Text style={{ fontSize: 36, fontWeight: 700, color: '#E8F1FA', lineHeight: 1.2 }}&gt;一群被 CT「证明健康」的病人&lt;/Text&gt;&#10;            &lt;/Box&gt;&#10;            &lt;Box style={{ width: 46, height: 46, borderRadius: 23, border: '2px solid rgba(34,211,238,0.55)', justifyContent: 'center', alignItems: 'center' }}&gt;&#10;                &lt;Text style={{ fontSize: 13, fontWeight: 700, color: '#22D3EE' }}&gt;ENS&lt;/Text&gt;&#10;            &lt;/Box&gt;&#10;        &lt;/Box&gt;&#10;&#10;        &lt;Box style={{ height: 510, marginTop: 16, flexDirection: 'row', gap: 30 }}&gt;&#10;            &lt;Box style={{ flex: 62, flexDirection: 'column', gap: 8, justifyContent: 'center' }}&gt;&#10;                &lt;Box style={{ flexDirection: 'row', alignItems: 'flex-start', gap: 14, height: 84, padding: '12px 18px', background: 'linear-gradient(150deg, #14294A 0%, #0E2039 100%)', borderRadius: 10, border: '1px solid rgba(139,166,193,0.22)' }}&gt;&#10;                    &lt;Text style={{ fontSize: 18, fontWeight: 700, color: '#22D3EE', width: 26 }}&gt;01&lt;/Text&gt;&#10;                    &lt;Box style={{ flexDirection: 'column', gap: 4 }}&gt;&#10;                        &lt;Text style={{ fontSize: 21, fontWeight: 700, color: '#E8F1FA' }}&gt;矛盾性鼻塞&lt;/Text&gt;&#10;                        &lt;Text style={{ fontSize: 17, color: '#8BA6C1', lineHeight: 1.4 }}&gt;主诉「吸不进气」，可内镜和 CT 都显示鼻腔通畅——7/7 来源一致的核心症状&lt;/Text&gt;&#10;                    &lt;/Box&gt;&#10;                &lt;/Box&gt;&#10;                &lt;Box style={{ flexDirection: 'row', alignItems: 'flex-start', gap: 14, height: 84, padding: '12px 18px', background: 'linear-gradient(150deg, #14294A 0%, #0E2039 100%)', borderRadius: 10, border: '1px solid rgba(139,166,193,0.22)' }}&gt;&#10;                    &lt;Text style={{ fontSize: 18, fontWeight: 700, color: '#22D3EE', width: 26 }}&gt;02&lt;/Text&gt;&#10;                    &lt;Box style={{ flexDirection: 'column', gap: 4 }}&gt;&#10;                        &lt;Text style={{ fontSize: 21, fontWeight: 700, color: '#E8F1FA' }}&gt;干燥 · 结痂 · 烧灼&lt;/Text&gt;&#10;                        &lt;Text style={{ fontSize: 17, color: '#8BA6C1', lineHeight: 1.4 }}&gt;「呼吸进来的空气像刀子」；鼻腔灼热、结痂、反复感染——7/7 一致&lt;/Text&gt;&#10;                    &lt;/Box&gt;&#10;                &lt;/Box&gt;&#10;                &lt;Box style={{ flexDirection: 'row', alignItems: 'flex-start', gap: 14, height: 84, padding: '12px 18px', background: 'linear-gradient(150deg, #14294A 0%, #0E2039 100%)', borderRadius: 10, border: '1px solid rgba(139,166,193,0.22)' }}&gt;&#10;                    &lt;Text style={{ fontSize: 18, fontWeight: 700, color: '#22D3EE', width: 26 }}&gt;03&lt;/Text&gt;&#10;                    &lt;Box style={{ flexDirection: 'column', gap: 4 }}&gt;&#10;                        &lt;Text style={{ fontSize: 21, fontWeight: 700, color: '#E8F1FA' }}&gt;气流感知丧失&lt;/Text&gt;&#10;                        &lt;Text style={{ fontSize: 17, color: '#8BA6C1', lineHeight: 1.4 }}&gt;感觉不到空气流过鼻子，「直接吸到肺里」——6/7 一致&lt;/Text&gt;&#10;                    &lt;/Box&gt;&#10;                &lt;/Box&gt;&#10;                &lt;Box style={{ flexDirection: 'row', alignItems: 'flex-start', gap: 14, height: 84, padding: '12px 18px', background: 'linear-gradient(150deg, #14294A 0%, #0E2039 100%)', borderRadius: 10, border: '1px solid rgba(139,166,193,0.22)' }}&gt;&#10;                    &lt;Text style={{ fontSize: 18, fontWeight: 700, color: '#22D3EE', width: 26 }}&gt;04&lt;/Text&gt;&#10;                    &lt;Box style={{ flexDirection: 'column', gap: 4 }}&gt;&#10;                        &lt;Text style={{ fontSize: 21, fontWeight: 700, color: '#E8F1FA' }}&gt;睡眠障碍 · 疲劳 · 认知下降&lt;/Text&gt;&#10;                        &lt;Text style={{ fontSize: 17, color: '#8BA6C1', lineHeight: 1.4 }}&gt;整夜无法入睡、白天浑浑噩噩、劳动能力丧失——7/7 一致&lt;/Text&gt;&#10;                    &lt;/Box&gt;&#10;                &lt;/Box&gt;&#10;                &lt;Box style={{ flexDirection: 'row', alignItems: 'flex-start', gap: 14, height: 84, padding: '12px 18px', background: 'linear-gradient(150deg, #14294A 0%, #0E2039 100%)', borderRadius: 10, border: '1px solid rgba(139,166,193,0.22)' }}&gt;&#10;                    &lt;Text style={{ fontSize: 18, fontWeight: 700, color: '#22D3EE', width: 26 }}&gt;05&lt;/Text&gt;&#10;                    &lt;Box style={{ flexDirection: 'column', gap: 4 }}&gt;&#10;                        &lt;Text style={{ fontSize: 21, fontWeight: 700, color: '#E8F1FA' }}&gt;焦虑 · 抑郁共病&lt;/Text&gt;&#10;                        &lt;Text style={{ fontSize: 17, color: '#8BA6C1', lineHeight: 1.4 }}&gt;中国患者常见路径：耳鼻喉科不接诊 → 被诊断为抑郁症 → 转精神科&lt;/Text&gt;&#10;                    &lt;/Box&gt;&#10;                &lt;/Box&gt;&#10;            &lt;/Box&gt;&#10;&#10;            &lt;Box style={{ flex: 38, flexDirection: 'column', justifyContent: 'space-between', padding: '26px 24px', background: 'linear-gradient(150deg, #14294A 0%, #0E2039 100%)', borderRadius: 12, border: '1px solid rgba(34,211,238,0.32)' }}&gt;&#10;                &lt;Box style={{ flexDirection: 'column', gap: 10 }}&gt;&#10;                    &lt;Text style={{ fontSize: 15, fontWeight: 600, letterSpacing: 2, color: '#22D3EE' }}&gt;空鼻症 · EMPTY NOSE SYNDROME&lt;/Text&gt;&#10;                    &lt;Text style={{ fontSize: 20, color: '#B7CBDD', lineHeight: 1.6 }}&gt;&#10;                        多发生在&lt;span style={{ color: '#E8F1FA', fontWeight: 600 }}&gt;鼻甲手术后&lt;/span&gt;：鼻腔过于宽大，黏膜与神经末梢减少，加温加湿、气流感知、鼻阻力同时失守。&#10;                    &lt;/Text&gt;&#10;                &lt;/Box&gt;&#10;                &lt;Box style={{ flexDirection: 'column', gap: 6 }}&gt;&#10;                    &lt;Text style={{ fontSize: 76, fontWeight: 800, color: '#22D3EE', lineHeight: 1 }}&gt;20%&lt;/Text&gt;&#10;                    &lt;Text style={{ fontSize: 16, color: '#8BA6C1', lineHeight: 1.5 }}&gt;下鼻甲全切术后 ENS 发生率（5 个来源一致，含人民日报报道）&lt;/Text&gt;&#10;                &lt;/Box&gt;&#10;                &lt;Box style={{ flexDirection: 'column', gap: 8, paddingTop: 14, borderTop: '1px solid rgba(139,166,193,0.24)' }}&gt;&#10;                    &lt;Text style={{ fontSize: 19, color: '#E8F1FA', lineHeight: 1.55 }}&gt;「愿用一条胳膊或者一条腿换回一个健康的鼻子——四肢残缺还能得到别人的同情，可空鼻症却不被理解。」&lt;/Text&gt;&#10;                    &lt;Text style={{ fontSize: 14, color: '#8BA6C1' }}&gt;患者原声 · 健康时报报道&lt;/Text&gt;&#10;                &lt;/Box&gt;&#10;            &lt;/Box&gt;&#10;        &lt;/Box&gt;&#10;&#10;        &lt;Box style={{ height: 40, marginTop: 8, flexDirection: 'row', alignItems: 'center', justifyContent: 'space-between', borderTop: '1px solid rgba(139,166,193,0.22)' }}&gt;&#10;            &lt;Text style={{ fontSize: 14, color: '#8BA6C1' }}&gt;来源：多源交叉验证表（2026-10-15）· 12 类来源，剔除不可溯源数字&lt;/Text&gt;&#10;            &lt;Text style={{ fontSize: 14, color: '#8BA6C1' }}&gt;03 / 09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466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 xml:space="preserve">01 / </a:t>
            </a:r>
            <a:r>
              <a:rPr lang="zh-CN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>问题与需求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466725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Microsoft YaHei"/>
                <a:ea typeface="Microsoft YaHei"/>
              </a:rPr>
              <a:t>一群被</a:t>
            </a:r>
            <a:r>
              <a:rPr lang="en-US" sz="270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CT</a:t>
            </a:r>
            <a:r>
              <a:rPr lang="zh-CN" sz="2700" b="1">
                <a:solidFill>
                  <a:srgbClr val="E8F1FA"/>
                </a:solidFill>
                <a:latin typeface="Microsoft YaHei"/>
                <a:ea typeface="Microsoft YaHei"/>
              </a:rPr>
              <a:t>「证明健康」的病人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1239500" y="809625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ENS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09600" y="15335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81050" y="1647825"/>
            <a:ext cx="247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62050" y="1647825"/>
            <a:ext cx="5657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矛盾性鼻塞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162050" y="1933575"/>
            <a:ext cx="56578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主诉「吸不进气」，可内镜和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 CT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都显示鼻腔通畅——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7/7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来源一致的核心症状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09600" y="24098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81050" y="2524125"/>
            <a:ext cx="247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162050" y="2524125"/>
            <a:ext cx="5029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干燥</a:t>
            </a:r>
            <a:r>
              <a:rPr lang="en-US" sz="1575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结痂</a:t>
            </a:r>
            <a:r>
              <a:rPr lang="en-US" sz="1575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烧灼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162050" y="2809875"/>
            <a:ext cx="50292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「呼吸进来的空气像刀子」；鼻腔灼热、结痂、反复感染——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7/7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一致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09600" y="32861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81050" y="3400425"/>
            <a:ext cx="247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162050" y="3400425"/>
            <a:ext cx="4057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气流感知丧失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162050" y="3686175"/>
            <a:ext cx="40576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感觉不到空气流过鼻子，「直接吸到肺里」——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6/7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一致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609600" y="41624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81050" y="4276725"/>
            <a:ext cx="247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162050" y="4276725"/>
            <a:ext cx="4219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睡眠障碍</a:t>
            </a:r>
            <a:r>
              <a:rPr lang="en-US" sz="1575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疲劳</a:t>
            </a:r>
            <a:r>
              <a:rPr lang="en-US" sz="1575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认知下降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162050" y="4562475"/>
            <a:ext cx="42195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整夜无法入睡、白天浑浑噩噩、劳动能力丧失——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7/7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一致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" y="50387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81050" y="5153025"/>
            <a:ext cx="247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162050" y="5153025"/>
            <a:ext cx="4895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焦虑</a:t>
            </a:r>
            <a:r>
              <a:rPr lang="en-US" sz="1575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抑郁共病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162050" y="5438775"/>
            <a:ext cx="48958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中国患者常见路径：耳鼻喉科不接诊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被诊断为抑郁症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转精神科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7524750" y="1257300"/>
            <a:ext cx="4057650" cy="4857750"/>
          </a:xfrm>
          <a:prstGeom prst="roundRect">
            <a:avLst>
              <a:gd name="adj" fmla="val 2817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22D3EE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753350" y="1504950"/>
            <a:ext cx="3600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22D3EE"/>
                </a:solidFill>
                <a:latin typeface="Microsoft YaHei"/>
                <a:ea typeface="Microsoft YaHei"/>
              </a:rPr>
              <a:t>空鼻症</a:t>
            </a:r>
            <a:r>
              <a:rPr lang="en-US" sz="1125" b="1" spc="150">
                <a:solidFill>
                  <a:srgbClr val="22D3EE"/>
                </a:solidFill>
                <a:latin typeface="Microsoft YaHei"/>
                <a:ea typeface="Microsoft YaHei"/>
              </a:rPr>
              <a:t xml:space="preserve"> · EMPTY NOSE SYNDROME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753350" y="1771650"/>
            <a:ext cx="360045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B7CBDD"/>
                </a:solidFill>
                <a:latin typeface="Microsoft YaHei"/>
                <a:ea typeface="Microsoft YaHei"/>
              </a:rPr>
              <a:t>多发生在</a:t>
            </a:r>
            <a:r>
              <a:rPr lang="zh-CN" sz="1500" b="1">
                <a:solidFill>
                  <a:srgbClr val="E8F1FA"/>
                </a:solidFill>
                <a:latin typeface="Microsoft YaHei"/>
                <a:ea typeface="Microsoft YaHei"/>
              </a:rPr>
              <a:t>鼻甲手术后</a:t>
            </a:r>
            <a:r>
              <a:rPr lang="zh-CN" sz="1500">
                <a:solidFill>
                  <a:srgbClr val="B7CBDD"/>
                </a:solidFill>
                <a:latin typeface="Microsoft YaHei"/>
                <a:ea typeface="Microsoft YaHei"/>
              </a:rPr>
              <a:t>：鼻腔过于宽大，黏膜与神经末梢减少，加温加湿、气流感知、鼻阻力同时失守。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753350" y="2933700"/>
            <a:ext cx="36004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2D3EE"/>
                </a:solidFill>
                <a:latin typeface="Microsoft YaHei"/>
                <a:ea typeface="Microsoft YaHei"/>
              </a:rPr>
              <a:t>20%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753350" y="3867150"/>
            <a:ext cx="36004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A6C1"/>
                </a:solidFill>
                <a:latin typeface="Microsoft YaHei"/>
                <a:ea typeface="Microsoft YaHei"/>
              </a:rPr>
              <a:t>下鼻甲全切术后</a:t>
            </a:r>
            <a:r>
              <a:rPr lang="en-US" sz="1200">
                <a:solidFill>
                  <a:srgbClr val="8BA6C1"/>
                </a:solidFill>
                <a:latin typeface="Microsoft YaHei"/>
                <a:ea typeface="Microsoft YaHei"/>
              </a:rPr>
              <a:t xml:space="preserve"> ENS </a:t>
            </a:r>
            <a:r>
              <a:rPr lang="zh-CN" sz="1200">
                <a:solidFill>
                  <a:srgbClr val="8BA6C1"/>
                </a:solidFill>
                <a:latin typeface="Microsoft YaHei"/>
                <a:ea typeface="Microsoft YaHei"/>
              </a:rPr>
              <a:t>发生率（</a:t>
            </a:r>
            <a:r>
              <a:rPr lang="en-US" sz="1200">
                <a:solidFill>
                  <a:srgbClr val="8BA6C1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200">
                <a:solidFill>
                  <a:srgbClr val="8BA6C1"/>
                </a:solidFill>
                <a:latin typeface="Microsoft YaHei"/>
                <a:ea typeface="Microsoft YaHei"/>
              </a:rPr>
              <a:t>个来源一致，含人民日报报道）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7753350" y="4467225"/>
            <a:ext cx="3600450" cy="1409700"/>
          </a:xfrm>
          <a:custGeom>
            <a:pathLst>
              <a:path w="378" h="148">
                <a:moveTo>
                  <a:pt x="0" y="0"/>
                </a:moveTo>
                <a:lnTo>
                  <a:pt x="378" y="0"/>
                </a:lnTo>
                <a:lnTo>
                  <a:pt x="378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4000"/>
            </a:srgbClr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753350" y="4610100"/>
            <a:ext cx="360045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E8F1FA"/>
                </a:solidFill>
                <a:latin typeface="Microsoft YaHei"/>
                <a:ea typeface="Microsoft YaHei"/>
              </a:rPr>
              <a:t>「愿用一条胳膊或者一条腿换回一个健康的鼻子——四肢残缺还能得到别人的同情，可空鼻症却不被理解。」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753350" y="5705475"/>
            <a:ext cx="3600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患者原声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健康时报报道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09600" y="619125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来源：多源交叉验证表（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2026-10-15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）·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类来源，剔除不可溯源数字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03 / 09</a:t>
            </a:r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953750" y="323850"/>
            <a:ext cx="3000000" cy="2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u="sng">
                <a:solidFill>
                  <a:srgbClr val="7FD4EA"/>
                </a:solidFill>
                <a:hlinkClick xmlns:ns0="http://schemas.openxmlformats.org/officeDocument/2006/relationships" ns0:id="rId2"/>
              </a:rPr>
              <a:t>▸ 患者需求调研包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23" name="" descr="&lt;Slide style={{ width: 1280, height: 720, background: '#0A1A2F', padding: '24px 64px', position: 'relative', overflow: 'hidden', fontFamily: &quot;'Source Han Sans SC','PingFang SC','Microsoft YaHei',sans-serif&quot; }}&gt;&#10;    &lt;Box style={{ position: 'absolute', top: 0, left: 0, width: 620, height: 620, background: 'radial-gradient(circle at 0% 0%, rgba(34,211,238,0.16) 0%, rgba(34,211,238,0) 70%)' }} /&gt;&#10;    &lt;Box style={{ position: 'absolute', bottom: 0, right: 0, width: 460, height: 460, background: 'radial-gradient(circle at 100% 100%, rgba(245,165,36,0.10) 0%, rgba(245,165,36,0) 70%)' }} /&gt;&#10;&#10;    &lt;Box style={{ position: 'relative', zIndex: 1, width: '100%', flexDirection: 'column' }}&gt;&#10;        &lt;Box style={{ height: 92, flexDirection: 'row', alignItems: 'flex-end', justifyContent: 'space-between' }}&gt;&#10;            &lt;Box style={{ flexDirection: 'column', gap: 6 }}&gt;&#10;                &lt;Text style={{ fontSize: 15, fontWeight: 600, letterSpacing: 3, color: '#22D3EE' }}&gt;01 / 问题与需求&lt;/Text&gt;&#10;                &lt;Text style={{ fontSize: 36, fontWeight: 700, color: '#E8F1FA', lineHeight: 1.2 }}&gt;最痛的不是「堵」，是「干」&lt;/Text&gt;&#10;            &lt;/Box&gt;&#10;            &lt;Box style={{ width: 46, height: 46, borderRadius: 23, border: '2px solid rgba(34,211,238,0.55)', justifyContent: 'center', alignItems: 'center' }}&gt;&#10;                &lt;Text style={{ fontSize: 13, fontWeight: 700, color: '#22D3EE' }}&gt;Q1&lt;/Text&gt;&#10;            &lt;/Box&gt;&#10;        &lt;/Box&gt;&#10;&#10;        &lt;Box style={{ height: 500, marginTop: 16, flexDirection: 'row', gap: 28 }}&gt;&#10;            &lt;Box style={{ flex: 60, flexDirection: 'column', padding: '16px 20px', background: 'linear-gradient(150deg, #14294A 0%, #0E2039 100%)', borderRadius: 12, border: '1px solid rgba(139,166,193,0.22)' }}&gt;&#10;                &lt;Text style={{ fontSize: 18, fontWeight: 600, color: '#B7CBDD', lineHeight: 1.45 }}&gt;ENS6Q 六条目基线得分（0–5 分制，n = 53，多国在线招募）&lt;/Text&gt;&#10;                &lt;Chart&#10;                    style={{ height: 420, marginTop: 10 }}&#10;                    chartType='barChart'&#10;                    barDirection='bar'&#10;                    showLegend={false}&#10;                    showDataLabels={true}&#10;                    axisColor='#8BA6C1'&#10;                    dataLabelColor='#0A1A2F'&#10;                    background='transparent'&#10;                    colors={['linear-gradient(90deg, #22D3EE 0%, #7DE3F4 100%)']}&#10;                    data={[&#10;                        ['条目', '基线均分'],&#10;                        ['干燥', 4.07],&#10;                        ['气流感减弱', 4.02],&#10;                        ['鼻腔过通', 3.74],&#10;                        ['窒息感', 3.23],&#10;                        ['灼热感', 2.77],&#10;                        ['结痂', 2.74],&#10;                    ]}&#10;                /&gt;&#10;            &lt;/Box&gt;&#10;&#10;            &lt;Box style={{ flex: 40, flexDirection: 'column', gap: 16, justifyContent: 'center' }}&gt;&#10;                &lt;Box style={{ flexDirection: 'column', gap: 4 }}&gt;&#10;                    &lt;Text style={{ fontSize: 15, fontWeight: 600, letterSpacing: 2, color: '#22D3EE' }}&gt;最痛的两项&lt;/Text&gt;&#10;                    &lt;Box style={{ flexDirection: 'row', alignItems: 'baseline', gap: 16 }}&gt;&#10;                        &lt;Text style={{ fontSize: 76, fontWeight: 800, color: '#22D3EE', lineHeight: 1 }}&gt;4.07&lt;/Text&gt;&#10;                        &lt;Text style={{ fontSize: 22, color: '#8BA6C1' }}&gt;干燥&lt;/Text&gt;&#10;                    &lt;/Box&gt;&#10;                    &lt;Box style={{ flexDirection: 'row', alignItems: 'baseline', gap: 16 }}&gt;&#10;                        &lt;Text style={{ fontSize: 76, fontWeight: 800, color: '#F5A524', lineHeight: 1 }}&gt;4.02&lt;/Text&gt;&#10;                        &lt;Text style={{ fontSize: 22, color: '#8BA6C1' }}&gt;感觉不到气流&lt;/Text&gt;&#10;                    &lt;/Box&gt;&#10;                &lt;/Box&gt;&#10;                &lt;Box style={{ flexDirection: 'column', gap: 10, padding: '18px 20px', background: 'rgba(245,165,36,0.08)', borderLeft: '3px solid #F5A524', borderRadius: 6 }}&gt;&#10;                    &lt;Text style={{ fontSize: 19, color: '#E8F1FA', lineHeight: 1.6 }}&gt;&#10;                        干燥与气流感知是患者最痛的两项，却恰恰是现有&lt;span style={{ color: '#F5A524', fontWeight: 600 }}&gt;鼻腔填充类方案改善最弱&lt;/span&gt;的一对——所以产品目标不能只定在「恢复通气」。&#10;                    &lt;/Text&gt;&#10;                &lt;/Box&gt;&#10;                &lt;Text style={{ fontSize: 15, color: '#8BA6C1', lineHeight: 1.6 }}&gt;&#10;                    出处：Manji J, et al. &lt;span style={{ fontStyle: 'italic' }}&gt;Ann Otol Rhinol Laryngol&lt;/span&gt;. 2019（【实】L1 同行评议）。ENS6Q 满分 30，总分 ≥11 提示 ENS。&#10;                &lt;/Text&gt;&#10;            &lt;/Box&gt;&#10;        &lt;/Box&gt;&#10;&#10;        &lt;Box style={{ height: 42, marginTop: 12, flexDirection: 'row', alignItems: 'center', justifyContent: 'space-between', borderTop: '1px solid rgba(139,166,193,0.22)' }}&gt;&#10;            &lt;Text style={{ fontSize: 14, color: '#8BA6C1' }}&gt;数据落点：产品的价值主张由「让鼻子通气」修正为「让黏膜重新被气流刺激」&lt;/Text&gt;&#10;            &lt;Text style={{ fontSize: 14, color: '#8BA6C1' }}&gt;04 / 09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0" y="0"/>
            <a:ext cx="5905500" cy="5905500"/>
          </a:xfrm>
          <a:prstGeom prst="rect">
            <a:avLst/>
          </a:prstGeom>
          <a:gradFill>
            <a:gsLst>
              <a:gs pos="0">
                <a:srgbClr val="22D3EE">
                  <a:alpha val="16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7810500" y="2476500"/>
            <a:ext cx="4381500" cy="4381500"/>
          </a:xfrm>
          <a:prstGeom prst="rect">
            <a:avLst/>
          </a:prstGeom>
          <a:gradFill>
            <a:gsLst>
              <a:gs pos="0">
                <a:srgbClr val="F5A524">
                  <a:alpha val="10000"/>
                </a:srgbClr>
              </a:gs>
              <a:gs pos="70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 xml:space="preserve">01 / </a:t>
            </a:r>
            <a:r>
              <a:rPr lang="zh-CN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>问题与需求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44577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Microsoft YaHei"/>
                <a:ea typeface="Microsoft YaHei"/>
              </a:rPr>
              <a:t>最痛的不是「堵」，是「干」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277600" y="8096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Q1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09600" y="1257300"/>
            <a:ext cx="6419850" cy="4762500"/>
          </a:xfrm>
          <a:prstGeom prst="roundRect">
            <a:avLst>
              <a:gd name="adj" fmla="val 24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00100" y="1409700"/>
            <a:ext cx="6038850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 b="1">
                <a:solidFill>
                  <a:srgbClr val="B7CBDD"/>
                </a:solidFill>
                <a:latin typeface="Microsoft YaHei"/>
                <a:ea typeface="Microsoft YaHei"/>
              </a:rPr>
              <a:t xml:space="preserve">ENS6Q </a:t>
            </a:r>
            <a:r>
              <a:rPr lang="zh-CN" sz="1350" b="1">
                <a:solidFill>
                  <a:srgbClr val="B7CBDD"/>
                </a:solidFill>
                <a:latin typeface="Microsoft YaHei"/>
                <a:ea typeface="Microsoft YaHei"/>
              </a:rPr>
              <a:t>六条目基线得分（</a:t>
            </a:r>
            <a:r>
              <a:rPr lang="en-US" sz="1350" b="1">
                <a:solidFill>
                  <a:srgbClr val="B7CBDD"/>
                </a:solidFill>
                <a:latin typeface="Microsoft YaHei"/>
                <a:ea typeface="Microsoft YaHei"/>
              </a:rPr>
              <a:t xml:space="preserve">0–5 </a:t>
            </a:r>
            <a:r>
              <a:rPr lang="zh-CN" sz="1350" b="1">
                <a:solidFill>
                  <a:srgbClr val="B7CBDD"/>
                </a:solidFill>
                <a:latin typeface="Microsoft YaHei"/>
                <a:ea typeface="Microsoft YaHei"/>
              </a:rPr>
              <a:t>分制，</a:t>
            </a:r>
            <a:r>
              <a:rPr lang="en-US" sz="1350" b="1">
                <a:solidFill>
                  <a:srgbClr val="B7CBDD"/>
                </a:solidFill>
                <a:latin typeface="Microsoft YaHei"/>
                <a:ea typeface="Microsoft YaHei"/>
              </a:rPr>
              <a:t>n = 53</a:t>
            </a:r>
            <a:r>
              <a:rPr lang="zh-CN" sz="1350" b="1">
                <a:solidFill>
                  <a:srgbClr val="B7CBDD"/>
                </a:solidFill>
                <a:latin typeface="Microsoft YaHei"/>
                <a:ea typeface="Microsoft YaHei"/>
              </a:rPr>
              <a:t>，多国在线招募）</a:t>
            </a:r>
            <a:endParaRPr/>
          </a:p>
        </p:txBody>
      </p:sp>
      <p:graphicFrame>
        <p:nvGraphicFramePr>
          <p:cNvPr id="133" name="133"/>
          <p:cNvGraphicFramePr/>
          <p:nvPr/>
        </p:nvGraphicFramePr>
        <p:xfrm rot="0" flipH="0" flipV="0">
          <a:off x="800100" y="1809750"/>
          <a:ext cx="6038850" cy="40005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296150" y="1514475"/>
            <a:ext cx="428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22D3EE"/>
                </a:solidFill>
                <a:latin typeface="Microsoft YaHei"/>
                <a:ea typeface="Microsoft YaHei"/>
              </a:rPr>
              <a:t>最痛的两项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296150" y="1724025"/>
            <a:ext cx="1552575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2D3EE"/>
                </a:solidFill>
                <a:latin typeface="Microsoft YaHei"/>
                <a:ea typeface="Microsoft YaHei"/>
              </a:rPr>
              <a:t>4.07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9001125" y="1724025"/>
            <a:ext cx="4191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A6C1"/>
                </a:solidFill>
                <a:latin typeface="Microsoft YaHei"/>
                <a:ea typeface="Microsoft YaHei"/>
              </a:rPr>
              <a:t>干燥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296150" y="2638425"/>
            <a:ext cx="1552575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5A524"/>
                </a:solidFill>
                <a:latin typeface="Microsoft YaHei"/>
                <a:ea typeface="Microsoft YaHei"/>
              </a:rPr>
              <a:t>4.02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001125" y="2638425"/>
            <a:ext cx="12573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A6C1"/>
                </a:solidFill>
                <a:latin typeface="Microsoft YaHei"/>
                <a:ea typeface="Microsoft YaHei"/>
              </a:rPr>
              <a:t>感觉不到气流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7324725" y="3667125"/>
            <a:ext cx="4286250" cy="1390650"/>
          </a:xfrm>
          <a:prstGeom prst="roundRect">
            <a:avLst>
              <a:gd name="adj" fmla="val 4110"/>
            </a:avLst>
          </a:prstGeom>
          <a:solidFill>
            <a:srgbClr val="F5A524">
              <a:alpha val="8000"/>
            </a:srgbClr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7324725" y="3667125"/>
            <a:ext cx="4286250" cy="1390650"/>
          </a:xfrm>
          <a:custGeom>
            <a:pathLst>
              <a:path w="450" h="14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143"/>
                </a:lnTo>
                <a:cubicBezTo>
                  <a:pt x="3" y="144"/>
                  <a:pt x="4" y="146"/>
                  <a:pt x="5" y="146"/>
                </a:cubicBezTo>
                <a:cubicBezTo>
                  <a:pt x="2" y="146"/>
                  <a:pt x="0" y="143"/>
                  <a:pt x="0" y="14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5A524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515225" y="3838575"/>
            <a:ext cx="3876675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E8F1FA"/>
                </a:solidFill>
                <a:latin typeface="Microsoft YaHei"/>
                <a:ea typeface="Microsoft YaHei"/>
              </a:rPr>
              <a:t>干燥与气流感知是患者最痛的两项，却恰恰是现有</a:t>
            </a:r>
            <a:r>
              <a:rPr lang="zh-CN" sz="1425" b="1">
                <a:solidFill>
                  <a:srgbClr val="F5A524"/>
                </a:solidFill>
                <a:latin typeface="Microsoft YaHei"/>
                <a:ea typeface="Microsoft YaHei"/>
              </a:rPr>
              <a:t>鼻腔填充类方案改善最弱</a:t>
            </a:r>
            <a:r>
              <a:rPr lang="zh-CN" sz="1425">
                <a:solidFill>
                  <a:srgbClr val="E8F1FA"/>
                </a:solidFill>
                <a:latin typeface="Microsoft YaHei"/>
                <a:ea typeface="Microsoft YaHei"/>
              </a:rPr>
              <a:t>的一对——所以产品目标不能只定在「恢复通气」。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296150" y="5210175"/>
            <a:ext cx="4286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8BA6C1"/>
                </a:solidFill>
                <a:latin typeface="Microsoft YaHei"/>
                <a:ea typeface="Microsoft YaHei"/>
              </a:rPr>
              <a:t>出处：</a:t>
            </a:r>
            <a:r>
              <a:rPr lang="en-US" sz="1125">
                <a:solidFill>
                  <a:srgbClr val="8BA6C1"/>
                </a:solidFill>
                <a:latin typeface="Microsoft YaHei"/>
                <a:ea typeface="Microsoft YaHei"/>
              </a:rPr>
              <a:t xml:space="preserve">Manji J, et al. </a:t>
            </a:r>
            <a:r>
              <a:rPr lang="en-US" sz="1125" i="1">
                <a:solidFill>
                  <a:srgbClr val="8BA6C1"/>
                </a:solidFill>
                <a:latin typeface="Microsoft YaHei"/>
                <a:ea typeface="Microsoft YaHei"/>
              </a:rPr>
              <a:t>Ann Otol Rhinol Laryngol</a:t>
            </a:r>
            <a:r>
              <a:rPr lang="en-US" sz="1125">
                <a:solidFill>
                  <a:srgbClr val="8BA6C1"/>
                </a:solidFill>
                <a:latin typeface="Microsoft YaHei"/>
                <a:ea typeface="Microsoft YaHei"/>
              </a:rPr>
              <a:t>. 2019</a:t>
            </a:r>
            <a:r>
              <a:rPr lang="zh-CN" sz="1125">
                <a:solidFill>
                  <a:srgbClr val="8BA6C1"/>
                </a:solidFill>
                <a:latin typeface="Microsoft YaHei"/>
                <a:ea typeface="Microsoft YaHei"/>
              </a:rPr>
              <a:t>（【实】</a:t>
            </a:r>
            <a:r>
              <a:rPr lang="en-US" sz="1125">
                <a:solidFill>
                  <a:srgbClr val="8BA6C1"/>
                </a:solidFill>
                <a:latin typeface="Microsoft YaHei"/>
                <a:ea typeface="Microsoft YaHei"/>
              </a:rPr>
              <a:t xml:space="preserve">L1 </a:t>
            </a:r>
            <a:r>
              <a:rPr lang="zh-CN" sz="1125">
                <a:solidFill>
                  <a:srgbClr val="8BA6C1"/>
                </a:solidFill>
                <a:latin typeface="Microsoft YaHei"/>
                <a:ea typeface="Microsoft YaHei"/>
              </a:rPr>
              <a:t>同行评议）。</a:t>
            </a:r>
            <a:r>
              <a:rPr lang="en-US" sz="1125">
                <a:solidFill>
                  <a:srgbClr val="8BA6C1"/>
                </a:solidFill>
                <a:latin typeface="Microsoft YaHei"/>
                <a:ea typeface="Microsoft YaHei"/>
              </a:rPr>
              <a:t xml:space="preserve">ENS6Q </a:t>
            </a:r>
            <a:r>
              <a:rPr lang="zh-CN" sz="1125">
                <a:solidFill>
                  <a:srgbClr val="8BA6C1"/>
                </a:solidFill>
                <a:latin typeface="Microsoft YaHei"/>
                <a:ea typeface="Microsoft YaHei"/>
              </a:rPr>
              <a:t>满分</a:t>
            </a:r>
            <a:r>
              <a:rPr lang="en-US" sz="1125">
                <a:solidFill>
                  <a:srgbClr val="8BA6C1"/>
                </a:solidFill>
                <a:latin typeface="Microsoft YaHei"/>
                <a:ea typeface="Microsoft YaHei"/>
              </a:rPr>
              <a:t xml:space="preserve"> 30</a:t>
            </a:r>
            <a:r>
              <a:rPr lang="zh-CN" sz="1125">
                <a:solidFill>
                  <a:srgbClr val="8BA6C1"/>
                </a:solidFill>
                <a:latin typeface="Microsoft YaHei"/>
                <a:ea typeface="Microsoft YaHei"/>
              </a:rPr>
              <a:t>，总分</a:t>
            </a:r>
            <a:r>
              <a:rPr lang="en-US" sz="1125">
                <a:solidFill>
                  <a:srgbClr val="8BA6C1"/>
                </a:solidFill>
                <a:latin typeface="Microsoft YaHei"/>
                <a:ea typeface="Microsoft YaHei"/>
              </a:rPr>
              <a:t xml:space="preserve"> ≥11 </a:t>
            </a:r>
            <a:r>
              <a:rPr lang="zh-CN" sz="1125">
                <a:solidFill>
                  <a:srgbClr val="8BA6C1"/>
                </a:solidFill>
                <a:latin typeface="Microsoft YaHei"/>
                <a:ea typeface="Microsoft YaHei"/>
              </a:rPr>
              <a:t>提示</a:t>
            </a:r>
            <a:r>
              <a:rPr lang="en-US" sz="1125">
                <a:solidFill>
                  <a:srgbClr val="8BA6C1"/>
                </a:solidFill>
                <a:latin typeface="Microsoft YaHei"/>
                <a:ea typeface="Microsoft YaHei"/>
              </a:rPr>
              <a:t xml:space="preserve"> ENS</a:t>
            </a:r>
            <a:r>
              <a:rPr lang="zh-CN" sz="1125">
                <a:solidFill>
                  <a:srgbClr val="8BA6C1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9600" y="6134100"/>
            <a:ext cx="10972800" cy="400050"/>
          </a:xfrm>
          <a:custGeom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9600" y="6257925"/>
            <a:ext cx="466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数据落点：产品的价值主张由「让鼻子通气」修正为「让黏膜重新被气流刺激」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11252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04 / 09</a:t>
            </a:r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953750" y="323850"/>
            <a:ext cx="3000000" cy="2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u="sng">
                <a:solidFill>
                  <a:srgbClr val="7FD4EA"/>
                </a:solidFill>
                <a:hlinkClick r:id="rId3"/>
              </a:rPr>
              <a:t>▸ 患者需求调研包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6" name="" descr="&lt;Slide style={{ width: 1280, height: 720, background: '#0A1A2F', padding: '24px 64px', position: 'relative', overflow: 'hidden', fontFamily: &quot;'Source Han Sans SC','PingFang SC','Microsoft YaHei',sans-serif&quot; }}&gt;&#10;    &lt;Box style={{ position: 'absolute', top: 0, left: 0, width: 600, height: 600, background: 'radial-gradient(circle at 0% 0%, rgba(34,211,238,0.10) 0%, rgba(34,211,238,0) 68%)' }} /&gt;&#10;    &lt;Box style={{ position: 'absolute', bottom: 0, right: 0, width: 420, height: 420, background: 'radial-gradient(circle at 100% 100%, rgba(245,165,36,0.07) 0%, rgba(245,165,36,0) 68%)' }} /&gt;&#10;&#10;    &lt;Box style={{ position: 'relative', zIndex: 1, width: '100%', flexDirection: 'column' }}&gt;&#10;        &lt;Box style={{ height: 92, flexDirection: 'row', alignItems: 'flex-end', justifyContent: 'space-between' }}&gt;&#10;            &lt;Box style={{ flexDirection: 'column', gap: 6 }}&gt;&#10;                &lt;Text style={{ fontSize: 15, fontWeight: 600, letterSpacing: 3, color: '#22D3EE' }}&gt;02 / 产品与解决方案&lt;/Text&gt;&#10;                &lt;Text style={{ fontSize: 36, fontWeight: 700, color: '#E8F1FA', lineHeight: 1.2 }}&gt;一句话：CT 进，功能数字出&lt;/Text&gt;&#10;            &lt;/Box&gt;&#10;            &lt;Box style={{ width: 46, height: 46, borderRadius: 23, border: '2px solid rgba(34,211,238,0.55)', justifyContent: 'center', alignItems: 'center' }}&gt;&#10;                &lt;Text style={{ fontSize: 13, fontWeight: 700, color: '#22D3EE' }}&gt;Q2&lt;/Text&gt;&#10;            &lt;/Box&gt;&#10;        &lt;/Box&gt;&#10;&#10;        &lt;Box style={{ height: 500, marginTop: 16, flexDirection: 'column', gap: 16 }}&gt;&#10;            &lt;Box style={{ height: 250, flexDirection: 'column', padding: '14px 20px', background: 'linear-gradient(150deg, #14294A 0%, #0E2039 100%)', borderRadius: 12, border: '1px solid rgba(139,166,193,0.22)' }}&gt;&#10;                &lt;Text style={{ fontSize: 18, fontWeight: 600, color: '#B7CBDD' }}&gt;鼻腔功能评估管线：一条命令，六个阶段，无需人工点击&lt;/Text&gt;&#10;                &lt;svg width={1104} height={186} viewBox='0 0 1104 186'&gt;&#10;                    &lt;rect x='0' y='34' width='160' height='96' rx='10' fill='#0E2039' stroke='#22D3EE' strokeWidth='1.5' /&gt;&#10;                    &lt;text x='80' y='76' fill='#E8F1FA' fontSize='17' fontWeight='600' textAnchor='middle'&gt;CT 影像&lt;/text&gt;&#10;                    &lt;text x='80' y='102' fill='#8BA6C1' fontSize='13' textAnchor='middle'&gt;DICOM 序列&lt;/text&gt;&#10;&#10;                    &lt;path d='M162 82 L188 82' stroke='#22D3EE' strokeWidth='2' /&gt;&#10;                    &lt;path d='M182 77 L190 82 L182 87 Z' fill='#22D3EE' /&gt;&#10;&#10;                    &lt;rect x='192' y='34' width='160' height='96' rx='10' fill='#0E2039' stroke='#22D3EE' strokeWidth='1.5' /&gt;&#10;                    &lt;text x='272' y='76' fill='#E8F1FA' fontSize='17' fontWeight='600' textAnchor='middle'&gt;气道分割&lt;/text&gt;&#10;                    &lt;text x='272' y='102' fill='#8BA6C1' fontSize='13' textAnchor='middle'&gt;自动阈值 + 连通域&lt;/text&gt;&#10;&#10;                    &lt;path d='M354 82 L380 82' stroke='#22D3EE' strokeWidth='2' /&gt;&#10;                    &lt;path d='M374 77 L382 82 L374 87 Z' fill='#22D3EE' /&gt;&#10;&#10;                    &lt;rect x='384' y='34' width='160' height='96' rx='10' fill='#0E2039' stroke='#22D3EE' strokeWidth='1.5' /&gt;&#10;                    &lt;text x='464' y='76' fill='#E8F1FA' fontSize='17' fontWeight='600' textAnchor='middle'&gt;表面重建&lt;/text&gt;&#10;                    &lt;text x='464' y='102' fill='#8BA6C1' fontSize='13' textAnchor='middle'&gt;STL + 四门禁&lt;/text&gt;&#10;&#10;                    &lt;path d='M546 82 L572 82' stroke='#22D3EE' strokeWidth='2' /&gt;&#10;                    &lt;path d='M566 77 L574 82 L566 87 Z' fill='#22D3EE' /&gt;&#10;&#10;                    &lt;rect x='576' y='34' width='160' height='96' rx='10' fill='#0E2039' stroke='#22D3EE' strokeWidth='1.5' /&gt;&#10;                    &lt;text x='656' y='76' fill='#E8F1FA' fontSize='17' fontWeight='600' textAnchor='middle'&gt;体网格&lt;/text&gt;&#10;                    &lt;text x='656' y='102' fill='#8BA6C1' fontSize='13' textAnchor='middle'&gt;四面体 · 质量门&lt;/text&gt;&#10;&#10;                    &lt;path d='M738 82 L764 82' stroke='#22D3EE' strokeWidth='2' /&gt;&#10;                    &lt;path d='M758 77 L766 82 L758 87 Z' fill='#22D3EE' /&gt;&#10;&#10;                    &lt;rect x='768' y='34' width='160' height='96' rx='10' fill='#0E2039' stroke='#F5A524' strokeWidth='1.5' /&gt;&#10;                    &lt;text x='848' y='76' fill='#E8F1FA' fontSize='17' fontWeight='600' textAnchor='middle'&gt;稳态求解&lt;/text&gt;&#10;                    &lt;text x='848' y='102' fill='#8BA6C1' fontSize='13' textAnchor='middle'&gt;OpenFOAM 层流&lt;/text&gt;&#10;&#10;                    &lt;path d='M930 82 L956 82' stroke='#F5A524' strokeWidth='2' /&gt;&#10;                    &lt;path d='M950 77 L958 82 L950 87 Z' fill='#F5A524' /&gt;&#10;&#10;                    &lt;rect x='960' y='34' width='144' height='96' rx='10' fill='#0E2039' stroke='#F5A524' strokeWidth='1.5' /&gt;&#10;                    &lt;text x='1032' y='76' fill='#E8F1FA' fontSize='17' fontWeight='600' textAnchor='middle'&gt;功能报告&lt;/text&gt;&#10;                    &lt;text x='1032' y='102' fill='#8BA6C1' fontSize='13' textAnchor='middle'&gt;三指标 + 三维气流&lt;/text&gt;&#10;&#10;                    &lt;text x='0' y='162' fill='#8BA6C1' fontSize='13'&gt;输入：患者 CT 原始序列（DICOM）&lt;/text&gt;&#10;                    &lt;text x='1104' y='162' fill='#8BA6C1' fontSize='13' textAnchor='end'&gt;输出：疾病-功能对照报告（PDF / 网页 / 三维流线）&lt;/text&gt;&#10;                &lt;/svg&gt;&#10;            &lt;/Box&gt;&#10;&#10;            &lt;Box style={{ height: 234, flexDirection: 'row', gap: 16 }}&gt;&#10;                &lt;Box style={{ flex: 1, flexDirection: 'column', gap: 10, padding: '20px 22px', background: 'linear-gradient(150deg, #14294A 0%, #0E2039 100%)', borderRadius: 12, border: '1px solid rgba(139,166,193,0.22)' }}&gt;&#10;                    &lt;Text style={{ fontSize: 26, fontWeight: 800, color: '#22D3EE', lineHeight: 1 }}&gt;0 次&lt;/Text&gt;&#10;                    &lt;Text style={{ fontSize: 21, fontWeight: 700, color: '#E8F1FA' }}&gt;人工交互&lt;/Text&gt;&#10;                    &lt;Text style={{ fontSize: 17, color: '#8BA6C1', lineHeight: 1.55, marginTop: 'auto' }}&gt;不需要在三维软件里手工点击分割、封口、裁剪；分割与开口由物理判据自动裁定，每一步留下可复核的判据与指纹。&lt;/Text&gt;&#10;                &lt;/Box&gt;&#10;                &lt;Box style={{ flex: 1, flexDirection: 'column', gap: 10, padding: '20px 22px', background: 'linear-gradient(150deg, #14294A 0%, #0E2039 100%)', borderRadius: 12, border: '1px solid rgba(139,166,193,0.22)' }}&gt;&#10;                    &lt;Text style={{ fontSize: 26, fontWeight: 800, color: '#22D3EE', lineHeight: 1 }}&gt;100%&lt;/Text&gt;&#10;                    &lt;Text style={{ fontSize: 21, fontWeight: 700, color: '#E8F1FA' }}&gt;开源栈&lt;/Text&gt;&#10;                    &lt;Text style={{ fontSize: 17, color: '#8BA6C1', lineHeight: 1.55, marginTop: 'auto' }}&gt;SimpleITK / Netgen / OpenFOAM / VTK 全开源，零商业许可成本；同一份输入在任何机器上可重放同一条命令。&lt;/Text&gt;&#10;                &lt;/Box&gt;&#10;                &lt;Box style={{ flex: 1, flexDirection: 'column', gap: 10, padding: '20px 22px', background: 'linear-gradient(150deg, #14294A 0%, #0E2039 100%)', borderRadius: 12, border: '1px solid rgba(139,166,193,0.22)' }}&gt;&#10;                    &lt;Text style={{ fontSize: 26, fontWeight: 800, color: '#22D3EE', lineHeight: 1 }}&gt;3 类&lt;/Text&gt;&#10;                    &lt;Text style={{ fontSize: 21, fontWeight: 700, color: '#E8F1FA' }}&gt;功能指标&lt;/Text&gt;&#10;                    &lt;Text style={{ fontSize: 17, color: '#8BA6C1', lineHeight: 1.55, marginTop: 'auto' }}&gt;鼻阻力、壁面剪应力、后鼻孔温湿度与热通量——分别对应患者的三个核心主诉，而不是泛泛的「流场图」。&lt;/Text&gt;&#10;                &lt;/Box&gt;&#10;            &lt;/Box&gt;&#10;        &lt;/Box&gt;&#10;&#10;        &lt;Box style={{ height: 42, marginTop: 12, flexDirection: 'row', alignItems: 'center', justifyContent: 'space-between', borderTop: '1px solid rgba(139,166,193,0.22)' }}&gt;&#10;            &lt;Text style={{ fontSize: 14, color: '#8BA6C1' }}&gt;数据落点：单例处理从人工 30–60 分钟降到一条命令，且过程可复现、可审计&lt;/Text&gt;&#10;            &lt;Text style={{ fontSize: 14, color: '#8BA6C1' }}&gt;05 / 09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432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 xml:space="preserve">02 / </a:t>
            </a:r>
            <a:r>
              <a:rPr lang="zh-CN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>产品与解决方案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432435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Microsoft YaHei"/>
                <a:ea typeface="Microsoft YaHei"/>
              </a:rPr>
              <a:t>一句话：</a:t>
            </a:r>
            <a:r>
              <a:rPr lang="en-US" sz="270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CT </a:t>
            </a:r>
            <a:r>
              <a:rPr lang="zh-CN" sz="2700" b="1">
                <a:solidFill>
                  <a:srgbClr val="E8F1FA"/>
                </a:solidFill>
                <a:latin typeface="Microsoft YaHei"/>
                <a:ea typeface="Microsoft YaHei"/>
              </a:rPr>
              <a:t>进，功能数字出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277600" y="8096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Q2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09600" y="1257300"/>
            <a:ext cx="10972800" cy="2381250"/>
          </a:xfrm>
          <a:prstGeom prst="roundRect">
            <a:avLst>
              <a:gd name="adj" fmla="val 48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00100" y="139065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7CBDD"/>
                </a:solidFill>
                <a:latin typeface="Microsoft YaHei"/>
                <a:ea typeface="Microsoft YaHei"/>
              </a:rPr>
              <a:t>鼻腔功能评估管线：一条命令，六个阶段，无需人工点击</a:t>
            </a:r>
            <a:endParaRPr/>
          </a:p>
        </p:txBody>
      </p:sp>
      <p:pic>
        <p:nvPicPr>
          <p:cNvPr id="1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600200"/>
            <a:ext cx="10515600" cy="1771650"/>
          </a:xfrm>
          <a:prstGeom prst="rect">
            <a:avLst/>
          </a:prstGeom>
          <a:ln/>
        </p:spPr>
      </p:pic>
      <p:sp>
        <p:nvSpPr>
          <p:cNvPr id="157" name=""/>
          <p:cNvSpPr/>
          <p:nvPr/>
        </p:nvSpPr>
        <p:spPr>
          <a:xfrm rot="0" flipH="0" flipV="0">
            <a:off x="609600" y="3790950"/>
            <a:ext cx="3552825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19150" y="398145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Microsoft YaHei"/>
                <a:ea typeface="Microsoft YaHei"/>
              </a:rPr>
              <a:t xml:space="preserve">0 </a:t>
            </a:r>
            <a:r>
              <a:rPr lang="zh-CN" sz="1950" b="1">
                <a:solidFill>
                  <a:srgbClr val="22D3EE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19150" y="4381500"/>
            <a:ext cx="3133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人工交互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19150" y="4924425"/>
            <a:ext cx="313372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不需要在三维软件里手工点击分割、封口、裁剪；分割与开口由物理判据自动裁定，每一步留下可复核的判据与指纹。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4314825" y="3790950"/>
            <a:ext cx="3562350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524375" y="3981450"/>
            <a:ext cx="3143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524375" y="4381500"/>
            <a:ext cx="3143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开源栈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524375" y="4924425"/>
            <a:ext cx="314325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SimpleITK / Netgen / OpenFOAM / VTK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全开源，零商业许可成本；同一份输入在任何机器上可重放同一条命令。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8029575" y="3790950"/>
            <a:ext cx="3552825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239125" y="398145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950" b="1">
                <a:solidFill>
                  <a:srgbClr val="22D3EE"/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239125" y="4381500"/>
            <a:ext cx="3133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功能指标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239125" y="4924425"/>
            <a:ext cx="313372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鼻阻力、壁面剪应力、后鼻孔温湿度与热通量——分别对应患者的三个核心主诉，而不是泛泛的「流场图」。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09600" y="6134100"/>
            <a:ext cx="10972800" cy="400050"/>
          </a:xfrm>
          <a:custGeom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09600" y="6257925"/>
            <a:ext cx="4600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数据落点：单例处理从人工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> 30–60 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分钟降到一条命令，且过程可复现、可审计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1252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05 / 09</a:t>
            </a:r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7953750" y="323850"/>
            <a:ext cx="3000000" cy="2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u="sng">
                <a:solidFill>
                  <a:srgbClr val="7FD4EA"/>
                </a:solidFill>
                <a:hlinkClick r:id="rId3"/>
              </a:rPr>
              <a:t>▸ 现场 Demo 入口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72" name="" descr="&lt;Slide style={{ width: 1280, height: 720, background: '#0A1A2F', padding: '24px 64px', position: 'relative', overflow: 'hidden', fontFamily: &quot;'Source Han Sans SC','PingFang SC','Microsoft YaHei',sans-serif&quot; }}&gt;&#10;    &lt;Box style={{ position: 'absolute', top: 0, left: 0, width: 600, height: 600, background: 'radial-gradient(circle at 0% 0%, rgba(34,211,238,0.12) 0%, rgba(34,211,238,0) 68%)' }} /&gt;&#10;    &lt;Box style={{ position: 'absolute', bottom: 0, right: 0, width: 420, height: 420, background: 'radial-gradient(circle at 100% 100%, rgba(245,165,36,0.08) 0%, rgba(245,165,36,0) 68%)' }} /&gt;&#10;&#10;    &lt;Box style={{ position: 'relative', zIndex: 1, width: '100%', flexDirection: 'column' }}&gt;&#10;        &lt;Box style={{ height: 92, flexDirection: 'row', alignItems: 'flex-end', justifyContent: 'space-between' }}&gt;&#10;            &lt;Box style={{ flexDirection: 'column', gap: 6 }}&gt;&#10;                &lt;Text style={{ fontSize: 15, fontWeight: 600, letterSpacing: 3, color: '#22D3EE' }}&gt;04 / 测试过程与真实反馈&lt;/Text&gt;&#10;                &lt;Text style={{ fontSize: 36, fontWeight: 700, color: '#E8F1FA', lineHeight: 1.2 }}&gt;三例患者：几何 → 网格 → 求解 → 指标&lt;/Text&gt;&#10;            &lt;/Box&gt;&#10;            &lt;Box style={{ width: 46, height: 46, borderRadius: 23, border: '2px solid rgba(34,211,238,0.55)', justifyContent: 'center', alignItems: 'center' }}&gt;&#10;                &lt;Text style={{ fontSize: 13, fontWeight: 700, color: '#22D3EE' }}&gt;Q4&lt;/Text&gt;&#10;            &lt;/Box&gt;&#10;        &lt;/Box&gt;&#10;&#10;        &lt;Box style={{ height: 500, marginTop: 16, flexDirection: 'row', gap: 26 }}&gt;&#10;            &lt;Box style={{ width: 690, flexDirection: 'column', padding: '20px 22px', background: 'linear-gradient(150deg, #14294A 0%, #0E2039 100%)', borderRadius: 12, border: '1px solid rgba(139,166,193,0.22)' }}&gt;&#10;                &lt;Text style={{ fontSize: 15, fontWeight: 600, letterSpacing: 2, color: '#8BA6C1' }}&gt;扩展域全链结果 · 现行基线&lt;/Text&gt;&#10;&#10;                &lt;Box style={{ flexDirection: 'row', gap: 8, marginTop: 14, paddingBottom: 10, borderBottom: '1px solid rgba(139,166,193,0.30)' }}&gt;&#10;                    &lt;Box style={{ width: 200 }}&gt;&lt;Text style={{ fontSize: 14, color: '#8BA6C1' }}&gt;指标&lt;/Text&gt;&lt;/Box&gt;&#10;                    &lt;Box style={{ flex: 1, alignItems: 'center' }}&gt;&lt;Text style={{ fontSize: 14, color: '#8BA6C1' }}&gt;b15&lt;/Text&gt;&lt;/Box&gt;&#10;                    &lt;Box style={{ flex: 1, alignItems: 'center' }}&gt;&lt;Text style={{ fontSize: 14, color: '#8BA6C1' }}&gt;b01&lt;/Text&gt;&lt;/Box&gt;&#10;                    &lt;Box style={{ flex: 1, alignItems: 'center' }}&gt;&lt;Text style={{ fontSize: 14, color: '#8BA6C1' }}&gt;b02&lt;/Text&gt;&lt;/Box&gt;&#10;                &lt;/Box&gt;&#10;&#10;                &lt;Box style={{ flexDirection: 'row', gap: 8, height: 44, alignItems: 'center' }}&gt;&#10;                    &lt;Box style={{ width: 200 }}&gt;&lt;Text style={{ fontSize: 17, color: '#E8F1FA' }}&gt;鼻阻力 R（Pa·s/mL）&lt;/Text&gt;&lt;/Box&gt;&#10;                    &lt;Box style={{ flex: 1, alignItems: 'center' }}&gt;&lt;Text style={{ fontSize: 19, fontWeight: 700, color: '#22D3EE' }}&gt;0.0685&lt;/Text&gt;&lt;/Box&gt;&#10;                    &lt;Box style={{ flex: 1, alignItems: 'center' }}&gt;&lt;Text style={{ fontSize: 19, fontWeight: 700, color: '#22D3EE' }}&gt;0.0618&lt;/Text&gt;&lt;/Box&gt;&#10;                    &lt;Box style={{ flex: 1, alignItems: 'center' }}&gt;&lt;Text style={{ fontSize: 19, fontWeight: 700, color: '#F5A524' }}&gt;0.1729&lt;/Text&gt;&lt;/Box&gt;&#10;                &lt;/Box&gt;&#10;&#10;                &lt;Box style={{ flexDirection: 'row', gap: 8, height: 44, alignItems: 'center' }}&gt;&#10;                    &lt;Box style={{ width: 200 }}&gt;&lt;Text style={{ fontSize: 17, color: '#E8F1FA' }}&gt;压差 Δp（Pa）&lt;/Text&gt;&lt;/Box&gt;&#10;                    &lt;Box style={{ flex: 1, alignItems: 'center' }}&gt;&lt;Text style={{ fontSize: 19, color: '#E8F1FA' }}&gt;17.120&lt;/Text&gt;&lt;/Box&gt;&#10;                    &lt;Box style={{ flex: 1, alignItems: 'center' }}&gt;&lt;Text style={{ fontSize: 19, color: '#E8F1FA' }}&gt;15.460&lt;/Text&gt;&lt;/Box&gt;&#10;                    &lt;Box style={{ flex: 1, alignItems: 'center' }}&gt;&lt;Text style={{ fontSize: 19, color: '#F5A524' }}&gt;43.231&lt;/Text&gt;&lt;/Box&gt;&#10;                &lt;/Box&gt;&#10;&#10;                &lt;Box style={{ flexDirection: 'row', gap: 8, height: 44, alignItems: 'center' }}&gt;&#10;                    &lt;Box style={{ width: 200 }}&gt;&lt;Text style={{ fontSize: 17, color: '#E8F1FA' }}&gt;WSS 合力（N）&lt;/Text&gt;&lt;/Box&gt;&#10;                    &lt;Box style={{ flex: 1, alignItems: 'center' }}&gt;&lt;Text style={{ fontSize: 19, color: '#E8F1FA' }}&gt;1.49e-3&lt;/Text&gt;&lt;/Box&gt;&#10;                    &lt;Box style={{ flex: 1, alignItems: 'center' }}&gt;&lt;Text style={{ fontSize: 19, color: '#E8F1FA' }}&gt;1.27e-3&lt;/Text&gt;&lt;/Box&gt;&#10;                    &lt;Box style={{ flex: 1, alignItems: 'center' }}&gt;&lt;Text style={{ fontSize: 19, color: '#F5A524' }}&gt;2.37e-3&lt;/Text&gt;&lt;/Box&gt;&#10;                &lt;/Box&gt;&#10;&#10;                &lt;Box style={{ flexDirection: 'row', gap: 8, height: 44, alignItems: 'center' }}&gt;&#10;                    &lt;Box style={{ width: 200 }}&gt;&lt;Text style={{ fontSize: 17, color: '#E8F1FA' }}&gt;WSS 中位（Pa）&lt;/Text&gt;&lt;/Box&gt;&#10;                    &lt;Box style={{ flex: 1, alignItems: 'center' }}&gt;&lt;Text style={{ fontSize: 19, color: '#E8F1FA' }}&gt;0.068&lt;/Text&gt;&lt;/Box&gt;&#10;                    &lt;Box style={{ flex: 1, alignItems: 'center' }}&gt;&lt;Text style={{ fontSize: 19, color: '#E8F1FA' }}&gt;0.050&lt;/Text&gt;&lt;/Box&gt;&#10;                    &lt;Box style={{ flex: 1, alignItems: 'center' }}&gt;&lt;Text style={{ fontSize: 19, color: '#F5A524' }}&gt;0.090&lt;/Text&gt;&lt;/Box&gt;&#10;                &lt;/Box&gt;&#10;&#10;                &lt;Box style={{ flexDirection: 'row', gap: 8, height: 44, alignItems: 'center' }}&gt;&#10;                    &lt;Box style={{ width: 200 }}&gt;&lt;Text style={{ fontSize: 17, color: '#E8F1FA' }}&gt;网格单元数&lt;/Text&gt;&lt;/Box&gt;&#10;                    &lt;Box style={{ flex: 1, alignItems: 'center' }}&gt;&lt;Text style={{ fontSize: 18, color: '#E8F1FA' }}&gt;653,789&lt;/Text&gt;&lt;/Box&gt;&#10;                    &lt;Box style={{ flex: 1, alignItems: 'center' }}&gt;&lt;Text style={{ fontSize: 18, color: '#E8F1FA' }}&gt;710,101&lt;/Text&gt;&lt;/Box&gt;&#10;                    &lt;Box style={{ flex: 1, alignItems: 'center' }}&gt;&lt;Text style={{ fontSize: 18, color: '#E8F1FA' }}&gt;590,961&lt;/Text&gt;&lt;/Box&gt;&#10;                &lt;/Box&gt;&#10;&#10;                &lt;Box style={{ flexDirection: 'row', gap: 8, height: 44, alignItems: 'center' }}&gt;&#10;                    &lt;Box style={{ width: 200 }}&gt;&lt;Text style={{ fontSize: 17, color: '#E8F1FA' }}&gt;质量不平衡&lt;/Text&gt;&lt;/Box&gt;&#10;                    &lt;Box style={{ flex: 1, alignItems: 'center' }}&gt;&lt;Text style={{ fontSize: 18, color: '#E8F1FA' }}&gt;6.0e-8&lt;/Text&gt;&lt;/Box&gt;&#10;                    &lt;Box style={{ flex: 1, alignItems: 'center' }}&gt;&lt;Text style={{ fontSize: 18, color: '#E8F1FA' }}&gt;4.5e-7&lt;/Text&gt;&lt;/Box&gt;&#10;                    &lt;Box style={{ flex: 1, alignItems: 'center' }}&gt;&lt;Text style={{ fontSize: 18, color: '#E8F1FA' }}&gt;4.6e-7&lt;/Text&gt;&lt;/Box&gt;&#10;                &lt;/Box&gt;&#10;&#10;                &lt;Box style={{ flexDirection: 'row', gap: 8, height: 44, alignItems: 'center', background: 'rgba(34,211,238,0.07)', borderRadius: 8 }}&gt;&#10;                    &lt;Box style={{ width: 200, paddingLeft: 8 }}&gt;&lt;Text style={{ fontSize: 17, fontWeight: 600, color: '#22D3EE' }}&gt;工程验证&lt;/Text&gt;&lt;/Box&gt;&#10;                    &lt;Box style={{ flex: 1, alignItems: 'center' }}&gt;&lt;Text style={{ fontSize: 17, fontWeight: 600, color: '#22D3EE' }}&gt;通过&lt;/Text&gt;&lt;/Box&gt;&#10;                    &lt;Box style={{ flex: 1, alignItems: 'center' }}&gt;&lt;Text style={{ fontSize: 17, fontWeight: 600, color: '#22D3EE' }}&gt;通过&lt;/Text&gt;&lt;/Box&gt;&#10;                    &lt;Box style={{ flex: 1, alignItems: 'center' }}&gt;&lt;Text style={{ fontSize: 17, fontWeight: 600, color: '#22D3EE' }}&gt;通过&lt;/Text&gt;&lt;/Box&gt;&#10;                &lt;/Box&gt;&#10;&#10;                &lt;Text style={{ fontSize: 13, color: '#3B5675', marginTop: 'auto' }}&gt;三例均为全链 CHAIN-DONE（几何 → 开口 → 网格 → 求解 → 指标）；网格数为 checkMesh 口径。b02 为本项目首次进入求解链的患者，上表即其首产基线。&lt;/Text&gt;&#10;            &lt;/Box&gt;&#10;&#10;            &lt;Box style={{ flex: 1, flexDirection: 'column', gap: 14 }}&gt;&#10;                &lt;Box style={{ flexDirection: 'column', gap: 8, padding: '16px 18px', background: 'rgba(245,165,36,0.08)', borderRadius: 10, borderLeft: '3px solid #F5A524' }}&gt;&#10;                    &lt;Text style={{ fontSize: 14, fontWeight: 700, letterSpacing: 1, color: '#F5A524' }}&gt;口径声明 · 必读&lt;/Text&gt;&#10;                    &lt;Text style={{ fontSize: 14, color: '#C9D8E6', lineHeight: 1.55 }}&gt;三例均为&lt;span style={{ fontWeight: 700, color: '#E8F1FA' }}&gt;稳态层流工程尺度验证&lt;/span&gt;，非临床诊断；出口下游阻力缺失 → Δp 已知偏低。&lt;/Text&gt;&#10;                    &lt;Text style={{ fontSize: 14, color: '#C9D8E6', lineHeight: 1.55 }}&gt;R 绝对值不可对标临床鼻测压 —— 只有&lt;span style={{ fontWeight: 700, color: '#E8F1FA' }}&gt;配对相对变化&lt;/span&gt;可采信。&lt;/Text&gt;&#10;                    &lt;Text style={{ fontSize: 14, color: '#F5A524', lineHeight: 1.55 }}&gt;三例通过的是&lt;span style={{ fontWeight: 700 }}&gt;工程尺度筛检&lt;/span&gt;，而非严格残差意义上的完全收敛。&lt;/Text&gt;&#10;                &lt;/Box&gt;&#10;&#10;                &lt;Box style={{ flex: 1, flexDirection: 'column', padding: '18px 18px', background: 'linear-gradient(150deg, #14294A 0%, #0E2039 100%)', borderRadius: 10, border: '1px solid rgba(139,166,193,0.22)' }}&gt;&#10;                    &lt;Text style={{ fontSize: 14, letterSpacing: 2, color: '#8BA6C1' }}&gt;域不同，数字不可比&lt;/Text&gt;&#10;                    &lt;Text style={{ fontSize: 72, fontWeight: 800, lineHeight: 1, color: '#F5A524', marginTop: 8 }}&gt;40%&lt;/Text&gt;&#10;                    &lt;Text style={{ fontSize: 15, color: '#B7CBDD', lineHeight: 1.55, marginTop: 8 }}&gt;用「鼻腔短域」口径算 b15，Δp 只有 10.29 Pa；含口咽的扩展域是 17.12 Pa。&lt;/Text&gt;&#10;                    &lt;Text style={{ fontSize: 14, color: '#8BA6C1', lineHeight: 1.5, marginTop: 'auto', paddingTop: 10, borderTop: '1px solid rgba(139,166,193,0.24)' }}&gt;域变一次，结论翻一次 —— 域标准必须锁死。&lt;/Text&gt;&#10;                &lt;/Box&gt;&#10;            &lt;/Box&gt;&#10;        &lt;/Box&gt;&#10;&#10;        &lt;Box style={{ height: 42, marginTop: 12, flexDirection: 'row', alignItems: 'center', justifyContent: 'space-between', borderTop: '1px solid rgba(139,166,193,0.22)' }}&gt;&#10;            &lt;Text style={{ fontSize: 14, color: '#8BA6C1' }}&gt;口径：generalisation_test_only_no_human_review · 出口为工程截断面，缺下游阻力&lt;/Text&gt;&#10;            &lt;Text style={{ fontSize: 14, color: '#8BA6C1' }}&gt;06 / 09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2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8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6105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 xml:space="preserve">04 / </a:t>
            </a:r>
            <a:r>
              <a:rPr lang="zh-CN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>测试过程与真实反馈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6105525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Microsoft YaHei"/>
                <a:ea typeface="Microsoft YaHei"/>
              </a:rPr>
              <a:t>全链结果：几何 → 网格 → 求解 → 指标</a:t>
            </a:r>
            <a:r>
              <a:rPr lang="en-US" sz="270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/>
            </a:r>
            <a:r>
              <a:rPr lang="zh-CN" sz="2700" b="1">
                <a:solidFill>
                  <a:srgbClr val="E8F1FA"/>
                </a:solidFill>
                <a:latin typeface="Microsoft YaHei"/>
                <a:ea typeface="Microsoft YaHei"/>
              </a:rPr>
              <a:t/>
            </a:r>
            <a:r>
              <a:rPr lang="en-US" sz="270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/>
            </a:r>
            <a:r>
              <a:rPr lang="zh-CN" sz="2700" b="1">
                <a:solidFill>
                  <a:srgbClr val="E8F1FA"/>
                </a:solidFill>
                <a:latin typeface="Microsoft YaHei"/>
                <a:ea typeface="Microsoft YaHei"/>
              </a:rPr>
              <a:t/>
            </a:r>
            <a:r>
              <a:rPr lang="en-US" sz="270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/>
            </a:r>
            <a:r>
              <a:rPr lang="zh-CN" sz="2700" b="1">
                <a:solidFill>
                  <a:srgbClr val="E8F1FA"/>
                </a:solidFill>
                <a:latin typeface="Microsoft YaHei"/>
                <a:ea typeface="Microsoft YaHei"/>
              </a:rPr>
              <a:t/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1277600" y="8096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Q4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09600" y="1257300"/>
            <a:ext cx="6572250" cy="4762500"/>
          </a:xfrm>
          <a:prstGeom prst="roundRect">
            <a:avLst>
              <a:gd name="adj" fmla="val 24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19150" y="1447800"/>
            <a:ext cx="6153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>扩展域全链结果</a:t>
            </a:r>
            <a:r>
              <a:rPr lang="en-US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>现行基线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819150" y="1752600"/>
            <a:ext cx="6153150" cy="276225"/>
          </a:xfrm>
          <a:custGeom>
            <a:pathLst>
              <a:path w="646" h="29">
                <a:moveTo>
                  <a:pt x="0" y="28"/>
                </a:moveTo>
                <a:lnTo>
                  <a:pt x="646" y="28"/>
                </a:lnTo>
                <a:lnTo>
                  <a:pt x="646" y="29"/>
                </a:lnTo>
                <a:lnTo>
                  <a:pt x="0" y="29"/>
                </a:lnTo>
                <a:close/>
              </a:path>
            </a:pathLst>
          </a:custGeom>
          <a:solidFill>
            <a:srgbClr val="8BA6C1">
              <a:alpha val="30000"/>
            </a:srgbClr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19150" y="175260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3352800" y="175260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b15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762500" y="175260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b01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181725" y="175260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b02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19150" y="213360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鼻阻力</a:t>
            </a:r>
            <a:r>
              <a:rPr lang="en-US" sz="1275">
                <a:solidFill>
                  <a:srgbClr val="E8F1FA"/>
                </a:solidFill>
                <a:latin typeface="Microsoft YaHei"/>
                <a:ea typeface="Microsoft YaHei"/>
              </a:rPr>
              <a:t xml:space="preserve"> R</a:t>
            </a: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E8F1FA"/>
                </a:solidFill>
                <a:latin typeface="Microsoft YaHei"/>
                <a:ea typeface="Microsoft YaHei"/>
              </a:rPr>
              <a:t>Pa·s/mL</a:t>
            </a: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3162300" y="2124075"/>
            <a:ext cx="619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2D3EE"/>
                </a:solidFill>
                <a:latin typeface="Microsoft YaHei"/>
                <a:ea typeface="Microsoft YaHei"/>
              </a:rPr>
              <a:t>0.0685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581525" y="2124075"/>
            <a:ext cx="619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2D3EE"/>
                </a:solidFill>
                <a:latin typeface="Microsoft YaHei"/>
                <a:ea typeface="Microsoft YaHei"/>
              </a:rPr>
              <a:t>0.0618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991225" y="2124075"/>
            <a:ext cx="619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5A524"/>
                </a:solidFill>
                <a:latin typeface="Microsoft YaHei"/>
                <a:ea typeface="Microsoft YaHei"/>
              </a:rPr>
              <a:t>0.1729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19150" y="255270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压差</a:t>
            </a:r>
            <a:r>
              <a:rPr lang="en-US" sz="1275">
                <a:solidFill>
                  <a:srgbClr val="E8F1FA"/>
                </a:solidFill>
                <a:latin typeface="Microsoft YaHei"/>
                <a:ea typeface="Microsoft YaHei"/>
              </a:rPr>
              <a:t xml:space="preserve"> Δp</a:t>
            </a: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E8F1FA"/>
                </a:solidFill>
                <a:latin typeface="Microsoft YaHei"/>
                <a:ea typeface="Microsoft YaHei"/>
              </a:rPr>
              <a:t>Pa</a:t>
            </a: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3181350" y="2543175"/>
            <a:ext cx="581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Microsoft YaHei"/>
                <a:ea typeface="Microsoft YaHei"/>
              </a:rPr>
              <a:t>17.120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600575" y="2543175"/>
            <a:ext cx="581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Microsoft YaHei"/>
                <a:ea typeface="Microsoft YaHei"/>
              </a:rPr>
              <a:t>15.460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010275" y="2543175"/>
            <a:ext cx="581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5A524"/>
                </a:solidFill>
                <a:latin typeface="Microsoft YaHei"/>
                <a:ea typeface="Microsoft YaHei"/>
              </a:rPr>
              <a:t>43.231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19150" y="297180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F1FA"/>
                </a:solidFill>
                <a:latin typeface="Microsoft YaHei"/>
                <a:ea typeface="Microsoft YaHei"/>
              </a:rPr>
              <a:t xml:space="preserve">WSS </a:t>
            </a: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合力（</a:t>
            </a:r>
            <a:r>
              <a:rPr lang="en-US" sz="1275">
                <a:solidFill>
                  <a:srgbClr val="E8F1FA"/>
                </a:solidFill>
                <a:latin typeface="Microsoft YaHei"/>
                <a:ea typeface="Microsoft YaHei"/>
              </a:rPr>
              <a:t>N</a:t>
            </a: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3143250" y="2962275"/>
            <a:ext cx="657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Microsoft YaHei"/>
                <a:ea typeface="Microsoft YaHei"/>
              </a:rPr>
              <a:t>1.49e-3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562475" y="2962275"/>
            <a:ext cx="657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Microsoft YaHei"/>
                <a:ea typeface="Microsoft YaHei"/>
              </a:rPr>
              <a:t>1.27e-3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972175" y="2962275"/>
            <a:ext cx="657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5A524"/>
                </a:solidFill>
                <a:latin typeface="Microsoft YaHei"/>
                <a:ea typeface="Microsoft YaHei"/>
              </a:rPr>
              <a:t>2.37e-3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19150" y="339090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F1FA"/>
                </a:solidFill>
                <a:latin typeface="Microsoft YaHei"/>
                <a:ea typeface="Microsoft YaHei"/>
              </a:rPr>
              <a:t xml:space="preserve">WSS </a:t>
            </a: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中位（</a:t>
            </a:r>
            <a:r>
              <a:rPr lang="en-US" sz="1275">
                <a:solidFill>
                  <a:srgbClr val="E8F1FA"/>
                </a:solidFill>
                <a:latin typeface="Microsoft YaHei"/>
                <a:ea typeface="Microsoft YaHei"/>
              </a:rPr>
              <a:t>Pa</a:t>
            </a: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3238500" y="3381375"/>
            <a:ext cx="476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Microsoft YaHei"/>
                <a:ea typeface="Microsoft YaHei"/>
              </a:rPr>
              <a:t>0.068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648200" y="3381375"/>
            <a:ext cx="476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Microsoft YaHei"/>
                <a:ea typeface="Microsoft YaHei"/>
              </a:rPr>
              <a:t>0.050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67425" y="3381375"/>
            <a:ext cx="476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5A524"/>
                </a:solidFill>
                <a:latin typeface="Microsoft YaHei"/>
                <a:ea typeface="Microsoft YaHei"/>
              </a:rPr>
              <a:t>0.090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19150" y="381000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网格单元数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3152775" y="3800475"/>
            <a:ext cx="647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Microsoft YaHei"/>
                <a:ea typeface="Microsoft YaHei"/>
              </a:rPr>
              <a:t>653,789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562475" y="3800475"/>
            <a:ext cx="647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Microsoft YaHei"/>
                <a:ea typeface="Microsoft YaHei"/>
              </a:rPr>
              <a:t>710,101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981700" y="3800475"/>
            <a:ext cx="647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Microsoft YaHei"/>
                <a:ea typeface="Microsoft YaHei"/>
              </a:rPr>
              <a:t>590,961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19150" y="422910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F1FA"/>
                </a:solidFill>
                <a:latin typeface="Microsoft YaHei"/>
                <a:ea typeface="Microsoft YaHei"/>
              </a:rPr>
              <a:t>质量不平衡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219450" y="42195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Microsoft YaHei"/>
                <a:ea typeface="Microsoft YaHei"/>
              </a:rPr>
              <a:t>6.0e-8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629150" y="42195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Microsoft YaHei"/>
                <a:ea typeface="Microsoft YaHei"/>
              </a:rPr>
              <a:t>4.5e-7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048375" y="42195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Microsoft YaHei"/>
                <a:ea typeface="Microsoft YaHei"/>
              </a:rPr>
              <a:t>4.6e-7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819150" y="4533900"/>
            <a:ext cx="6153150" cy="419100"/>
          </a:xfrm>
          <a:prstGeom prst="roundRect">
            <a:avLst>
              <a:gd name="adj" fmla="val 18182"/>
            </a:avLst>
          </a:prstGeom>
          <a:solidFill>
            <a:srgbClr val="22D3EE">
              <a:alpha val="7000"/>
            </a:srgbClr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95350" y="4648200"/>
            <a:ext cx="1828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Microsoft YaHei"/>
                <a:ea typeface="Microsoft YaHei"/>
              </a:rPr>
              <a:t>工程验证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3314700" y="46482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724400" y="46482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143625" y="46482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19150" y="5524500"/>
            <a:ext cx="615315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3B5675"/>
                </a:solidFill>
                <a:latin typeface="Microsoft YaHei"/>
                <a:ea typeface="Microsoft YaHei"/>
              </a:rPr>
              <a:t>均为全链 CHAIN-DONE（几何 → 开口 → 网格 → 求解 → 指标）；网格数为 checkMesh 口径。b02 为本项目首次进入求解链的病例，上表即其首产基线。</a:t>
            </a:r>
            <a:r>
              <a:rPr lang="en-US" sz="975">
                <a:solidFill>
                  <a:srgbClr val="3B5675"/>
                </a:solidFill>
                <a:latin typeface="Microsoft YaHei"/>
                <a:ea typeface="Microsoft YaHei"/>
              </a:rPr>
              <a:t xml:space="preserve"/>
            </a:r>
            <a:r>
              <a:rPr lang="zh-CN" sz="975">
                <a:solidFill>
                  <a:srgbClr val="3B5675"/>
                </a:solidFill>
                <a:latin typeface="Microsoft YaHei"/>
                <a:ea typeface="Microsoft YaHei"/>
              </a:rPr>
              <a:t/>
            </a:r>
            <a:r>
              <a:rPr lang="en-US" sz="975">
                <a:solidFill>
                  <a:srgbClr val="3B5675"/>
                </a:solidFill>
                <a:latin typeface="Microsoft YaHei"/>
                <a:ea typeface="Microsoft YaHei"/>
              </a:rPr>
              <a:t xml:space="preserve"/>
            </a:r>
            <a:r>
              <a:rPr lang="zh-CN" sz="975">
                <a:solidFill>
                  <a:srgbClr val="3B5675"/>
                </a:solidFill>
                <a:latin typeface="Microsoft YaHei"/>
                <a:ea typeface="Microsoft YaHei"/>
              </a:rPr>
              <a:t/>
            </a:r>
            <a:r>
              <a:rPr lang="en-US" sz="975">
                <a:solidFill>
                  <a:srgbClr val="3B5675"/>
                </a:solidFill>
                <a:latin typeface="Microsoft YaHei"/>
                <a:ea typeface="Microsoft YaHei"/>
              </a:rPr>
              <a:t xml:space="preserve"/>
            </a:r>
            <a:r>
              <a:rPr lang="zh-CN" sz="975">
                <a:solidFill>
                  <a:srgbClr val="3B5675"/>
                </a:solidFill>
                <a:latin typeface="Microsoft YaHei"/>
                <a:ea typeface="Microsoft YaHei"/>
              </a:rPr>
              <a:t/>
            </a:r>
            <a:r>
              <a:rPr lang="en-US" sz="975">
                <a:solidFill>
                  <a:srgbClr val="3B5675"/>
                </a:solidFill>
                <a:latin typeface="Microsoft YaHei"/>
                <a:ea typeface="Microsoft YaHei"/>
              </a:rPr>
              <a:t xml:space="preserve"/>
            </a:r>
            <a:r>
              <a:rPr lang="zh-CN" sz="975">
                <a:solidFill>
                  <a:srgbClr val="3B5675"/>
                </a:solidFill>
                <a:latin typeface="Microsoft YaHei"/>
                <a:ea typeface="Microsoft YaHei"/>
              </a:rPr>
              <a:t/>
            </a:r>
            <a:r>
              <a:rPr lang="en-US" sz="975">
                <a:solidFill>
                  <a:srgbClr val="3B5675"/>
                </a:solidFill>
                <a:latin typeface="Microsoft YaHei"/>
                <a:ea typeface="Microsoft YaHei"/>
              </a:rPr>
              <a:t xml:space="preserve"/>
            </a:r>
            <a:r>
              <a:rPr lang="zh-CN" sz="975">
                <a:solidFill>
                  <a:srgbClr val="3B5675"/>
                </a:solidFill>
                <a:latin typeface="Microsoft YaHei"/>
                <a:ea typeface="Microsoft YaHei"/>
              </a:rPr>
              <a:t/>
            </a:r>
            <a:r>
              <a:rPr lang="en-US" sz="975">
                <a:solidFill>
                  <a:srgbClr val="3B5675"/>
                </a:solidFill>
                <a:latin typeface="Microsoft YaHei"/>
                <a:ea typeface="Microsoft YaHei"/>
              </a:rPr>
              <a:t xml:space="preserve"/>
            </a:r>
            <a:r>
              <a:rPr lang="zh-CN" sz="975">
                <a:solidFill>
                  <a:srgbClr val="3B5675"/>
                </a:solidFill>
                <a:latin typeface="Microsoft YaHei"/>
                <a:ea typeface="Microsoft YaHei"/>
              </a:rPr>
              <a:t/>
            </a:r>
            <a:r>
              <a:rPr lang="en-US" sz="975">
                <a:solidFill>
                  <a:srgbClr val="3B5675"/>
                </a:solidFill>
                <a:latin typeface="Microsoft YaHei"/>
                <a:ea typeface="Microsoft YaHei"/>
              </a:rPr>
              <a:t xml:space="preserve"/>
            </a:r>
            <a:r>
              <a:rPr lang="zh-CN" sz="975">
                <a:solidFill>
                  <a:srgbClr val="3B5675"/>
                </a:solidFill>
                <a:latin typeface="Microsoft YaHei"/>
                <a:ea typeface="Microsoft YaHei"/>
              </a:rPr>
              <a:t/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7458075" y="1257300"/>
            <a:ext cx="4152900" cy="1714500"/>
          </a:xfrm>
          <a:prstGeom prst="roundRect">
            <a:avLst>
              <a:gd name="adj" fmla="val 5556"/>
            </a:avLst>
          </a:prstGeom>
          <a:solidFill>
            <a:srgbClr val="F5A524">
              <a:alpha val="8000"/>
            </a:srgbClr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7458075" y="1257300"/>
            <a:ext cx="4152900" cy="1714500"/>
          </a:xfrm>
          <a:custGeom>
            <a:pathLst>
              <a:path w="436" h="180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173"/>
                </a:lnTo>
                <a:cubicBezTo>
                  <a:pt x="3" y="176"/>
                  <a:pt x="5" y="179"/>
                  <a:pt x="8" y="180"/>
                </a:cubicBezTo>
                <a:cubicBezTo>
                  <a:pt x="3" y="179"/>
                  <a:pt x="0" y="175"/>
                  <a:pt x="0" y="17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5A524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629525" y="1409700"/>
            <a:ext cx="3781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F5A524"/>
                </a:solidFill>
                <a:latin typeface="Microsoft YaHei"/>
                <a:ea typeface="Microsoft YaHei"/>
              </a:rPr>
              <a:t>口径声明</a:t>
            </a:r>
            <a:r>
              <a:rPr lang="en-US" sz="1050" b="1" spc="75">
                <a:solidFill>
                  <a:srgbClr val="F5A52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b="1" spc="75">
                <a:solidFill>
                  <a:srgbClr val="F5A524"/>
                </a:solidFill>
                <a:latin typeface="Microsoft YaHei"/>
                <a:ea typeface="Microsoft YaHei"/>
              </a:rPr>
              <a:t>必读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629525" y="1647825"/>
            <a:ext cx="37814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C9D8E6"/>
                </a:solidFill>
                <a:latin typeface="Microsoft YaHei"/>
                <a:ea typeface="Microsoft YaHei"/>
              </a:rPr>
              <a:t>均为</a:t>
            </a:r>
            <a:r>
              <a:rPr lang="zh-CN" sz="1050" b="1">
                <a:solidFill>
                  <a:srgbClr val="E8F1FA"/>
                </a:solidFill>
                <a:latin typeface="Microsoft YaHei"/>
                <a:ea typeface="Microsoft YaHei"/>
              </a:rPr>
              <a:t>稳态层流工程尺度验证</a:t>
            </a:r>
            <a:r>
              <a:rPr lang="zh-CN" sz="1050">
                <a:solidFill>
                  <a:srgbClr val="C9D8E6"/>
                </a:solidFill>
                <a:latin typeface="Microsoft YaHei"/>
                <a:ea typeface="Microsoft YaHei"/>
              </a:rPr>
              <a:t>，非临床诊断；出口下游阻力缺失</a:t>
            </a:r>
            <a:r>
              <a:rPr lang="en-US" sz="1050">
                <a:solidFill>
                  <a:srgbClr val="C9D8E6"/>
                </a:solidFill>
                <a:latin typeface="Microsoft YaHei"/>
                <a:ea typeface="Microsoft YaHei"/>
              </a:rPr>
              <a:t xml:space="preserve"> → Δp </a:t>
            </a:r>
            <a:r>
              <a:rPr lang="zh-CN" sz="1050">
                <a:solidFill>
                  <a:srgbClr val="C9D8E6"/>
                </a:solidFill>
                <a:latin typeface="Microsoft YaHei"/>
                <a:ea typeface="Microsoft YaHei"/>
              </a:rPr>
              <a:t>已知偏低。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7629525" y="2228850"/>
            <a:ext cx="378142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C9D8E6"/>
                </a:solidFill>
                <a:latin typeface="Microsoft YaHei"/>
                <a:ea typeface="Microsoft YaHei"/>
              </a:rPr>
              <a:t xml:space="preserve">R </a:t>
            </a:r>
            <a:r>
              <a:rPr lang="zh-CN" sz="1050">
                <a:solidFill>
                  <a:srgbClr val="C9D8E6"/>
                </a:solidFill>
                <a:latin typeface="Microsoft YaHei"/>
                <a:ea typeface="Microsoft YaHei"/>
              </a:rPr>
              <a:t>绝对值不可对标临床鼻测压</a:t>
            </a:r>
            <a:r>
              <a:rPr lang="en-US" sz="1050">
                <a:solidFill>
                  <a:srgbClr val="C9D8E6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C9D8E6"/>
                </a:solidFill>
                <a:latin typeface="Microsoft YaHei"/>
                <a:ea typeface="Microsoft YaHei"/>
              </a:rPr>
              <a:t>只有</a:t>
            </a:r>
            <a:r>
              <a:rPr lang="zh-CN" sz="1050" b="1">
                <a:solidFill>
                  <a:srgbClr val="E8F1FA"/>
                </a:solidFill>
                <a:latin typeface="Microsoft YaHei"/>
                <a:ea typeface="Microsoft YaHei"/>
              </a:rPr>
              <a:t>配对相对变化</a:t>
            </a:r>
            <a:r>
              <a:rPr lang="zh-CN" sz="1050">
                <a:solidFill>
                  <a:srgbClr val="C9D8E6"/>
                </a:solidFill>
                <a:latin typeface="Microsoft YaHei"/>
                <a:ea typeface="Microsoft YaHei"/>
              </a:rPr>
              <a:t>可采信。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629525" y="2562225"/>
            <a:ext cx="378142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F5A524"/>
                </a:solidFill>
                <a:latin typeface="Microsoft YaHei"/>
                <a:ea typeface="Microsoft YaHei"/>
              </a:rPr>
              <a:t>通过的是</a:t>
            </a:r>
            <a:r>
              <a:rPr lang="zh-CN" sz="1050" b="1">
                <a:solidFill>
                  <a:srgbClr val="F5A524"/>
                </a:solidFill>
                <a:latin typeface="Microsoft YaHei"/>
                <a:ea typeface="Microsoft YaHei"/>
              </a:rPr>
              <a:t>工程尺度筛检</a:t>
            </a:r>
            <a:r>
              <a:rPr lang="zh-CN" sz="1050">
                <a:solidFill>
                  <a:srgbClr val="F5A524"/>
                </a:solidFill>
                <a:latin typeface="Microsoft YaHei"/>
                <a:ea typeface="Microsoft YaHei"/>
              </a:rPr>
              <a:t>，而非严格残差意义上的完全收敛。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7429500" y="3105150"/>
            <a:ext cx="4152900" cy="2914650"/>
          </a:xfrm>
          <a:prstGeom prst="roundRect">
            <a:avLst>
              <a:gd name="adj" fmla="val 326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600950" y="3276600"/>
            <a:ext cx="381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BA6C1"/>
                </a:solidFill>
                <a:latin typeface="Microsoft YaHei"/>
                <a:ea typeface="Microsoft YaHei"/>
              </a:rPr>
              <a:t>域不同，数字不可比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600950" y="3514725"/>
            <a:ext cx="38100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5A524"/>
                </a:solidFill>
                <a:latin typeface="Microsoft YaHei"/>
                <a:ea typeface="Microsoft YaHei"/>
              </a:rPr>
              <a:t>40%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600950" y="4419600"/>
            <a:ext cx="3810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用「鼻腔短域」口径算</a:t>
            </a:r>
            <a:r>
              <a:rPr lang="en-US" sz="1125">
                <a:solidFill>
                  <a:srgbClr val="B7CBDD"/>
                </a:solidFill>
                <a:latin typeface="Microsoft YaHei"/>
                <a:ea typeface="Microsoft YaHei"/>
              </a:rPr>
              <a:t xml:space="preserve"> b15</a:t>
            </a: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，Δ</a:t>
            </a:r>
            <a:r>
              <a:rPr lang="en-US" sz="1125">
                <a:solidFill>
                  <a:srgbClr val="B7CBDD"/>
                </a:solidFill>
                <a:latin typeface="Microsoft YaHei"/>
                <a:ea typeface="Microsoft YaHei"/>
              </a:rPr>
              <a:t xml:space="preserve">p </a:t>
            </a: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只有</a:t>
            </a:r>
            <a:r>
              <a:rPr lang="en-US" sz="1125">
                <a:solidFill>
                  <a:srgbClr val="B7CBDD"/>
                </a:solidFill>
                <a:latin typeface="Microsoft YaHei"/>
                <a:ea typeface="Microsoft YaHei"/>
              </a:rPr>
              <a:t xml:space="preserve"> 10.29 Pa</a:t>
            </a: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；含口咽的扩展域是</a:t>
            </a:r>
            <a:r>
              <a:rPr lang="en-US" sz="1125">
                <a:solidFill>
                  <a:srgbClr val="B7CBDD"/>
                </a:solidFill>
                <a:latin typeface="Microsoft YaHei"/>
                <a:ea typeface="Microsoft YaHei"/>
              </a:rPr>
              <a:t xml:space="preserve"> 17.12 Pa</a:t>
            </a: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600950" y="5505450"/>
            <a:ext cx="3810000" cy="342900"/>
          </a:xfrm>
          <a:prstGeom prst="rect"/>
        </p:spPr>
        <p:txBody>
          <a:bodyPr wrap="none" lIns="0" tIns="71438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域变一次，结论翻一次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域标准必须锁死。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09600" y="6134100"/>
            <a:ext cx="10972800" cy="400050"/>
          </a:xfrm>
          <a:custGeom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09600" y="6257925"/>
            <a:ext cx="5114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口径：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>generalisation_test_only_no_human_review · 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出口为工程截断面，缺下游阻力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11252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06 / 09</a:t>
            </a:r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7953750" y="323850"/>
            <a:ext cx="3000000" cy="2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u="sng">
                <a:solidFill>
                  <a:srgbClr val="7FD4EA"/>
                </a:solidFill>
                <a:hlinkClick xmlns:ns0="http://schemas.openxmlformats.org/officeDocument/2006/relationships" ns0:id="rId2"/>
              </a:rPr>
              <a:t>▸ 标定与基准计划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1" name="" descr="&lt;Slide style={{ width: 1280, height: 720, background: '#0A1A2F', padding: '24px 64px', position: 'relative', overflow: 'hidden', fontFamily: &quot;'Source Han Sans SC','PingFang SC','Microsoft YaHei',sans-serif&quot; }}&gt;&#10;    &lt;Box style={{ position: 'absolute', top: 0, left: 0, width: 600, height: 600, background: 'radial-gradient(circle at 0% 0%, rgba(34,211,238,0.10) 0%, rgba(34,211,238,0) 68%)' }} /&gt;&#10;    &lt;Box style={{ position: 'absolute', bottom: 0, right: 0, width: 420, height: 420, background: 'radial-gradient(circle at 100% 100%, rgba(245,165,36,0.07) 0%, rgba(245,165,36,0) 68%)' }} /&gt;&#10;&#10;    &lt;Box style={{ position: 'relative', zIndex: 1, width: '100%', flexDirection: 'column' }}&gt;&#10;        &lt;Box style={{ height: 92, flexDirection: 'row', alignItems: 'flex-end', justifyContent: 'space-between' }}&gt;&#10;            &lt;Box style={{ flexDirection: 'column', gap: 6 }}&gt;&#10;                &lt;Text style={{ fontSize: 15, fontWeight: 600, letterSpacing: 3, color: '#22D3EE' }}&gt;04 / 测试过程与真实反馈&lt;/Text&gt;&#10;                &lt;Text style={{ fontSize: 36, fontWeight: 700, color: '#E8F1FA', lineHeight: 1.2 }}&gt;为什么这些数字可以被相信&lt;/Text&gt;&#10;            &lt;/Box&gt;&#10;            &lt;Box style={{ width: 46, height: 46, borderRadius: 23, border: '2px solid rgba(34,211,238,0.55)', justifyContent: 'center', alignItems: 'center' }}&gt;&#10;                &lt;Text style={{ fontSize: 13, fontWeight: 700, color: '#22D3EE' }}&gt;Q4&lt;/Text&gt;&#10;            &lt;/Box&gt;&#10;        &lt;/Box&gt;&#10;&#10;        &lt;Box style={{ height: 500, marginTop: 16, flexDirection: 'column', gap: 16 }}&gt;&#10;            &lt;Box style={{ height: 250, flexDirection: 'column', padding: '14px 20px', background: 'linear-gradient(150deg, #14294A 0%, #0E2039 100%)', borderRadius: 12, border: '1px solid rgba(139,166,193,0.22)' }}&gt;&#10;                &lt;Text style={{ fontSize: 18, fontWeight: 600, color: '#B7CBDD' }}&gt;验证三重门：三个不依赖「我们说自己严谨」的独立关卡&lt;/Text&gt;&#10;                &lt;svg width={1104} height={186} viewBox='0 0 1104 186'&gt;&#10;                    &lt;rect x='20' y='72' width='1064' height='14' rx='7' fill='rgba(34,211,238,0.10)' /&gt;&#10;&#10;                    &lt;rect x='48' y='30' width='320' height='96' rx='10' fill='#0E2039' stroke='#22D3EE' strokeWidth='1.5' /&gt;&#10;                    &lt;text x='208' y='66' fill='#E8F1FA' fontSize='18' fontWeight='600' textAnchor='middle'&gt;① 已知答案对照&lt;/text&gt;&#10;                    &lt;text x='208' y='94' fill='#8BA6C1' fontSize='13' textAnchor='middle'&gt;轴向力平衡偏差 0.087%&lt;/text&gt;&#10;                    &lt;text x='208' y='114' fill='#8BA6C1' fontSize='13' textAnchor='middle'&gt;圆管 9 格判别 · 泊肃叶解析解&lt;/text&gt;&#10;&#10;                    &lt;path d='M372 78 L388 78' stroke='#22D3EE' strokeWidth='2' /&gt;&#10;                    &lt;path d='M382 73 L390 78 L382 83 Z' fill='#22D3EE' /&gt;&#10;&#10;                    &lt;rect x='392' y='30' width='320' height='96' rx='10' fill='#0E2039' stroke='#22D3EE' strokeWidth='1.5' /&gt;&#10;                    &lt;text x='552' y='66' fill='#E8F1FA' fontSize='18' fontWeight='600' textAnchor='middle'&gt;② 独立复验&lt;/text&gt;&#10;                    &lt;text x='552' y='94' fill='#8BA6C1' fontSize='13' textAnchor='middle'&gt;未参与创作的人逐项复核&lt;/text&gt;&#10;                    &lt;text x='552' y='114' fill='#8BA6C1' fontSize='13' textAnchor='middle'&gt;按同一判据重走结论&lt;/text&gt;&#10;&#10;                    &lt;path d='M716 78 L732 78' stroke='#F5A524' strokeWidth='2' /&gt;&#10;                    &lt;path d='M726 73 L734 78 L726 83 Z' fill='#F5A524' /&gt;&#10;&#10;                    &lt;rect x='736' y='30' width='320' height='96' rx='10' fill='#0E2039' stroke='#F5A524' strokeWidth='1.5' /&gt;&#10;                    &lt;text x='896' y='66' fill='#E8F1FA' fontSize='18' fontWeight='600' textAnchor='middle'&gt;③ 一条命令复现&lt;/text&gt;&#10;                    &lt;text x='896' y='94' fill='#8BA6C1' fontSize='13' textAnchor='middle'&gt;42 秒从原始数据重建&lt;/text&gt;&#10;                    &lt;text x='896' y='114' fill='#8BA6C1' fontSize='13' textAnchor='middle'&gt;12 个已知值逐位匹配&lt;/text&gt;&#10;&#10;                    &lt;text x='20' y='160' fill='#8BA6C1' fontSize='13'&gt;门 ① 与 ② 检验「方法对不对」&lt;/text&gt;&#10;                    &lt;text x='1084' y='160' fill='#8BA6C1' fontSize='13' textAnchor='end'&gt;门 ③ 检验「别人能不能重来一遍」&lt;/text&gt;&#10;                &lt;/svg&gt;&#10;            &lt;/Box&gt;&#10;&#10;            &lt;Box style={{ height: 234, flexDirection: 'row', gap: 16 }}&gt;&#10;                &lt;Box style={{ flex: 1, flexDirection: 'column', gap: 10, padding: '20px 22px', background: 'linear-gradient(150deg, #14294A 0%, #0E2039 100%)', borderRadius: 12, border: '1px solid rgba(139,166,193,0.22)' }}&gt;&#10;                    &lt;Text style={{ fontSize: 26, fontWeight: 800, color: '#22D3EE', lineHeight: 1 }}&gt;0.087%&lt;/Text&gt;&#10;                    &lt;Text style={{ fontSize: 21, fontWeight: 700, color: '#E8F1FA' }}&gt;解出来的力和输入对得上&lt;/Text&gt;&#10;                    &lt;Text style={{ fontSize: 17, color: '#8BA6C1', lineHeight: 1.55, marginTop: 'auto' }}&gt;壁面应力积分的合力与压差反作用力相差不到千分之一；纯解析圆管泊肃叶解也逐档对上。&lt;/Text&gt;&#10;                &lt;/Box&gt;&#10;                &lt;Box style={{ flex: 1, flexDirection: 'column', gap: 10, padding: '20px 22px', background: 'linear-gradient(150deg, #14294A 0%, #0E2039 100%)', borderRadius: 12, border: '1px solid rgba(139,166,193,0.22)' }}&gt;&#10;                    &lt;Text style={{ fontSize: 26, fontWeight: 800, color: '#22D3EE', lineHeight: 1 }}&gt;独立&lt;/Text&gt;&#10;                    &lt;Text style={{ fontSize: 21, fontWeight: 700, color: '#E8F1FA' }}&gt;不是自己给自己签字&lt;/Text&gt;&#10;                    &lt;Text style={{ fontSize: 17, color: '#8BA6C1', lineHeight: 1.55, marginTop: 'auto' }}&gt;每个关键结论都由未参与创作的人按同一套判据重走一遍，逐项对上才写入结论卡。&lt;/Text&gt;&#10;                &lt;/Box&gt;&#10;                &lt;Box style={{ flex: 1, flexDirection: 'column', gap: 10, padding: '20px 22px', background: 'linear-gradient(150deg, #14294A 0%, #0E2039 100%)', borderRadius: 12, border: '1px solid rgba(139,166,193,0.22)' }}&gt;&#10;                    &lt;Text style={{ fontSize: 26, fontWeight: 800, color: '#22D3EE', lineHeight: 1 }}&gt;42 s&lt;/Text&gt;&#10;                    &lt;Text style={{ fontSize: 21, fontWeight: 700, color: '#E8F1FA' }}&gt;别人能重来一遍&lt;/Text&gt;&#10;                    &lt;Text style={{ fontSize: 17, color: '#8BA6C1', lineHeight: 1.55, marginTop: 'auto' }}&gt;删掉旧现场从原始案例重建，42 秒完成：12 个已知值 + 6 个输入 SHA256 逐位匹配。&lt;/Text&gt;&#10;                &lt;/Box&gt;&#10;            &lt;/Box&gt;&#10;        &lt;/Box&gt;&#10;&#10;        &lt;Box style={{ height: 42, marginTop: 12, flexDirection: 'row', alignItems: 'center', justifyContent: 'space-between', borderTop: '1px solid rgba(139,166,193,0.22)' }}&gt;&#10;            &lt;Text style={{ fontSize: 14, color: '#8BA6C1' }}&gt;文献对照：静息呼吸稳态层流解与全分辨 LES 预测近乎一致 —— 本管线的层流口径合规&lt;/Text&gt;&#10;            &lt;Text style={{ fontSize: 14, color: '#8BA6C1' }}&gt;07 / 09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sp>
        <p:nvSpPr>
          <p:cNvPr id="233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 xml:space="preserve">04 / </a:t>
            </a:r>
            <a:r>
              <a:rPr lang="zh-CN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>测试过程与真实反馈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41148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Microsoft YaHei"/>
                <a:ea typeface="Microsoft YaHei"/>
              </a:rPr>
              <a:t>为什么这些数字可以被相信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1277600" y="8096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Q4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09600" y="1257300"/>
            <a:ext cx="10972800" cy="2381250"/>
          </a:xfrm>
          <a:prstGeom prst="roundRect">
            <a:avLst>
              <a:gd name="adj" fmla="val 48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00100" y="139065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7CBDD"/>
                </a:solidFill>
                <a:latin typeface="Microsoft YaHei"/>
                <a:ea typeface="Microsoft YaHei"/>
              </a:rPr>
              <a:t>验证三重门：三个不依赖「我们说自己严谨」的独立关卡</a:t>
            </a:r>
            <a:endParaRPr/>
          </a:p>
        </p:txBody>
      </p:sp>
      <p:pic>
        <p:nvPicPr>
          <p:cNvPr id="2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600200"/>
            <a:ext cx="10515600" cy="1771650"/>
          </a:xfrm>
          <a:prstGeom prst="rect">
            <a:avLst/>
          </a:prstGeom>
          <a:ln/>
        </p:spPr>
      </p:pic>
      <p:sp>
        <p:nvSpPr>
          <p:cNvPr id="242" name=""/>
          <p:cNvSpPr/>
          <p:nvPr/>
        </p:nvSpPr>
        <p:spPr>
          <a:xfrm rot="0" flipH="0" flipV="0">
            <a:off x="609600" y="3790950"/>
            <a:ext cx="3552825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19150" y="398145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Microsoft YaHei"/>
                <a:ea typeface="Microsoft YaHei"/>
              </a:rPr>
              <a:t>0.087%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19150" y="4381500"/>
            <a:ext cx="3133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解出来的力和输入对得上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19150" y="4924425"/>
            <a:ext cx="313372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壁面应力积分的合力与压差反作用力相差不到千分之一；纯解析圆管泊肃叶解也逐档对上。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4314825" y="3790950"/>
            <a:ext cx="3562350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524375" y="3981450"/>
            <a:ext cx="3143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22D3EE"/>
                </a:solidFill>
                <a:latin typeface="Microsoft YaHei"/>
                <a:ea typeface="Microsoft YaHei"/>
              </a:rPr>
              <a:t>独立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4524375" y="4381500"/>
            <a:ext cx="3143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不是自己给自己签字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4524375" y="5219700"/>
            <a:ext cx="31432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每个关键结论都由未参与创作的人按同一套判据重走一遍，逐项对上才写入结论卡。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8029575" y="3790950"/>
            <a:ext cx="3552825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239125" y="398145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Microsoft YaHei"/>
                <a:ea typeface="Microsoft YaHei"/>
              </a:rPr>
              <a:t>42 s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239125" y="4381500"/>
            <a:ext cx="3133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Microsoft YaHei"/>
                <a:ea typeface="Microsoft YaHei"/>
              </a:rPr>
              <a:t>别人能重来一遍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239125" y="4924425"/>
            <a:ext cx="313372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删掉旧现场从原始案例重建，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42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秒完成：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个已知值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 + 6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个输入</a:t>
            </a:r>
            <a:r>
              <a:rPr lang="en-US" sz="1275">
                <a:solidFill>
                  <a:srgbClr val="8BA6C1"/>
                </a:solidFill>
                <a:latin typeface="Microsoft YaHei"/>
                <a:ea typeface="Microsoft YaHei"/>
              </a:rPr>
              <a:t xml:space="preserve"> SHA256 </a:t>
            </a:r>
            <a:r>
              <a:rPr lang="zh-CN" sz="1275">
                <a:solidFill>
                  <a:srgbClr val="8BA6C1"/>
                </a:solidFill>
                <a:latin typeface="Microsoft YaHei"/>
                <a:ea typeface="Microsoft YaHei"/>
              </a:rPr>
              <a:t>逐位匹配。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609600" y="6134100"/>
            <a:ext cx="10972800" cy="400050"/>
          </a:xfrm>
          <a:custGeom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09600" y="6257925"/>
            <a:ext cx="5200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文献对照：静息呼吸稳态层流解与全分辨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> LES 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预测近乎一致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本管线的层流口径合规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11252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07 / 09</a:t>
            </a:r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7953750" y="323850"/>
            <a:ext cx="3000000" cy="2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u="sng">
                <a:solidFill>
                  <a:srgbClr val="7FD4EA"/>
                </a:solidFill>
                <a:hlinkClick r:id="rId3"/>
              </a:rPr>
              <a:t>▸ 标定与基准计划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57" name="" descr="&lt;Slide style={{ width: 1280, height: 720, background: '#0A1A2F', padding: '24px 64px', position: 'relative', overflow: 'hidden', fontFamily: &quot;'Source Han Sans SC','PingFang SC','Microsoft YaHei',sans-serif&quot; }}&gt;&#10;    &lt;Box style={{ position: 'absolute', top: 0, left: 0, width: 600, height: 600, background: 'radial-gradient(circle at 0% 0%, rgba(34,211,238,0.12) 0%, rgba(34,211,238,0) 68%)' }} /&gt;&#10;    &lt;Box style={{ position: 'absolute', bottom: 0, right: 0, width: 420, height: 420, background: 'radial-gradient(circle at 100% 100%, rgba(245,165,36,0.08) 0%, rgba(245,165,36,0) 68%)' }} /&gt;&#10;&#10;    &lt;Box style={{ position: 'relative', zIndex: 1, width: '100%', flexDirection: 'column' }}&gt;&#10;        &lt;Box style={{ height: 92, flexDirection: 'row', alignItems: 'flex-end', justifyContent: 'space-between' }}&gt;&#10;            &lt;Box style={{ flexDirection: 'column', gap: 6 }}&gt;&#10;                &lt;Text style={{ fontSize: 15, fontWeight: 600, letterSpacing: 3, color: '#22D3EE' }}&gt;05 / 团队与产品的未来计划&lt;/Text&gt;&#10;                &lt;Text style={{ fontSize: 36, fontWeight: 700, color: '#E8F1FA', lineHeight: 1.2 }}&gt;愿景：从三例患者，到一条可复现的标准&lt;/Text&gt;&#10;            &lt;/Box&gt;&#10;            &lt;Box style={{ width: 46, height: 46, borderRadius: 23, border: '2px solid rgba(34,211,238,0.55)', justifyContent: 'center', alignItems: 'center' }}&gt;&#10;                &lt;Text style={{ fontSize: 13, fontWeight: 700, color: '#22D3EE' }}&gt;Q5&lt;/Text&gt;&#10;            &lt;/Box&gt;&#10;        &lt;/Box&gt;&#10;&#10;        &lt;Box style={{ height: 500, marginTop: 16, flexDirection: 'column', gap: 16 }}&gt;&#10;            &lt;Box style={{ height: 156, flexDirection: 'row', gap: 24, padding: '18px 24px', background: 'linear-gradient(150deg, #14294A 0%, #0E2039 100%)', borderRadius: 12, border: '1px solid rgba(34,211,238,0.30)' }}&gt;&#10;                &lt;Box style={{ width: 190, flexDirection: 'column', justifyContent: 'center', gap: 4 }}&gt;&#10;                    &lt;Text style={{ fontSize: 44, fontWeight: 800, lineHeight: 1, color: '#22D3EE' }}&gt;01&lt;/Text&gt;&#10;                    &lt;Text style={{ fontSize: 15, fontWeight: 600, letterSpacing: 2, color: '#8BA6C1' }}&gt;科研 · 客观终点&lt;/Text&gt;&#10;                &lt;/Box&gt;&#10;                &lt;Box style={{ flex: 1, flexDirection: 'column', gap: 8, justifyContent: 'center' }}&gt;&#10;                    &lt;Text style={{ fontSize: 20, fontWeight: 700, color: '#E8F1FA' }}&gt;把研究终点从主观问卷，换成可复现的物理量&lt;/Text&gt;&#10;                    &lt;Text style={{ fontSize: 15, color: '#B7CBDD', lineHeight: 1.55 }}&gt;空鼻综合征研究长期缺客观终点。文献已给出症状关联分级：热通量 SAHF50 r≈−0.76、下鼻道峰值 WSS −0.398、中鼻道气流占比 0.76；我们将用 24 例队列做无监督表型分型，为人群建立常模分布。&lt;/Text&gt;&#10;                &lt;/Box&gt;&#10;            &lt;/Box&gt;&#10;&#10;            &lt;Box style={{ height: 156, flexDirection: 'row', gap: 24, padding: '18px 24px', background: 'linear-gradient(150deg, #14294A 0%, #0E2039 100%)', borderRadius: 12, border: '1px solid rgba(139,166,193,0.22)' }}&gt;&#10;                &lt;Box style={{ width: 190, flexDirection: 'column', justifyContent: 'center', gap: 4 }}&gt;&#10;                    &lt;Text style={{ fontSize: 44, fontWeight: 800, lineHeight: 1, color: '#22D3EE' }}&gt;02&lt;/Text&gt;&#10;                    &lt;Text style={{ fontSize: 15, fontWeight: 600, letterSpacing: 2, color: '#8BA6C1' }}&gt;泛化 · 一个标准&lt;/Text&gt;&#10;                &lt;/Box&gt;&#10;                &lt;Box style={{ flex: 1, flexDirection: 'column', gap: 8, justifyContent: 'center' }}&gt;&#10;                    &lt;Text style={{ fontSize: 20, fontWeight: 700, color: '#E8F1FA' }}&gt;全自动流水线 → 跨中心队列常模&lt;/Text&gt;&#10;                    &lt;Text style={{ fontSize: 15, color: '#B7CBDD', lineHeight: 1.55 }}&gt;几何层已全自动：24 例中 23 例通过全部表面判据，网格、求解、指标正在批量化。下一步做跨中心、不同扫描参数的输入标准化——让任何一台 CT 的气道，都能进同一条流水线、比同一套常模。&lt;/Text&gt;&#10;                &lt;/Box&gt;&#10;            &lt;/Box&gt;&#10;&#10;            &lt;Box style={{ height: 156, flexDirection: 'row', gap: 24, padding: '18px 24px', background: 'linear-gradient(150deg, #1B3A5C 0%, #12263F 100%)', borderRadius: 12, border: '1px solid rgba(245,165,36,0.40)' }}&gt;&#10;                &lt;Box style={{ width: 190, flexDirection: 'column', justifyContent: 'center', gap: 4 }}&gt;&#10;                    &lt;Text style={{ fontSize: 44, fontWeight: 800, lineHeight: 1, color: '#F5A524' }}&gt;03&lt;/Text&gt;&#10;                    &lt;Text style={{ fontSize: 15, fontWeight: 600, letterSpacing: 2, color: '#8BA6C1' }}&gt;器件 · 数字孪生&lt;/Text&gt;&#10;                &lt;/Box&gt;&#10;                &lt;Box style={{ flex: 1, flexDirection: 'column', gap: 8, justifyContent: 'center' }}&gt;&#10;                    &lt;Text style={{ fontSize: 20, fontWeight: 700, color: '#E8F1FA' }}&gt;术前预演手术、试穿定制鼻塞，术后客观随访&lt;/Text&gt;&#10;                    &lt;Text style={{ fontSize: 15, color: '#B7CBDD', lineHeight: 1.55 }}&gt;在患者的数字孪生上预演下鼻甲切除、填充方案对气流与温湿度的影响，反向求解定制鼻塞的形状与位置——从「读出功能」到「改回功能」；术后以配对相对变化做客观随访。&lt;/Text&gt;&#10;                &lt;/Box&gt;&#10;            &lt;/Box&gt;&#10;        &lt;/Box&gt;&#10;&#10;        &lt;Box style={{ height: 42, marginTop: 12, flexDirection: 'row', alignItems: 'center', justifyContent: 'space-between', borderTop: '1px solid rgba(139,166,193,0.22)' }}&gt;&#10;            &lt;Text style={{ fontSize: 14, color: '#8BA6C1' }}&gt;边界：关联证据为文献迁移、未在本队列验证；不做个体化症状预测；R 绝对值不可对标临床鼻测压&lt;/Text&gt;&#10;            &lt;Text style={{ fontSize: 14, color: '#8BA6C1' }}&gt;08 / 09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2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8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617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 xml:space="preserve">05 / </a:t>
            </a:r>
            <a:r>
              <a:rPr lang="zh-CN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>团队与产品的未来计划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61722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Microsoft YaHei"/>
                <a:ea typeface="Microsoft YaHei"/>
              </a:rPr>
              <a:t>愿景：从评估工具，到一条可复现的标准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1277600" y="80962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Q5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609600" y="1257300"/>
            <a:ext cx="10972800" cy="1485900"/>
          </a:xfrm>
          <a:prstGeom prst="roundRect">
            <a:avLst>
              <a:gd name="adj" fmla="val 7692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838200" y="1647825"/>
            <a:ext cx="18097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2D3E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38200" y="219075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>科研</a:t>
            </a:r>
            <a:r>
              <a:rPr lang="en-US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>客观终点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2876550" y="1581150"/>
            <a:ext cx="847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Microsoft YaHei"/>
                <a:ea typeface="Microsoft YaHei"/>
              </a:rPr>
              <a:t>把研究终点从主观问卷，换成可复现的物理量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2876550" y="1885950"/>
            <a:ext cx="84772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空鼻综合征研究长期缺客观终点。文献已给出症状关联分级：热通量</a:t>
            </a:r>
            <a:r>
              <a:rPr lang="en-US" sz="1125">
                <a:solidFill>
                  <a:srgbClr val="B7CBDD"/>
                </a:solidFill>
                <a:latin typeface="Microsoft YaHei"/>
                <a:ea typeface="Microsoft YaHei"/>
              </a:rPr>
              <a:t xml:space="preserve"> SAHF50 r≈−0.76</a:t>
            </a: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、下鼻道峰值</a:t>
            </a:r>
            <a:r>
              <a:rPr lang="en-US" sz="1125">
                <a:solidFill>
                  <a:srgbClr val="B7CBDD"/>
                </a:solidFill>
                <a:latin typeface="Microsoft YaHei"/>
                <a:ea typeface="Microsoft YaHei"/>
              </a:rPr>
              <a:t xml:space="preserve"> WSS −0.398</a:t>
            </a: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、中鼻道气流占比</a:t>
            </a:r>
            <a:r>
              <a:rPr lang="en-US" sz="1125">
                <a:solidFill>
                  <a:srgbClr val="B7CBDD"/>
                </a:solidFill>
                <a:latin typeface="Microsoft YaHei"/>
                <a:ea typeface="Microsoft YaHei"/>
              </a:rPr>
              <a:t xml:space="preserve"> 0.76</a:t>
            </a: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；我们将用</a:t>
            </a:r>
            <a:r>
              <a:rPr lang="en-US" sz="1125">
                <a:solidFill>
                  <a:srgbClr val="B7CBDD"/>
                </a:solidFill>
                <a:latin typeface="Microsoft YaHei"/>
                <a:ea typeface="Microsoft YaHei"/>
              </a:rPr>
              <a:t xml:space="preserve"> 24 </a:t>
            </a: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例队列做无监督表型分型，为人群建立常模分布。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609600" y="2895600"/>
            <a:ext cx="10972800" cy="1485900"/>
          </a:xfrm>
          <a:prstGeom prst="roundRect">
            <a:avLst>
              <a:gd name="adj" fmla="val 7692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38200" y="3286125"/>
            <a:ext cx="18097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2D3E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38200" y="382905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>泛化</a:t>
            </a:r>
            <a:r>
              <a:rPr lang="en-US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>一个标准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2876550" y="3219450"/>
            <a:ext cx="847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Microsoft YaHei"/>
                <a:ea typeface="Microsoft YaHei"/>
              </a:rPr>
              <a:t>全自动流水线</a:t>
            </a:r>
            <a:r>
              <a:rPr lang="en-US" sz="150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 b="1">
                <a:solidFill>
                  <a:srgbClr val="E8F1FA"/>
                </a:solidFill>
                <a:latin typeface="Microsoft YaHei"/>
                <a:ea typeface="Microsoft YaHei"/>
              </a:rPr>
              <a:t>跨中心队列常模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2876550" y="3524250"/>
            <a:ext cx="84772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几何层已全自动：23/24 通过全部表面判据，网格、求解、指标正在批量化。下一步做跨中心、不同扫描参数的输入标准化——让任何一台 CT 的气道，都能进同一条流水线、比同一套常模。</a:t>
            </a:r>
            <a:r>
              <a:rPr lang="en-US" sz="1125">
                <a:solidFill>
                  <a:srgbClr val="B7CBDD"/>
                </a:solidFill>
                <a:latin typeface="Microsoft YaHei"/>
                <a:ea typeface="Microsoft YaHei"/>
              </a:rPr>
              <a:t xml:space="preserve"/>
            </a: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/>
            </a:r>
            <a:r>
              <a:rPr lang="en-US" sz="1125">
                <a:solidFill>
                  <a:srgbClr val="B7CBDD"/>
                </a:solidFill>
                <a:latin typeface="Microsoft YaHei"/>
                <a:ea typeface="Microsoft YaHei"/>
              </a:rPr>
              <a:t xml:space="preserve"/>
            </a: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/>
            </a:r>
            <a:r>
              <a:rPr lang="en-US" sz="1125">
                <a:solidFill>
                  <a:srgbClr val="B7CBDD"/>
                </a:solidFill>
                <a:latin typeface="Microsoft YaHei"/>
                <a:ea typeface="Microsoft YaHei"/>
              </a:rPr>
              <a:t xml:space="preserve"/>
            </a: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/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609600" y="4533900"/>
            <a:ext cx="10972800" cy="1485900"/>
          </a:xfrm>
          <a:prstGeom prst="roundRect">
            <a:avLst>
              <a:gd name="adj" fmla="val 7692"/>
            </a:avLst>
          </a:prstGeom>
          <a:gradFill>
            <a:gsLst>
              <a:gs pos="0">
                <a:srgbClr val="1B3A5C"/>
              </a:gs>
              <a:gs pos="100000">
                <a:srgbClr val="12263F"/>
              </a:gs>
            </a:gsLst>
            <a:lin ang="3600000" scaled="1"/>
          </a:gra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38200" y="4924425"/>
            <a:ext cx="18097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5A5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38200" y="546735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>器件</a:t>
            </a:r>
            <a:r>
              <a:rPr lang="en-US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 spc="150">
                <a:solidFill>
                  <a:srgbClr val="8BA6C1"/>
                </a:solidFill>
                <a:latin typeface="Microsoft YaHei"/>
                <a:ea typeface="Microsoft YaHei"/>
              </a:rPr>
              <a:t>数字孪生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2876550" y="4857750"/>
            <a:ext cx="847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Microsoft YaHei"/>
                <a:ea typeface="Microsoft YaHei"/>
              </a:rPr>
              <a:t>术前预演手术、试穿定制鼻塞，术后客观随访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2876550" y="5162550"/>
            <a:ext cx="84772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B7CBDD"/>
                </a:solidFill>
                <a:latin typeface="Microsoft YaHei"/>
                <a:ea typeface="Microsoft YaHei"/>
              </a:rPr>
              <a:t>在患者的数字孪生上预演下鼻甲切除、填充方案对气流与温湿度的影响，反向求解定制鼻塞的形状与位置——从「读出功能」到「改回功能」；术后以配对相对变化做客观随访。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09600" y="6134100"/>
            <a:ext cx="10972800" cy="400050"/>
          </a:xfrm>
          <a:custGeom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09600" y="6257925"/>
            <a:ext cx="586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边界：关联证据为文献迁移、未在本队列验证；不做个体化症状预测；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>R 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绝对值不可对标临床鼻测压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11252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08 / 09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83" name="" descr="&lt;Slide style={{ width: 1280, height: 720, background: '#0A1A2F', position: 'relative', overflow: 'hidden', fontFamily: &quot;'Source Han Sans SC','PingFang SC','Microsoft YaHei',sans-serif&quot; }}&gt;&#10;    &lt;Box style={{ position: 'absolute', top: 0, left: 0, width: 760, height: 760, background: 'radial-gradient(circle at 50% 42%, rgba(34,211,238,0.16) 0%, rgba(34,211,238,0) 62%)' }} /&gt;&#10;    &lt;Box style={{ position: 'absolute', bottom: 0, right: 0, width: 520, height: 520, background: 'radial-gradient(circle at 100% 100%, rgba(245,165,36,0.09) 0%, rgba(245,165,36,0) 66%)' }} /&gt;&#10;&#10;    &lt;Box style={{ position: 'relative', width: 1280, height: 720, padding: '56px 80px', flexDirection: 'column', justifyContent: 'center', alignItems: 'center' }}&gt;&#10;        &lt;Text style={{ fontSize: 14, letterSpacing: 4, color: '#22D3EE', fontWeight: 600 }}&gt;ENDING&lt;/Text&gt;&#10;&#10;        &lt;Text style={{ fontSize: 62, fontWeight: 700, color: '#E8F1FA', lineHeight: 1.28, textAlign: 'center', marginTop: 26, width: 1020 }}&gt;&#10;            让「说不出的难受」&lt;br /&gt;变成&lt;span style={{ color: '#22D3EE' }}&gt;看得见的数字&lt;/span&gt;&#10;        &lt;/Text&gt;&#10;&#10;        &lt;Box style={{ width: 120, height: 3, background: 'linear-gradient(90deg, rgba(34,211,238,0), #22D3EE, rgba(34,211,238,0))', marginTop: 34 }} /&gt;&#10;&#10;        &lt;Text style={{ fontSize: 20, color: '#B7CBDD', lineHeight: 1.7, textAlign: 'center', marginTop: 30, width: 940 }}&gt;&#10;            空鼻症鼻腔功能客观化评估 · 一张 CT → 自动建模 → 稳态流场 → 鼻阻力 / 壁面剪应力 / 后鼻孔温湿与热通量&#10;        &lt;/Text&gt;&#10;&#10;        &lt;Box style={{ flexDirection: 'row', gap: 30, marginTop: 44 }}&gt;&#10;            &lt;Box style={{ flexDirection: 'column', alignItems: 'center', gap: 4 }}&gt;&#10;                &lt;Text style={{ fontSize: 30, fontWeight: 800, color: '#22D3EE', lineHeight: 1 }}&gt;3&lt;/Text&gt;&#10;                &lt;Text style={{ fontSize: 14, color: '#8BA6C1' }}&gt;例全链跑通&lt;/Text&gt;&#10;            &lt;/Box&gt;&#10;            &lt;Box style={{ width: 1, height: 46, background: 'rgba(139,166,193,0.28)' }} /&gt;&#10;            &lt;Box style={{ flexDirection: 'column', alignItems: 'center', gap: 4 }}&gt;&#10;                &lt;Text style={{ fontSize: 30, fontWeight: 800, color: '#22D3EE', lineHeight: 1 }}&gt;1&lt;/Text&gt;&#10;                &lt;Text style={{ fontSize: 14, color: '#8BA6C1' }}&gt;条命令复现&lt;/Text&gt;&#10;            &lt;/Box&gt;&#10;            &lt;Box style={{ width: 1, height: 46, background: 'rgba(139,166,193,0.28)' }} /&gt;&#10;            &lt;Box style={{ flexDirection: 'column', alignItems: 'center', gap: 4 }}&gt;&#10;                &lt;Text style={{ fontSize: 30, fontWeight: 800, color: '#22D3EE', lineHeight: 1 }}&gt;0&lt;/Text&gt;&#10;                &lt;Text style={{ fontSize: 14, color: '#8BA6C1' }}&gt;次人工交互&lt;/Text&gt;&#10;            &lt;/Box&gt;&#10;        &lt;/Box&gt;&#10;&#10;        &lt;Text style={{ fontSize: 13, color: '#3B5675', lineHeight: 1.6, textAlign: 'center', marginTop: 46, width: 1040 }}&gt;&#10;            本项目输出为工程尺度的功能指标，用于研究与器械设计评估，不构成临床诊断或治疗建议；患者数据均经脱敏处理。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0" y="0"/>
            <a:ext cx="7239000" cy="7239000"/>
          </a:xfrm>
          <a:custGeom>
            <a:pathLst>
              <a:path w="760" h="760">
                <a:moveTo>
                  <a:pt x="760" y="720"/>
                </a:moveTo>
                <a:lnTo>
                  <a:pt x="0" y="720"/>
                </a:lnTo>
                <a:lnTo>
                  <a:pt x="0" y="0"/>
                </a:lnTo>
                <a:lnTo>
                  <a:pt x="760" y="0"/>
                </a:lnTo>
                <a:close/>
              </a:path>
            </a:pathLst>
          </a:custGeom>
          <a:gradFill>
            <a:gsLst>
              <a:gs pos="0">
                <a:srgbClr val="22D3EE">
                  <a:alpha val="16000"/>
                </a:srgbClr>
              </a:gs>
              <a:gs pos="62000">
                <a:srgbClr val="22D3EE">
                  <a:alpha val="0"/>
                </a:srgbClr>
              </a:gs>
            </a:gsLst>
            <a:path path="circle">
              <a:fillToRect l="50000" t="42000" r="50000" b="58000"/>
            </a:path>
          </a:gra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7239000" y="1905000"/>
            <a:ext cx="4953000" cy="4953000"/>
          </a:xfrm>
          <a:prstGeom prst="rect">
            <a:avLst/>
          </a:prstGeom>
          <a:gradFill>
            <a:gsLst>
              <a:gs pos="0">
                <a:srgbClr val="F5A524">
                  <a:alpha val="9000"/>
                </a:srgbClr>
              </a:gs>
              <a:gs pos="66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5705475" y="790575"/>
            <a:ext cx="790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2D3EE"/>
                </a:solidFill>
                <a:latin typeface="Microsoft YaHei"/>
                <a:ea typeface="Microsoft YaHei"/>
              </a:rPr>
              <a:t>ENDING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238250" y="1200150"/>
            <a:ext cx="9715500" cy="1819275"/>
          </a:xfrm>
          <a:prstGeom prst="rect"/>
        </p:spPr>
        <p:txBody>
          <a:bodyPr wrap="none" lIns="0" tIns="0" rIns="0" bIns="0"/>
          <a:p>
            <a:pPr algn="ctr">
              <a:lnSpc>
                <a:spcPct val="128000"/>
              </a:lnSpc>
            </a:pPr>
            <a:r>
              <a:rPr lang="zh-CN" sz="4650" b="1">
                <a:solidFill>
                  <a:srgbClr val="E8F1FA"/>
                </a:solidFill>
                <a:latin typeface="Microsoft YaHei"/>
                <a:ea typeface="Microsoft YaHei"/>
              </a:rPr>
              <a:t>让「说不出的难受」</a:t>
            </a:r>
            <a:endParaRPr/>
          </a:p>
          <a:p>
            <a:pPr algn="ctr">
              <a:lnSpc>
                <a:spcPct val="128000"/>
              </a:lnSpc>
            </a:pPr>
            <a:r>
              <a:rPr lang="zh-CN" sz="4650" b="1">
                <a:solidFill>
                  <a:srgbClr val="E8F1FA"/>
                </a:solidFill>
                <a:latin typeface="Microsoft YaHei"/>
                <a:ea typeface="Microsoft YaHei"/>
              </a:rPr>
              <a:t>变成</a:t>
            </a:r>
            <a:r>
              <a:rPr lang="zh-CN" sz="4650" b="1">
                <a:solidFill>
                  <a:srgbClr val="22D3EE"/>
                </a:solidFill>
                <a:latin typeface="Microsoft YaHei"/>
                <a:ea typeface="Microsoft YaHei"/>
              </a:rPr>
              <a:t>看得见的数字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5524500" y="3343275"/>
            <a:ext cx="1143000" cy="28575"/>
          </a:xfrm>
          <a:prstGeom prst="rect">
            <a:avLst/>
          </a:prstGeom>
          <a:gradFill>
            <a:gsLst>
              <a:gs pos="0">
                <a:srgbClr val="22D3EE">
                  <a:alpha val="0"/>
                </a:srgbClr>
              </a:gs>
              <a:gs pos="50000">
                <a:srgbClr val="22D3EE"/>
              </a:gs>
              <a:gs pos="100000">
                <a:srgbClr val="22D3EE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619250" y="3657600"/>
            <a:ext cx="8953500" cy="7810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500">
                <a:solidFill>
                  <a:srgbClr val="B7CBDD"/>
                </a:solidFill>
                <a:latin typeface="Microsoft YaHei"/>
                <a:ea typeface="Microsoft YaHei"/>
              </a:rPr>
              <a:t>空鼻症鼻腔功能客观化评估</a:t>
            </a:r>
            <a:r>
              <a:rPr lang="en-US" sz="1500">
                <a:solidFill>
                  <a:srgbClr val="B7CBD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B7CBDD"/>
                </a:solidFill>
                <a:latin typeface="Microsoft YaHei"/>
                <a:ea typeface="Microsoft YaHei"/>
              </a:rPr>
              <a:t>一张</a:t>
            </a:r>
            <a:r>
              <a:rPr lang="en-US" sz="1500">
                <a:solidFill>
                  <a:srgbClr val="B7CBDD"/>
                </a:solidFill>
                <a:latin typeface="Microsoft YaHei"/>
                <a:ea typeface="Microsoft YaHei"/>
              </a:rPr>
              <a:t xml:space="preserve"> CT → </a:t>
            </a:r>
            <a:r>
              <a:rPr lang="zh-CN" sz="1500">
                <a:solidFill>
                  <a:srgbClr val="B7CBDD"/>
                </a:solidFill>
                <a:latin typeface="Microsoft YaHei"/>
                <a:ea typeface="Microsoft YaHei"/>
              </a:rPr>
              <a:t>自动建模</a:t>
            </a:r>
            <a:r>
              <a:rPr lang="en-US" sz="1500">
                <a:solidFill>
                  <a:srgbClr val="B7CBDD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B7CBDD"/>
                </a:solidFill>
                <a:latin typeface="Microsoft YaHei"/>
                <a:ea typeface="Microsoft YaHei"/>
              </a:rPr>
              <a:t>稳态流场</a:t>
            </a:r>
            <a:r>
              <a:rPr lang="en-US" sz="1500">
                <a:solidFill>
                  <a:srgbClr val="B7CBDD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B7CBDD"/>
                </a:solidFill>
                <a:latin typeface="Microsoft YaHei"/>
                <a:ea typeface="Microsoft YaHei"/>
              </a:rPr>
              <a:t>鼻阻力</a:t>
            </a:r>
            <a:r>
              <a:rPr lang="en-US" sz="1500">
                <a:solidFill>
                  <a:srgbClr val="B7CBDD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>
                <a:solidFill>
                  <a:srgbClr val="B7CBDD"/>
                </a:solidFill>
                <a:latin typeface="Microsoft YaHei"/>
                <a:ea typeface="Microsoft YaHei"/>
              </a:rPr>
              <a:t>壁面剪应力</a:t>
            </a:r>
            <a:r>
              <a:rPr lang="en-US" sz="1500">
                <a:solidFill>
                  <a:srgbClr val="B7CBDD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>
                <a:solidFill>
                  <a:srgbClr val="B7CBDD"/>
                </a:solidFill>
                <a:latin typeface="Microsoft YaHei"/>
                <a:ea typeface="Microsoft YaHei"/>
              </a:rPr>
              <a:t>后鼻孔温湿与热通量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762500" y="4857750"/>
            <a:ext cx="180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2D3EE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4514850" y="52387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开源可复现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5467350" y="4857750"/>
            <a:ext cx="9525" cy="438150"/>
          </a:xfrm>
          <a:prstGeom prst="rect">
            <a:avLst/>
          </a:prstGeom>
          <a:solidFill>
            <a:srgbClr val="8BA6C1">
              <a:alpha val="28000"/>
            </a:srgbClr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010275" y="4857750"/>
            <a:ext cx="180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2D3EE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5762625" y="52387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条命令跑通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6715125" y="4857750"/>
            <a:ext cx="9525" cy="438150"/>
          </a:xfrm>
          <a:prstGeom prst="rect">
            <a:avLst/>
          </a:prstGeom>
          <a:solidFill>
            <a:srgbClr val="8BA6C1">
              <a:alpha val="28000"/>
            </a:srgbClr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7258050" y="4857750"/>
            <a:ext cx="180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2D3EE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7010400" y="52387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次人工交互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143000" y="5838825"/>
            <a:ext cx="9906000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3B5675"/>
                </a:solidFill>
                <a:latin typeface="Microsoft YaHei"/>
                <a:ea typeface="Microsoft YaHei"/>
              </a:rPr>
              <a:t>本项目输出为工程尺度的功能指标，用于研究与器械设计评估，不构成临床诊断或治疗建议；患者数据均经脱敏处理。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5" name="" descr="&lt;Slide style={{ width: 1280, height: 720, background: '#0A1A2F', padding: '24px 64px', position: 'relative', overflow: 'hidden', fontFamily: &quot;'Source Han Sans SC','PingFang SC','Microsoft YaHei',sans-serif&quot; }}&gt;&#10;    &lt;Box style={{ position: 'absolute', top: 0, left: 0, width: 600, height: 600, background: 'radial-gradient(circle at 0% 0%, rgba(34,211,238,0.10) 0%, rgba(34,211,238,0) 68%)' }} /&gt;&#10;    &lt;Box style={{ position: 'absolute', bottom: 0, right: 0, width: 420, height: 420, background: 'radial-gradient(circle at 100% 100%, rgba(245,165,36,0.07) 0%, rgba(245,165,36,0) 68%)' }} /&gt;&#10;&#10;    &lt;Box style={{ position: 'relative', zIndex: 1, width: '100%', flexDirection: 'column' }}&gt;&#10;        &lt;Box style={{ height: 92, flexDirection: 'row', alignItems: 'flex-end', justifyContent: 'space-between' }}&gt;&#10;            &lt;Box style={{ flexDirection: 'column', gap: 6 }}&gt;&#10;                &lt;Text style={{ fontSize: 15, fontWeight: 600, letterSpacing: 3, color: '#22D3EE' }}&gt;APPENDIX / 支撑材料&lt;/Text&gt;&#10;                &lt;Text style={{ fontSize: 36, fontWeight: 700, color: '#E8F1FA', lineHeight: 1.2 }}&gt;可点开的材料：调研 · Demo · 标定基准&lt;/Text&gt;&#10;            &lt;/Box&gt;&#10;            &lt;Box style={{ width: 46, height: 46, borderRadius: 23, border: '2px solid rgba(34,211,238,0.55)', justifyContent: 'center', alignItems: 'center' }}&gt;&#10;                &lt;Text style={{ fontSize: 13, fontWeight: 700, color: '#22D3EE' }}&gt;A&lt;/Text&gt;&#10;            &lt;/Box&gt;&#10;        &lt;/Box&gt;&#10;&#10;        &lt;Box style={{ height: 500, marginTop: 16, flexDirection: 'column', gap: 16 }}&gt;&#10;            &lt;Box style={{ height: 113, flexDirection: 'row', alignItems: 'center', gap: 20, padding: '16px 24px', background: 'linear-gradient(150deg, #14294A 0%, #0E2039 100%)', borderRadius: 12, border: '1px solid rgba(139,166,193,0.22)' }}&gt;&#10;                &lt;Box style={{ width: 44, height: 44, borderRadius: 22, border: '2px solid rgba(34,211,238,0.55)', justifyContent: 'center', alignItems: 'center' }}&gt;&#10;                    &lt;Text style={{ fontSize: 14, fontWeight: 700, color: '#22D3EE' }}&gt;01&lt;/Text&gt;&#10;                &lt;/Box&gt;&#10;                &lt;Box style={{ flex: 1, flexDirection: 'column', gap: 4 }}&gt;&#10;                    &lt;Text style={{ fontSize: 17, fontWeight: 600, color: '#7DE3F4' }}&gt;01 · 患者需求调研包（交叉验证表 / 需求-指标交叉分析 / 两轮外部调研 / 原始材料）&lt;/Text&gt;&#10;                    &lt;Text style={{ fontSize: 14, color: '#8BA6C1', lineHeight: 1.5 }}&gt;需求→指标映射的证据链，全部逐字入库、口径可追溯；入口为目录内「索引.md」&lt;/Text&gt;&#10;                &lt;/Box&gt;&#10;            &lt;/Box&gt;&#10;&#10;            &lt;Box style={{ height: 113, flexDirection: 'row', alignItems: 'center', gap: 20, padding: '16px 24px', background: 'linear-gradient(150deg, #14294A 0%, #0E2039 100%)', borderRadius: 12, border: '1px solid rgba(34,211,238,0.34)' }}&gt;&#10;                &lt;Box style={{ width: 44, height: 44, borderRadius: 22, border: '2px solid rgba(34,211,238,0.55)', justifyContent: 'center', alignItems: 'center' }}&gt;&#10;                    &lt;Text style={{ fontSize: 14, fontWeight: 700, color: '#22D3EE' }}&gt;02&lt;/Text&gt;&#10;                &lt;/Box&gt;&#10;                &lt;Box style={{ flex: 1, flexDirection: 'column', gap: 4 }}&gt;&#10;                    &lt;Text style={{ fontSize: 17, fontWeight: 600, color: '#7DE3F4' }}&gt;02 · 功能演示 Demo（三维检查 · 流线 · 对比 · 任务控制台）&lt;/Text&gt;&#10;                    &lt;Text style={{ fontSize: 14, color: '#8BA6C1', lineHeight: 1.5 }}&gt;三例真实患者（脱敏）的三维气道与气流，现场演示需已启动本地服务&lt;/Text&gt;&#10;                &lt;/Box&gt;&#10;            &lt;/Box&gt;&#10;&#10;            &lt;Box style={{ height: 113, flexDirection: 'row', alignItems: 'center', gap: 20, padding: '16px 24px', background: 'linear-gradient(150deg, #14294A 0%, #0E2039 100%)', borderRadius: 12, border: '1px solid rgba(139,166,193,0.22)' }}&gt;&#10;                &lt;Box style={{ width: 44, height: 44, borderRadius: 22, border: '2px solid rgba(34,211,238,0.55)', justifyContent: 'center', alignItems: 'center' }}&gt;&#10;                    &lt;Text style={{ fontSize: 14, fontWeight: 700, color: '#22D3EE' }}&gt;03&lt;/Text&gt;&#10;                &lt;/Box&gt;&#10;                &lt;Box style={{ flex: 1, flexDirection: 'column', gap: 4 }}&gt;&#10;                    &lt;Text style={{ fontSize: 17, fontWeight: 600, color: '#7DE3F4' }}&gt;03 · Demo 启动说明（一条命令启动本地工作台）&lt;/Text&gt;&#10;                    &lt;Text style={{ fontSize: 14, color: '#8BA6C1', lineHeight: 1.5 }}&gt;启动脚本、健康检查、建议演示动线与随演示的口径提醒&lt;/Text&gt;&#10;                &lt;/Box&gt;&#10;            &lt;/Box&gt;&#10;&#10;            &lt;Box style={{ height: 113, flexDirection: 'row', alignItems: 'center', gap: 20, padding: '16px 24px', background: 'linear-gradient(150deg, #1B3A5C 0%, #12263F 100%)', borderRadius: 12, border: '1px solid rgba(245,165,36,0.40)' }}&gt;&#10;                &lt;Box style={{ width: 44, height: 44, borderRadius: 22, border: '2px solid rgba(245,165,36,0.55)', justifyContent: 'center', alignItems: 'center' }}&gt;&#10;                    &lt;Text style={{ fontSize: 14, fontWeight: 700, color: '#F5A524' }}&gt;04&lt;/Text&gt;&#10;                &lt;/Box&gt;&#10;                &lt;Box style={{ flex: 1, flexDirection: 'column', gap: 4 }}&gt;&#10;                    &lt;Text style={{ fontSize: 17, fontWeight: 600, color: '#7DE3F4' }}&gt;04 · 标定与基准计划（训练设计 v1 / 数值隔离基准 / 方法 SOP）&lt;/Text&gt;&#10;                    &lt;Text style={{ fontSize: 14, color: '#8BA6C1', lineHeight: 1.5 }}&gt;从 24 例到标准的路线图；隔离基准证据（wedge 压降偏差 1.312%、2D Poiseuille 2.17%）&lt;/Text&gt;&#10;                &lt;/Box&gt;&#10;            &lt;/Box&gt;&#10;        &lt;/Box&gt;&#10;&#10;        &lt;Box style={{ height: 42, marginTop: 12, flexDirection: 'row', alignItems: 'center', justifyContent: 'space-between', borderTop: '1px solid rgba(139,166,193,0.22)' }}&gt;&#10;            &lt;Text style={{ fontSize: 14, color: '#8BA6C1' }}&gt;以上材料与正文数字同源；浅色文本可直接点击打开（Demo 需先启动本地服务）&lt;/Text&gt;&#10;            &lt;Text style={{ fontSize: 14, color: '#8BA6C1' }}&gt;附录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620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 xml:space="preserve">APPENDIX / </a:t>
            </a:r>
            <a:r>
              <a:rPr lang="zh-CN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>支撑材料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6200775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Microsoft YaHei"/>
                <a:ea typeface="Microsoft YaHei"/>
              </a:rPr>
              <a:t>可点开的材料：调研</a:t>
            </a:r>
            <a:r>
              <a:rPr lang="en-US" sz="270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Demo · </a:t>
            </a:r>
            <a:r>
              <a:rPr lang="zh-CN" sz="2700" b="1">
                <a:solidFill>
                  <a:srgbClr val="E8F1FA"/>
                </a:solidFill>
                <a:latin typeface="Microsoft YaHei"/>
                <a:ea typeface="Microsoft YaHei"/>
              </a:rPr>
              <a:t>标定基准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1315700" y="809625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09600" y="1257300"/>
            <a:ext cx="10972800" cy="1076325"/>
          </a:xfrm>
          <a:prstGeom prst="roundRect">
            <a:avLst>
              <a:gd name="adj" fmla="val 1061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838200" y="1590675"/>
            <a:ext cx="419100" cy="41910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962025" y="1724025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447800" y="1552575"/>
            <a:ext cx="990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u="sng">
                <a:solidFill>
                  <a:srgbClr val="7DE3F4"/>
                </a:solidFill>
                <a:latin typeface="Microsoft YaHei"/>
                <a:ea typeface="Microsoft YaHei"/>
                <a:hlinkClick xmlns:ns0="http://schemas.openxmlformats.org/officeDocument/2006/relationships" ns0:id="rId2"/>
              </a:rPr>
              <a:t xml:space="preserve">01 · </a:t>
            </a:r>
            <a:r>
              <a:rPr lang="zh-CN" sz="1275" b="1" u="sng">
                <a:solidFill>
                  <a:srgbClr val="7DE3F4"/>
                </a:solidFill>
                <a:latin typeface="Microsoft YaHei"/>
                <a:ea typeface="Microsoft YaHei"/>
                <a:hlinkClick xmlns:ns1="http://schemas.openxmlformats.org/officeDocument/2006/relationships" ns1:id="rId2"/>
              </a:rPr>
              <a:t>患者需求调研包（交叉验证表</a:t>
            </a:r>
            <a:r>
              <a:rPr lang="en-US" sz="1275" b="1" u="sng">
                <a:solidFill>
                  <a:srgbClr val="7DE3F4"/>
                </a:solidFill>
                <a:latin typeface="Microsoft YaHei"/>
                <a:ea typeface="Microsoft YaHei"/>
                <a:hlinkClick xmlns:ns2="http://schemas.openxmlformats.org/officeDocument/2006/relationships" ns2:id="rId2"/>
              </a:rPr>
              <a:t xml:space="preserve"> / </a:t>
            </a:r>
            <a:r>
              <a:rPr lang="zh-CN" sz="1275" b="1" u="sng">
                <a:solidFill>
                  <a:srgbClr val="7DE3F4"/>
                </a:solidFill>
                <a:latin typeface="Microsoft YaHei"/>
                <a:ea typeface="Microsoft YaHei"/>
                <a:hlinkClick xmlns:ns3="http://schemas.openxmlformats.org/officeDocument/2006/relationships" ns3:id="rId2"/>
              </a:rPr>
              <a:t>需求</a:t>
            </a:r>
            <a:r>
              <a:rPr lang="en-US" sz="1275" b="1" u="sng">
                <a:solidFill>
                  <a:srgbClr val="7DE3F4"/>
                </a:solidFill>
                <a:latin typeface="Microsoft YaHei"/>
                <a:ea typeface="Microsoft YaHei"/>
                <a:hlinkClick xmlns:ns4="http://schemas.openxmlformats.org/officeDocument/2006/relationships" ns4:id="rId2"/>
              </a:rPr>
              <a:t>-</a:t>
            </a:r>
            <a:r>
              <a:rPr lang="zh-CN" sz="1275" b="1" u="sng">
                <a:solidFill>
                  <a:srgbClr val="7DE3F4"/>
                </a:solidFill>
                <a:latin typeface="Microsoft YaHei"/>
                <a:ea typeface="Microsoft YaHei"/>
                <a:hlinkClick xmlns:ns5="http://schemas.openxmlformats.org/officeDocument/2006/relationships" ns5:id="rId2"/>
              </a:rPr>
              <a:t>指标交叉分析</a:t>
            </a:r>
            <a:r>
              <a:rPr lang="en-US" sz="1275" b="1" u="sng">
                <a:solidFill>
                  <a:srgbClr val="7DE3F4"/>
                </a:solidFill>
                <a:latin typeface="Microsoft YaHei"/>
                <a:ea typeface="Microsoft YaHei"/>
                <a:hlinkClick xmlns:ns6="http://schemas.openxmlformats.org/officeDocument/2006/relationships" ns6:id="rId2"/>
              </a:rPr>
              <a:t xml:space="preserve"> / </a:t>
            </a:r>
            <a:r>
              <a:rPr lang="zh-CN" sz="1275" b="1" u="sng">
                <a:solidFill>
                  <a:srgbClr val="7DE3F4"/>
                </a:solidFill>
                <a:latin typeface="Microsoft YaHei"/>
                <a:ea typeface="Microsoft YaHei"/>
                <a:hlinkClick xmlns:ns7="http://schemas.openxmlformats.org/officeDocument/2006/relationships" ns7:id="rId2"/>
              </a:rPr>
              <a:t>两轮外部调研</a:t>
            </a:r>
            <a:r>
              <a:rPr lang="en-US" sz="1275" b="1" u="sng">
                <a:solidFill>
                  <a:srgbClr val="7DE3F4"/>
                </a:solidFill>
                <a:latin typeface="Microsoft YaHei"/>
                <a:ea typeface="Microsoft YaHei"/>
                <a:hlinkClick xmlns:ns8="http://schemas.openxmlformats.org/officeDocument/2006/relationships" ns8:id="rId2"/>
              </a:rPr>
              <a:t xml:space="preserve"> / </a:t>
            </a:r>
            <a:r>
              <a:rPr lang="zh-CN" sz="1275" b="1" u="sng">
                <a:solidFill>
                  <a:srgbClr val="7DE3F4"/>
                </a:solidFill>
                <a:latin typeface="Microsoft YaHei"/>
                <a:ea typeface="Microsoft YaHei"/>
                <a:hlinkClick xmlns:ns9="http://schemas.openxmlformats.org/officeDocument/2006/relationships" ns9:id="rId2"/>
              </a:rPr>
              <a:t>原始材料）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447800" y="1790700"/>
            <a:ext cx="9906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需求→指标映射的证据链，全部逐字入库、口径可追溯；入口为目录内「索引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.md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」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09600" y="2486025"/>
            <a:ext cx="10972800" cy="1076325"/>
          </a:xfrm>
          <a:prstGeom prst="roundRect">
            <a:avLst>
              <a:gd name="adj" fmla="val 1061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22D3EE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838200" y="2819400"/>
            <a:ext cx="419100" cy="41910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962025" y="2952750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447800" y="2781300"/>
            <a:ext cx="990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u="sng">
                <a:solidFill>
                  <a:srgbClr val="7DE3F4"/>
                </a:solidFill>
                <a:latin typeface="Microsoft YaHei"/>
                <a:ea typeface="Microsoft YaHei"/>
                <a:hlinkClick xmlns:ns10="http://schemas.openxmlformats.org/officeDocument/2006/relationships" ns10:id="rId3"/>
              </a:rPr>
              <a:t xml:space="preserve">02 · </a:t>
            </a:r>
            <a:r>
              <a:rPr lang="zh-CN" sz="1275" b="1" u="sng">
                <a:solidFill>
                  <a:srgbClr val="7DE3F4"/>
                </a:solidFill>
                <a:latin typeface="Microsoft YaHei"/>
                <a:ea typeface="Microsoft YaHei"/>
                <a:hlinkClick xmlns:ns11="http://schemas.openxmlformats.org/officeDocument/2006/relationships" ns11:id="rId3"/>
              </a:rPr>
              <a:t>功能演示</a:t>
            </a:r>
            <a:r>
              <a:rPr lang="en-US" sz="1275" b="1" u="sng">
                <a:solidFill>
                  <a:srgbClr val="7DE3F4"/>
                </a:solidFill>
                <a:latin typeface="Microsoft YaHei"/>
                <a:ea typeface="Microsoft YaHei"/>
                <a:hlinkClick xmlns:ns12="http://schemas.openxmlformats.org/officeDocument/2006/relationships" ns12:id="rId3"/>
              </a:rPr>
              <a:t xml:space="preserve"> Demo</a:t>
            </a:r>
            <a:r>
              <a:rPr lang="zh-CN" sz="1275" b="1" u="sng">
                <a:solidFill>
                  <a:srgbClr val="7DE3F4"/>
                </a:solidFill>
                <a:latin typeface="Microsoft YaHei"/>
                <a:ea typeface="Microsoft YaHei"/>
                <a:hlinkClick xmlns:ns13="http://schemas.openxmlformats.org/officeDocument/2006/relationships" ns13:id="rId3"/>
              </a:rPr>
              <a:t>（三维检查</a:t>
            </a:r>
            <a:r>
              <a:rPr lang="en-US" sz="1275" b="1" u="sng">
                <a:solidFill>
                  <a:srgbClr val="7DE3F4"/>
                </a:solidFill>
                <a:latin typeface="Microsoft YaHei"/>
                <a:ea typeface="Microsoft YaHei"/>
                <a:hlinkClick xmlns:ns14="http://schemas.openxmlformats.org/officeDocument/2006/relationships" ns14:id="rId3"/>
              </a:rPr>
              <a:t xml:space="preserve"> · </a:t>
            </a:r>
            <a:r>
              <a:rPr lang="zh-CN" sz="1275" b="1" u="sng">
                <a:solidFill>
                  <a:srgbClr val="7DE3F4"/>
                </a:solidFill>
                <a:latin typeface="Microsoft YaHei"/>
                <a:ea typeface="Microsoft YaHei"/>
                <a:hlinkClick xmlns:ns15="http://schemas.openxmlformats.org/officeDocument/2006/relationships" ns15:id="rId3"/>
              </a:rPr>
              <a:t>流线</a:t>
            </a:r>
            <a:r>
              <a:rPr lang="en-US" sz="1275" b="1" u="sng">
                <a:solidFill>
                  <a:srgbClr val="7DE3F4"/>
                </a:solidFill>
                <a:latin typeface="Microsoft YaHei"/>
                <a:ea typeface="Microsoft YaHei"/>
                <a:hlinkClick xmlns:ns16="http://schemas.openxmlformats.org/officeDocument/2006/relationships" ns16:id="rId3"/>
              </a:rPr>
              <a:t xml:space="preserve"> · </a:t>
            </a:r>
            <a:r>
              <a:rPr lang="zh-CN" sz="1275" b="1" u="sng">
                <a:solidFill>
                  <a:srgbClr val="7DE3F4"/>
                </a:solidFill>
                <a:latin typeface="Microsoft YaHei"/>
                <a:ea typeface="Microsoft YaHei"/>
                <a:hlinkClick xmlns:ns17="http://schemas.openxmlformats.org/officeDocument/2006/relationships" ns17:id="rId3"/>
              </a:rPr>
              <a:t>对比</a:t>
            </a:r>
            <a:r>
              <a:rPr lang="en-US" sz="1275" b="1" u="sng">
                <a:solidFill>
                  <a:srgbClr val="7DE3F4"/>
                </a:solidFill>
                <a:latin typeface="Microsoft YaHei"/>
                <a:ea typeface="Microsoft YaHei"/>
                <a:hlinkClick xmlns:ns18="http://schemas.openxmlformats.org/officeDocument/2006/relationships" ns18:id="rId3"/>
              </a:rPr>
              <a:t xml:space="preserve"> · </a:t>
            </a:r>
            <a:r>
              <a:rPr lang="zh-CN" sz="1275" b="1" u="sng">
                <a:solidFill>
                  <a:srgbClr val="7DE3F4"/>
                </a:solidFill>
                <a:latin typeface="Microsoft YaHei"/>
                <a:ea typeface="Microsoft YaHei"/>
                <a:hlinkClick xmlns:ns19="http://schemas.openxmlformats.org/officeDocument/2006/relationships" ns19:id="rId3"/>
              </a:rPr>
              <a:t>任务控制台）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447800" y="3019425"/>
            <a:ext cx="9906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真实脱敏数据的三维气道与气流，现场演示需已启动本地服务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09600" y="3714750"/>
            <a:ext cx="10972800" cy="1076325"/>
          </a:xfrm>
          <a:prstGeom prst="roundRect">
            <a:avLst>
              <a:gd name="adj" fmla="val 1061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838200" y="4048125"/>
            <a:ext cx="419100" cy="41910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962025" y="4181475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447800" y="4010025"/>
            <a:ext cx="990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u="sng">
                <a:solidFill>
                  <a:srgbClr val="7DE3F4"/>
                </a:solidFill>
                <a:latin typeface="Microsoft YaHei"/>
                <a:ea typeface="Microsoft YaHei"/>
                <a:hlinkClick xmlns:ns20="http://schemas.openxmlformats.org/officeDocument/2006/relationships" ns20:id="rId4"/>
              </a:rPr>
              <a:t xml:space="preserve">03 · Demo </a:t>
            </a:r>
            <a:r>
              <a:rPr lang="zh-CN" sz="1275" b="1" u="sng">
                <a:solidFill>
                  <a:srgbClr val="7DE3F4"/>
                </a:solidFill>
                <a:latin typeface="Microsoft YaHei"/>
                <a:ea typeface="Microsoft YaHei"/>
                <a:hlinkClick xmlns:ns21="http://schemas.openxmlformats.org/officeDocument/2006/relationships" ns21:id="rId4"/>
              </a:rPr>
              <a:t>启动说明（一条命令启动本地工作台）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447800" y="4248150"/>
            <a:ext cx="9906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启动脚本、健康检查、建议演示动线与随演示的口径提醒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09600" y="4943475"/>
            <a:ext cx="10972800" cy="1076325"/>
          </a:xfrm>
          <a:prstGeom prst="roundRect">
            <a:avLst>
              <a:gd name="adj" fmla="val 10619"/>
            </a:avLst>
          </a:prstGeom>
          <a:gradFill>
            <a:gsLst>
              <a:gs pos="0">
                <a:srgbClr val="1B3A5C"/>
              </a:gs>
              <a:gs pos="100000">
                <a:srgbClr val="12263F"/>
              </a:gs>
            </a:gsLst>
            <a:lin ang="3600000" scaled="1"/>
          </a:gra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838200" y="5276850"/>
            <a:ext cx="419100" cy="419100"/>
          </a:xfrm>
          <a:prstGeom prst="roundRect">
            <a:avLst>
              <a:gd name="adj" fmla="val 50000"/>
            </a:avLst>
          </a:prstGeom>
          <a:ln w="25400">
            <a:solidFill>
              <a:srgbClr val="F5A524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62025" y="5410200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5A5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447800" y="5238750"/>
            <a:ext cx="990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u="sng">
                <a:solidFill>
                  <a:srgbClr val="7DE3F4"/>
                </a:solidFill>
                <a:latin typeface="Microsoft YaHei"/>
                <a:ea typeface="Microsoft YaHei"/>
                <a:hlinkClick xmlns:ns22="http://schemas.openxmlformats.org/officeDocument/2006/relationships" ns22:id="rId6"/>
              </a:rPr>
              <a:t xml:space="preserve">04 · </a:t>
            </a:r>
            <a:r>
              <a:rPr lang="zh-CN" sz="1275" b="1" u="sng">
                <a:solidFill>
                  <a:srgbClr val="7DE3F4"/>
                </a:solidFill>
                <a:latin typeface="Microsoft YaHei"/>
                <a:ea typeface="Microsoft YaHei"/>
                <a:hlinkClick xmlns:ns23="http://schemas.openxmlformats.org/officeDocument/2006/relationships" ns23:id="rId6"/>
              </a:rPr>
              <a:t>标定与基准计划（训练设计</a:t>
            </a:r>
            <a:r>
              <a:rPr lang="en-US" sz="1275" b="1" u="sng">
                <a:solidFill>
                  <a:srgbClr val="7DE3F4"/>
                </a:solidFill>
                <a:latin typeface="Microsoft YaHei"/>
                <a:ea typeface="Microsoft YaHei"/>
                <a:hlinkClick xmlns:ns24="http://schemas.openxmlformats.org/officeDocument/2006/relationships" ns24:id="rId6"/>
              </a:rPr>
              <a:t xml:space="preserve"> v1 / </a:t>
            </a:r>
            <a:r>
              <a:rPr lang="zh-CN" sz="1275" b="1" u="sng">
                <a:solidFill>
                  <a:srgbClr val="7DE3F4"/>
                </a:solidFill>
                <a:latin typeface="Microsoft YaHei"/>
                <a:ea typeface="Microsoft YaHei"/>
                <a:hlinkClick xmlns:ns25="http://schemas.openxmlformats.org/officeDocument/2006/relationships" ns25:id="rId6"/>
              </a:rPr>
              <a:t>数值隔离基准</a:t>
            </a:r>
            <a:r>
              <a:rPr lang="en-US" sz="1275" b="1" u="sng">
                <a:solidFill>
                  <a:srgbClr val="7DE3F4"/>
                </a:solidFill>
                <a:latin typeface="Microsoft YaHei"/>
                <a:ea typeface="Microsoft YaHei"/>
                <a:hlinkClick xmlns:ns26="http://schemas.openxmlformats.org/officeDocument/2006/relationships" ns26:id="rId6"/>
              </a:rPr>
              <a:t xml:space="preserve"> / </a:t>
            </a:r>
            <a:r>
              <a:rPr lang="zh-CN" sz="1275" b="1" u="sng">
                <a:solidFill>
                  <a:srgbClr val="7DE3F4"/>
                </a:solidFill>
                <a:latin typeface="Microsoft YaHei"/>
                <a:ea typeface="Microsoft YaHei"/>
                <a:hlinkClick xmlns:ns27="http://schemas.openxmlformats.org/officeDocument/2006/relationships" ns27:id="rId6"/>
              </a:rPr>
              <a:t>方法</a:t>
            </a:r>
            <a:r>
              <a:rPr lang="en-US" sz="1275" b="1" u="sng">
                <a:solidFill>
                  <a:srgbClr val="7DE3F4"/>
                </a:solidFill>
                <a:latin typeface="Microsoft YaHei"/>
                <a:ea typeface="Microsoft YaHei"/>
                <a:hlinkClick xmlns:ns28="http://schemas.openxmlformats.org/officeDocument/2006/relationships" ns28:id="rId6"/>
              </a:rPr>
              <a:t xml:space="preserve"> SOP</a:t>
            </a:r>
            <a:r>
              <a:rPr lang="zh-CN" sz="1275" b="1" u="sng">
                <a:solidFill>
                  <a:srgbClr val="7DE3F4"/>
                </a:solidFill>
                <a:latin typeface="Microsoft YaHei"/>
                <a:ea typeface="Microsoft YaHei"/>
                <a:hlinkClick xmlns:ns29="http://schemas.openxmlformats.org/officeDocument/2006/relationships" ns29:id="rId6"/>
              </a:rPr>
              <a:t>）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447800" y="5476875"/>
            <a:ext cx="9906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从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> 24 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例到标准的路线图；隔离基准证据（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>wedge 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压降偏差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> 1.312%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>2D Poiseuille 2.17%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09600" y="6134100"/>
            <a:ext cx="10972800" cy="400050"/>
          </a:xfrm>
          <a:custGeom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09600" y="6257925"/>
            <a:ext cx="4829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以上材料与正文数字同源；浅色文本可直接点击打开（</a:t>
            </a:r>
            <a:r>
              <a:rPr lang="en-US" sz="1050">
                <a:solidFill>
                  <a:srgbClr val="8BA6C1"/>
                </a:solidFill>
                <a:latin typeface="Microsoft YaHei"/>
                <a:ea typeface="Microsoft YaHei"/>
              </a:rPr>
              <a:t xml:space="preserve">Demo </a:t>
            </a: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需先启动本地服务）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1315700" y="625792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附录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2026-10-16T17:30:19Z</dcterms:created>
  <dcterms:modified xsi:type="dcterms:W3CDTF">2026-10-16T17:30:19Z</dcterms:modified>
</cp:coreProperties>
</file>