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media/image3.svg" ContentType="image/svg+xml"/>
  <Override PartName="/ppt/slides/media/image4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tableStyles" Target="tableStyles.xml"/><Relationship Id="rId13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hyperlink" Target="0000a4" TargetMode="Externa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chart" Target="charts/chart1.xml"/><Relationship Id="rId1" Type="http://schemas.openxmlformats.org/officeDocument/2006/relationships/slideLayout" Target="../slideLayouts/slideLayout1.xml"/><Relationship Id="rId2" Type="http://schemas.openxmlformats.org/officeDocument/2006/relationships/hyperlink" Target="0000a4" TargetMode="Externa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2" Type="http://schemas.openxmlformats.org/officeDocument/2006/relationships/hyperlink" Target="http://localhost:8769/workspace/pro/index.html" TargetMode="Externa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hyperlink" Target="000100" TargetMode="Externa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2" Type="http://schemas.openxmlformats.org/officeDocument/2006/relationships/hyperlink" Target="000100" TargetMode="Externa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5843;&#30740;&#27719;&#24635;/index.html#cat-01" TargetMode="External"/><Relationship Id="rId3" Type="http://schemas.openxmlformats.org/officeDocument/2006/relationships/hyperlink" Target="&#35843;&#30740;&#27719;&#24635;/index.html#cat-02" TargetMode="External"/><Relationship Id="rId4" Type="http://schemas.openxmlformats.org/officeDocument/2006/relationships/hyperlink" Target="&#35843;&#30740;&#27719;&#24635;/index.html#cat-03" TargetMode="External"/><Relationship Id="rId5" Type="http://schemas.openxmlformats.org/officeDocument/2006/relationships/hyperlink" Target="&#35843;&#30740;&#27719;&#24635;/index.html#cat-04" TargetMode="External"/><Relationship Id="rId6" Type="http://schemas.openxmlformats.org/officeDocument/2006/relationships/hyperlink" Target="&#35843;&#30740;&#27719;&#24635;/index.html#cat-06" TargetMode="External"/><Relationship Id="rId7" Type="http://schemas.openxmlformats.org/officeDocument/2006/relationships/hyperlink" Target="http://localhost:8769/workspace/pro/index.html" TargetMode="External"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基线均分</c:v>
                </c:pt>
              </c:strCache>
            </c:strRef>
          </c:tx>
          <c:spPr>
            <a:gradFill>
              <a:gsLst>
                <a:gs pos="0">
                  <a:srgbClr val="22D3EE"/>
                </a:gs>
                <a:gs pos="100000">
                  <a:srgbClr val="7DE3F4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A1A2F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6"/>
                <c:pt idx="0">
                  <c:v>干燥</c:v>
                </c:pt>
                <c:pt idx="1">
                  <c:v>气流感减弱</c:v>
                </c:pt>
                <c:pt idx="2">
                  <c:v>鼻腔过通</c:v>
                </c:pt>
                <c:pt idx="3">
                  <c:v>窒息感</c:v>
                </c:pt>
                <c:pt idx="4">
                  <c:v>灼热感</c:v>
                </c:pt>
                <c:pt idx="5">
                  <c:v>结痂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4.07</c:v>
                </c:pt>
                <c:pt idx="1">
                  <c:v>4.02</c:v>
                </c:pt>
                <c:pt idx="2">
                  <c:v>3.74</c:v>
                </c:pt>
                <c:pt idx="3">
                  <c:v>3.23</c:v>
                </c:pt>
                <c:pt idx="4">
                  <c:v>2.77</c:v>
                </c:pt>
                <c:pt idx="5">
                  <c:v>2.74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A6C1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A6C1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3246" r="0" b="3246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7000"/>
                </a:srgbClr>
              </a:gs>
              <a:gs pos="38000">
                <a:srgbClr val="0A1A2F">
                  <a:alpha val="90000"/>
                </a:srgbClr>
              </a:gs>
              <a:gs pos="70000">
                <a:srgbClr val="0A1A2F">
                  <a:alpha val="35000"/>
                </a:srgbClr>
              </a:gs>
              <a:gs pos="100000">
                <a:srgbClr val="0A1A2F">
                  <a:alpha val="72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85800" y="685800"/>
            <a:ext cx="3810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200150" y="609600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22D3EE"/>
                </a:solidFill>
                <a:latin typeface="Microsoft YaHei"/>
                <a:ea typeface="Microsoft YaHei"/>
              </a:rPr>
              <a:t xml:space="preserve">NASAL CFD · </a:t>
            </a:r>
            <a:r>
              <a:rPr lang="zh-CN" sz="1125" b="1" spc="300">
                <a:solidFill>
                  <a:srgbClr val="22D3EE"/>
                </a:solidFill>
                <a:latin typeface="Microsoft YaHei"/>
                <a:ea typeface="Microsoft YaHei"/>
              </a:rPr>
              <a:t>鼻腔功能客观化评估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1628775"/>
            <a:ext cx="5905500" cy="1876425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5400" b="1" spc="-75">
                <a:solidFill>
                  <a:srgbClr val="E8F1FA"/>
                </a:solidFill>
                <a:latin typeface="Microsoft YaHei"/>
                <a:ea typeface="Microsoft YaHei"/>
              </a:rPr>
              <a:t>让鼻子重新</a:t>
            </a:r>
            <a:endParaRPr/>
          </a:p>
          <a:p>
            <a:pPr>
              <a:lnSpc>
                <a:spcPct val="113999"/>
              </a:lnSpc>
            </a:pPr>
            <a:r>
              <a:rPr lang="zh-CN" sz="5400" b="1" spc="-75">
                <a:solidFill>
                  <a:srgbClr val="22D3EE"/>
                </a:solidFill>
                <a:latin typeface="Microsoft YaHei"/>
                <a:ea typeface="Microsoft YaHei"/>
              </a:rPr>
              <a:t>「被感觉到」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59055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B7CBDD"/>
                </a:solidFill>
                <a:latin typeface="Microsoft YaHei"/>
                <a:ea typeface="Microsoft YaHei"/>
              </a:rPr>
              <a:t>把一片鼻腔</a:t>
            </a:r>
            <a:r>
              <a:rPr lang="en-US" sz="1650">
                <a:solidFill>
                  <a:srgbClr val="B7CBDD"/>
                </a:solidFill>
                <a:latin typeface="Microsoft YaHei"/>
                <a:ea typeface="Microsoft YaHei"/>
              </a:rPr>
              <a:t xml:space="preserve"> CT</a:t>
            </a:r>
            <a:r>
              <a:rPr lang="zh-CN" sz="1650">
                <a:solidFill>
                  <a:srgbClr val="B7CBDD"/>
                </a:solidFill>
                <a:latin typeface="Microsoft YaHei"/>
                <a:ea typeface="Microsoft YaHei"/>
              </a:rPr>
              <a:t>，变成一组</a:t>
            </a:r>
            <a:r>
              <a:rPr lang="zh-CN" sz="1650" b="1">
                <a:solidFill>
                  <a:srgbClr val="E8F1FA"/>
                </a:solidFill>
                <a:latin typeface="Microsoft YaHei"/>
                <a:ea typeface="Microsoft YaHei"/>
              </a:rPr>
              <a:t>可出示给医生看的客观功能数字</a:t>
            </a:r>
            <a:r>
              <a:rPr lang="zh-CN" sz="1650">
                <a:solidFill>
                  <a:srgbClr val="B7CBDD"/>
                </a:solidFill>
                <a:latin typeface="Microsoft YaHei"/>
                <a:ea typeface="Microsoft YaHei"/>
              </a:rPr>
              <a:t>——鼻阻力、壁面剪应力、后鼻孔温湿度。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4772025"/>
            <a:ext cx="1733550" cy="276225"/>
          </a:xfrm>
          <a:prstGeom prst="roundRect">
            <a:avLst>
              <a:gd name="adj" fmla="val 344482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48291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DE3F4"/>
                </a:solidFill>
                <a:latin typeface="Microsoft YaHei"/>
                <a:ea typeface="Microsoft YaHei"/>
              </a:rPr>
              <a:t>空鼻症（</a:t>
            </a:r>
            <a:r>
              <a:rPr lang="en-US" sz="1050">
                <a:solidFill>
                  <a:srgbClr val="7DE3F4"/>
                </a:solidFill>
                <a:latin typeface="Microsoft YaHei"/>
                <a:ea typeface="Microsoft YaHei"/>
              </a:rPr>
              <a:t>ENS</a:t>
            </a:r>
            <a:r>
              <a:rPr lang="zh-CN" sz="1050">
                <a:solidFill>
                  <a:srgbClr val="7DE3F4"/>
                </a:solidFill>
                <a:latin typeface="Microsoft YaHei"/>
                <a:ea typeface="Microsoft YaHei"/>
              </a:rPr>
              <a:t>）功能评估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533650" y="4772025"/>
            <a:ext cx="1333500" cy="276225"/>
          </a:xfrm>
          <a:prstGeom prst="roundRect">
            <a:avLst>
              <a:gd name="adj" fmla="val 3444828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667000" y="48291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A524"/>
                </a:solidFill>
                <a:latin typeface="Microsoft YaHei"/>
                <a:ea typeface="Microsoft YaHei"/>
              </a:rPr>
              <a:t>全链路可复现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077325" y="2047875"/>
            <a:ext cx="242887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CT → </a:t>
            </a:r>
            <a:r>
              <a:rPr lang="zh-CN" sz="2250" b="1">
                <a:solidFill>
                  <a:srgbClr val="E8F1FA"/>
                </a:solidFill>
                <a:latin typeface="Microsoft YaHei"/>
                <a:ea typeface="Microsoft YaHei"/>
              </a:rPr>
              <a:t>网格</a:t>
            </a:r>
            <a:r>
              <a:rPr lang="en-US" sz="22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250" b="1">
                <a:solidFill>
                  <a:srgbClr val="E8F1FA"/>
                </a:solidFill>
                <a:latin typeface="Microsoft YaHei"/>
                <a:ea typeface="Microsoft YaHei"/>
              </a:rPr>
              <a:t>求解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363200" y="25050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单命令全自动链路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9505950" y="2847975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810750" y="3028950"/>
            <a:ext cx="16954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2250" b="1">
                <a:solidFill>
                  <a:srgbClr val="E8F1FA"/>
                </a:solidFill>
                <a:latin typeface="Microsoft YaHei"/>
                <a:ea typeface="Microsoft YaHei"/>
              </a:rPr>
              <a:t>类功能指标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363200" y="34861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对应患者三大主诉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505950" y="3829050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953750" y="4010025"/>
            <a:ext cx="5524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2250" b="1">
                <a:solidFill>
                  <a:srgbClr val="E8F1F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34625" y="4467225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到可复现交付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5800" y="5886450"/>
            <a:ext cx="10820400" cy="371475"/>
          </a:xfrm>
          <a:custGeom>
            <a:pathLst>
              <a:path w="1136" h="39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医疗健康创新赛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820275" y="6086475"/>
            <a:ext cx="1685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2026.10 · 全链路验证</a:t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06200" y="609600"/>
            <a:ext cx="3200000" cy="3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E8F1FA"/>
                </a:solidFill>
              </a:rPr>
              <a:t>剑穹小队</a:t>
            </a:r>
            <a:r>
              <a:rPr sz="1300">
                <a:solidFill>
                  <a:srgbClr val="22D3EE"/>
                </a:solidFill>
              </a:rPr>
              <a:t>　·　演讲序号 02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9" name=""/>
          <p:cNvPicPr>
            <a:picLocks noChangeAspect="1"/>
          </p:cNvPicPr>
          <p:nvPr/>
        </p:nvPicPr>
        <p:blipFill>
          <a:blip r:embed="rId1"/>
          <a:srcRect l="0" t="3246" r="0" b="3246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62000" y="1809750"/>
            <a:ext cx="28575" cy="800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81075" y="1800225"/>
            <a:ext cx="800100" cy="8191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971675" y="1828800"/>
            <a:ext cx="28575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Microsoft YaHei"/>
                <a:ea typeface="Microsoft YaHei"/>
              </a:rPr>
              <a:t>问题与需求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62000" y="2886075"/>
            <a:ext cx="68580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Microsoft YaHei"/>
                <a:ea typeface="Microsoft YaHei"/>
              </a:rPr>
              <a:t>他们说的不是「堵」。是</a:t>
            </a:r>
            <a:r>
              <a:rPr lang="zh-CN" sz="1800" b="1">
                <a:solidFill>
                  <a:srgbClr val="22D3EE"/>
                </a:solidFill>
                <a:latin typeface="Microsoft YaHei"/>
                <a:ea typeface="Microsoft YaHei"/>
              </a:rPr>
              <a:t>干</a:t>
            </a:r>
            <a:r>
              <a:rPr lang="zh-CN" sz="1800">
                <a:solidFill>
                  <a:srgbClr val="B7CBDD"/>
                </a:solidFill>
                <a:latin typeface="Microsoft YaHei"/>
                <a:ea typeface="Microsoft YaHei"/>
              </a:rPr>
              <a:t>、是</a:t>
            </a:r>
            <a:r>
              <a:rPr lang="zh-CN" sz="1800" b="1">
                <a:solidFill>
                  <a:srgbClr val="22D3EE"/>
                </a:solidFill>
                <a:latin typeface="Microsoft YaHei"/>
                <a:ea typeface="Microsoft YaHei"/>
              </a:rPr>
              <a:t>感觉不到自己在呼吸</a:t>
            </a:r>
            <a:r>
              <a:rPr lang="zh-CN" sz="1800">
                <a:solidFill>
                  <a:srgbClr val="B7CBDD"/>
                </a:solidFill>
                <a:latin typeface="Microsoft YaHei"/>
                <a:ea typeface="Microsoft YaHei"/>
              </a:rPr>
              <a:t>，以及最伤人的——</a:t>
            </a:r>
            <a:r>
              <a:rPr lang="zh-CN" sz="1800" b="1">
                <a:solidFill>
                  <a:srgbClr val="F5A524"/>
                </a:solidFill>
                <a:latin typeface="Microsoft YaHei"/>
                <a:ea typeface="Microsoft YaHei"/>
              </a:rPr>
              <a:t>没有人相信</a:t>
            </a:r>
            <a:r>
              <a:rPr lang="zh-CN" sz="1800">
                <a:solidFill>
                  <a:srgbClr val="B7CBD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620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04875" y="40195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Microsoft YaHei"/>
                <a:ea typeface="Microsoft YaHei"/>
              </a:rPr>
              <a:t>患者画像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183832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981200" y="40195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Microsoft YaHei"/>
                <a:ea typeface="Microsoft YaHei"/>
              </a:rPr>
              <a:t>五大共性问题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2385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381375" y="401955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Microsoft YaHei"/>
                <a:ea typeface="Microsoft YaHei"/>
              </a:rPr>
              <a:t xml:space="preserve">20% </a:t>
            </a:r>
            <a:r>
              <a:rPr lang="zh-CN" sz="1275">
                <a:solidFill>
                  <a:srgbClr val="B7CBDD"/>
                </a:solidFill>
                <a:latin typeface="Microsoft YaHei"/>
                <a:ea typeface="Microsoft YaHei"/>
              </a:rPr>
              <a:t>发生率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Microsoft YaHei"/>
                <a:ea typeface="Microsoft YaHei"/>
              </a:rPr>
              <a:t>SECTION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Microsoft YaHei"/>
                <a:ea typeface="Microsoft YaHei"/>
              </a:rPr>
              <a:t>P02 – P04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2085975" y="46386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Microsoft YaHei"/>
                <a:ea typeface="Microsoft YaHei"/>
              </a:rPr>
              <a:t>本章回答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2085975" y="4838700"/>
            <a:ext cx="3067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谁在受困</a:t>
            </a:r>
            <a:r>
              <a:rPr lang="en-US" sz="15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痛在哪里</a:t>
            </a:r>
            <a:r>
              <a:rPr lang="en-US" sz="15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为何值得解决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62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900" b="1">
                <a:solidFill>
                  <a:srgbClr val="22D3EE"/>
                </a:solidFill>
                <a:latin typeface="Microsoft YaHei"/>
                <a:ea typeface="Microsoft YaHei"/>
              </a:rPr>
              <a:t>问题与需求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2924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2924175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Microsoft YaHei"/>
                <a:ea typeface="Microsoft YaHei"/>
              </a:rPr>
              <a:t>产品与解决方案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086350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086350" y="6219825"/>
            <a:ext cx="2019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Microsoft YaHei"/>
                <a:ea typeface="Microsoft YaHei"/>
              </a:rPr>
              <a:t>一个月的协作故事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7239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239000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Microsoft YaHei"/>
                <a:ea typeface="Microsoft YaHei"/>
              </a:rPr>
              <a:t>测试过程与真实反馈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9401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401175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Microsoft YaHei"/>
                <a:ea typeface="Microsoft YaHei"/>
              </a:rPr>
              <a:t>团队与产品的未来计划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问题与需求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66725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一群被</a:t>
            </a:r>
            <a:r>
              <a:rPr lang="en-US" sz="27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CT</a:t>
            </a: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「证明健康」的病人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239500" y="8096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ENS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15335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81050" y="16478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62050" y="1647825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矛盾性鼻塞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62050" y="1933575"/>
            <a:ext cx="56578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主诉「吸不进气」，可内镜和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CT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都显示鼻腔通畅——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来源一致的核心症状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24098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81050" y="25241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62050" y="252412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干燥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结痂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烧灼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62050" y="280987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「呼吸进来的空气像刀子」；鼻腔灼热、结痂、反复感染——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一致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09600" y="32861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62050" y="3400425"/>
            <a:ext cx="4057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气流感知丧失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62050" y="3686175"/>
            <a:ext cx="40576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感觉不到空气流过鼻子，「直接吸到肺里」——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6/7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一致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41624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62050" y="4276725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睡眠障碍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疲劳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认知下降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62050" y="4562475"/>
            <a:ext cx="42195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整夜无法入睡、白天浑浑噩噩、劳动能力丧失——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一致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50387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81050" y="51530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162050" y="515302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焦虑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抑郁共病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62050" y="543877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中国患者常见路径：耳鼻喉科不接诊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被诊断为抑郁症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转精神科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524750" y="1257300"/>
            <a:ext cx="4057650" cy="4857750"/>
          </a:xfrm>
          <a:prstGeom prst="roundRect">
            <a:avLst>
              <a:gd name="adj" fmla="val 281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753350" y="1504950"/>
            <a:ext cx="3600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空鼻症</a:t>
            </a: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 xml:space="preserve"> · EMPTY NOSE SYNDROME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753350" y="1771650"/>
            <a:ext cx="36004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多发生在</a:t>
            </a: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鼻甲手术后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：鼻腔过于宽大，黏膜与神经末梢减少，加温加湿、气流感知、鼻阻力同时失守。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753350" y="2933700"/>
            <a:ext cx="36004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Microsoft YaHei"/>
                <a:ea typeface="Microsoft YaHei"/>
              </a:rPr>
              <a:t>20%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753350" y="3867150"/>
            <a:ext cx="36004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Microsoft YaHei"/>
                <a:ea typeface="Microsoft YaHei"/>
              </a:rPr>
              <a:t>下鼻甲全切术后</a:t>
            </a:r>
            <a:r>
              <a:rPr lang="en-US" sz="1200">
                <a:solidFill>
                  <a:srgbClr val="8BA6C1"/>
                </a:solidFill>
                <a:latin typeface="Microsoft YaHei"/>
                <a:ea typeface="Microsoft YaHei"/>
              </a:rPr>
              <a:t xml:space="preserve"> ENS </a:t>
            </a:r>
            <a:r>
              <a:rPr lang="zh-CN" sz="1200">
                <a:solidFill>
                  <a:srgbClr val="8BA6C1"/>
                </a:solidFill>
                <a:latin typeface="Microsoft YaHei"/>
                <a:ea typeface="Microsoft YaHei"/>
              </a:rPr>
              <a:t>发生率（</a:t>
            </a:r>
            <a:r>
              <a:rPr lang="en-US" sz="1200">
                <a:solidFill>
                  <a:srgbClr val="8BA6C1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200">
                <a:solidFill>
                  <a:srgbClr val="8BA6C1"/>
                </a:solidFill>
                <a:latin typeface="Microsoft YaHei"/>
                <a:ea typeface="Microsoft YaHei"/>
              </a:rPr>
              <a:t>个来源一致，含人民日报报道）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7753350" y="4467225"/>
            <a:ext cx="3600450" cy="1409700"/>
          </a:xfrm>
          <a:custGeom>
            <a:pathLst>
              <a:path w="378" h="148">
                <a:moveTo>
                  <a:pt x="0" y="0"/>
                </a:moveTo>
                <a:lnTo>
                  <a:pt x="378" y="0"/>
                </a:lnTo>
                <a:lnTo>
                  <a:pt x="378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753350" y="4610100"/>
            <a:ext cx="36004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E8F1FA"/>
                </a:solidFill>
                <a:latin typeface="Microsoft YaHei"/>
                <a:ea typeface="Microsoft YaHei"/>
              </a:rPr>
              <a:t>「愿用一条胳膊或者一条腿换回一个健康的鼻子——四肢残缺还能得到别人的同情，可空鼻症却不被理解。」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753350" y="5705475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患者原声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健康时报报道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619125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来源：多源交叉验证表（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2026-10-15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）·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类来源，剔除不可溯源数字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  <p:sp>
        <p:nvSpPr>
          <p:cNvPr id="134" name="TextBox 122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1"/>
              </a:rPr>
              <a:t>▸ 患者需求调研包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0" y="0"/>
            <a:ext cx="5905500" cy="59055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7810500" y="2476500"/>
            <a:ext cx="4381500" cy="438150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问题与需求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4577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最痛的不是「堵」，是「干」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1257300"/>
            <a:ext cx="64198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603885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B7CBDD"/>
                </a:solidFill>
                <a:latin typeface="Microsoft YaHei"/>
                <a:ea typeface="Microsoft YaHei"/>
              </a:rPr>
              <a:t xml:space="preserve">ENS6Q </a:t>
            </a: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六条目基线得分（</a:t>
            </a:r>
            <a:r>
              <a:rPr lang="en-US" sz="1350" b="1">
                <a:solidFill>
                  <a:srgbClr val="B7CBDD"/>
                </a:solidFill>
                <a:latin typeface="Microsoft YaHei"/>
                <a:ea typeface="Microsoft YaHei"/>
              </a:rPr>
              <a:t xml:space="preserve">0–5 </a:t>
            </a: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分制，</a:t>
            </a:r>
            <a:r>
              <a:rPr lang="en-US" sz="1350" b="1">
                <a:solidFill>
                  <a:srgbClr val="B7CBDD"/>
                </a:solidFill>
                <a:latin typeface="Microsoft YaHei"/>
                <a:ea typeface="Microsoft YaHei"/>
              </a:rPr>
              <a:t>n = 53</a:t>
            </a: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，多国在线招募）</a:t>
            </a:r>
            <a:endParaRPr/>
          </a:p>
        </p:txBody>
      </p:sp>
      <p:graphicFrame>
        <p:nvGraphicFramePr>
          <p:cNvPr id="145" name="133"/>
          <p:cNvGraphicFramePr/>
          <p:nvPr/>
        </p:nvGraphicFramePr>
        <p:xfrm rot="0" flipH="0" flipV="0">
          <a:off x="800100" y="1809750"/>
          <a:ext cx="6038850" cy="4000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296150" y="1514475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最痛的两项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296150" y="1724025"/>
            <a:ext cx="15525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Microsoft YaHei"/>
                <a:ea typeface="Microsoft YaHei"/>
              </a:rPr>
              <a:t>4.07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001125" y="1724025"/>
            <a:ext cx="4191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Microsoft YaHei"/>
                <a:ea typeface="Microsoft YaHei"/>
              </a:rPr>
              <a:t>干燥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296150" y="2638425"/>
            <a:ext cx="15525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Microsoft YaHei"/>
                <a:ea typeface="Microsoft YaHei"/>
              </a:rPr>
              <a:t>4.02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001125" y="2638425"/>
            <a:ext cx="12573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Microsoft YaHei"/>
                <a:ea typeface="Microsoft YaHei"/>
              </a:rPr>
              <a:t>感觉不到气流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7324725" y="3667125"/>
            <a:ext cx="4286250" cy="1390650"/>
          </a:xfrm>
          <a:prstGeom prst="roundRect">
            <a:avLst>
              <a:gd name="adj" fmla="val 4110"/>
            </a:avLst>
          </a:prstGeom>
          <a:solidFill>
            <a:srgbClr val="F5A5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324725" y="3667125"/>
            <a:ext cx="4286250" cy="1390650"/>
          </a:xfrm>
          <a:custGeom>
            <a:pathLst>
              <a:path w="450" h="14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43"/>
                </a:lnTo>
                <a:cubicBezTo>
                  <a:pt x="3" y="144"/>
                  <a:pt x="4" y="146"/>
                  <a:pt x="5" y="146"/>
                </a:cubicBezTo>
                <a:cubicBezTo>
                  <a:pt x="2" y="146"/>
                  <a:pt x="0" y="143"/>
                  <a:pt x="0" y="1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A5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515225" y="3838575"/>
            <a:ext cx="387667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E8F1FA"/>
                </a:solidFill>
                <a:latin typeface="Microsoft YaHei"/>
                <a:ea typeface="Microsoft YaHei"/>
              </a:rPr>
              <a:t>干燥与气流感知是患者最痛的两项，却恰恰是现有</a:t>
            </a:r>
            <a:r>
              <a:rPr lang="zh-CN" sz="1425" b="1">
                <a:solidFill>
                  <a:srgbClr val="F5A524"/>
                </a:solidFill>
                <a:latin typeface="Microsoft YaHei"/>
                <a:ea typeface="Microsoft YaHei"/>
              </a:rPr>
              <a:t>鼻腔填充类方案改善最弱</a:t>
            </a:r>
            <a:r>
              <a:rPr lang="zh-CN" sz="1425">
                <a:solidFill>
                  <a:srgbClr val="E8F1FA"/>
                </a:solidFill>
                <a:latin typeface="Microsoft YaHei"/>
                <a:ea typeface="Microsoft YaHei"/>
              </a:rPr>
              <a:t>的一对——所以产品目标不能只定在「恢复通气」。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296150" y="5210175"/>
            <a:ext cx="4286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出处：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Manji J, et al. </a:t>
            </a:r>
            <a:r>
              <a:rPr lang="en-US" sz="1125" i="1">
                <a:solidFill>
                  <a:srgbClr val="8BA6C1"/>
                </a:solidFill>
                <a:latin typeface="Microsoft YaHei"/>
                <a:ea typeface="Microsoft YaHei"/>
              </a:rPr>
              <a:t>Ann Otol Rhinol Laryngol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>. 2019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（【实】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L1 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同行评议）。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ENS6Q 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满分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 30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，总分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 ≥11 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提示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 ENS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466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数据落点：产品的价值主张由「让鼻子通气」修正为「让黏膜重新被气流刺激」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  <p:sp>
        <p:nvSpPr>
          <p:cNvPr id="158" name="TextBox 145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2"/>
              </a:rPr>
              <a:t>▸ 患者需求调研包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32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产品与解决方案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32435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一句话：</a:t>
            </a:r>
            <a:r>
              <a:rPr lang="en-US" sz="27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CT </a:t>
            </a: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进，功能数字出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09600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鼻腔功能评估管线：一条命令，六个阶段，无需人工点击</a:t>
            </a:r>
            <a:endParaRPr/>
          </a:p>
        </p:txBody>
      </p:sp>
      <p:pic>
        <p:nvPicPr>
          <p:cNvPr id="1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00200"/>
            <a:ext cx="10515600" cy="1771650"/>
          </a:xfrm>
          <a:prstGeom prst="rect">
            <a:avLst/>
          </a:prstGeom>
          <a:ln/>
        </p:spPr>
      </p:pic>
      <p:sp>
        <p:nvSpPr>
          <p:cNvPr id="170" name=""/>
          <p:cNvSpPr/>
          <p:nvPr/>
        </p:nvSpPr>
        <p:spPr>
          <a:xfrm rot="0" flipH="0" flipV="0">
            <a:off x="609600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950" b="1">
                <a:solidFill>
                  <a:srgbClr val="22D3EE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人工交互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不需要在三维软件里手工点击分割、封口、裁剪；分割与开口由物理判据自动裁定，每一步留下可复核的判据与指纹。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4314825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524375" y="398145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524375" y="4381500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开源栈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524375" y="4924425"/>
            <a:ext cx="31432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SimpleITK / Netgen / OpenFOAM / VTK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全开源，零商业许可成本；同一份输入在任何机器上可重放同一条命令。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8029575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239125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950" b="1">
                <a:solidFill>
                  <a:srgbClr val="22D3EE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239125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功能指标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239125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鼻阻力、壁面剪应力、后鼻孔温湿度与热通量——分别对应患者的三个核心主诉，而不是泛泛的「流场图」。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460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数据落点：单例处理从人工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30–60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分钟降到一条命令，且过程可复现、可审计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  <p:sp>
        <p:nvSpPr>
          <p:cNvPr id="185" name="TextBox 171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2"/>
              </a:rPr>
              <a:t>▸ 现场 Demo 入口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10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测试过程与真实反馈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6105525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全链结果：几何 → 网格 → 求解 → 指标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1257300"/>
            <a:ext cx="65722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" y="1447800"/>
            <a:ext cx="615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扩展域全链结果</a:t>
            </a:r>
            <a:r>
              <a:rPr lang="en-US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现行基线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819150" y="1752600"/>
            <a:ext cx="6153150" cy="276225"/>
          </a:xfrm>
          <a:custGeom>
            <a:pathLst>
              <a:path w="646" h="29">
                <a:moveTo>
                  <a:pt x="0" y="28"/>
                </a:moveTo>
                <a:lnTo>
                  <a:pt x="646" y="28"/>
                </a:lnTo>
                <a:lnTo>
                  <a:pt x="64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8BA6C1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19150" y="17526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352800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b15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762500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b01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181725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b02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19150" y="21336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鼻阻力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 xml:space="preserve"> R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>Pa·s/mL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162300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>0.0685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581525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>0.0618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991225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A524"/>
                </a:solidFill>
                <a:latin typeface="Microsoft YaHei"/>
                <a:ea typeface="Microsoft YaHei"/>
              </a:rPr>
              <a:t>0.1729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9150" y="25527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压差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 xml:space="preserve"> Δp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>Pa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181350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17.120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600575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15.460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10275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Microsoft YaHei"/>
                <a:ea typeface="Microsoft YaHei"/>
              </a:rPr>
              <a:t>43.231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19150" y="29718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合力（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>N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143250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1.49e-3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562475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1.27e-3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972175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Microsoft YaHei"/>
                <a:ea typeface="Microsoft YaHei"/>
              </a:rPr>
              <a:t>2.37e-3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19150" y="33909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中位（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>Pa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238500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0.068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648200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0.050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67425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Microsoft YaHei"/>
                <a:ea typeface="Microsoft YaHei"/>
              </a:rPr>
              <a:t>0.090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19150" y="38100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网格单元数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152775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653,789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562475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710,101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981700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590,961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19150" y="42291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质量不平衡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219450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6.0e-8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629150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4.5e-7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48375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4.6e-7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19150" y="4533900"/>
            <a:ext cx="6153150" cy="419100"/>
          </a:xfrm>
          <a:prstGeom prst="roundRect">
            <a:avLst>
              <a:gd name="adj" fmla="val 18182"/>
            </a:avLst>
          </a:prstGeom>
          <a:solidFill>
            <a:srgbClr val="22D3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95350" y="4648200"/>
            <a:ext cx="182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工程验证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314700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724400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143625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61531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>均为全链 CHAIN-DONE（几何 → 开口 → 网格 → 求解 → 指标）；网格数为 checkMesh 口径。b02 为本项目首次进入求解链的病例，上表即其首产基线。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7458075" y="1257300"/>
            <a:ext cx="4152900" cy="1714500"/>
          </a:xfrm>
          <a:prstGeom prst="roundRect">
            <a:avLst>
              <a:gd name="adj" fmla="val 5556"/>
            </a:avLst>
          </a:prstGeom>
          <a:solidFill>
            <a:srgbClr val="F5A5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7458075" y="1257300"/>
            <a:ext cx="4152900" cy="1714500"/>
          </a:xfrm>
          <a:custGeom>
            <a:pathLst>
              <a:path w="436" h="18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73"/>
                </a:lnTo>
                <a:cubicBezTo>
                  <a:pt x="3" y="176"/>
                  <a:pt x="5" y="179"/>
                  <a:pt x="8" y="180"/>
                </a:cubicBezTo>
                <a:cubicBezTo>
                  <a:pt x="3" y="179"/>
                  <a:pt x="0" y="175"/>
                  <a:pt x="0" y="1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A5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629525" y="1409700"/>
            <a:ext cx="3781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5A524"/>
                </a:solidFill>
                <a:latin typeface="Microsoft YaHei"/>
                <a:ea typeface="Microsoft YaHei"/>
              </a:rPr>
              <a:t>口径声明</a:t>
            </a:r>
            <a:r>
              <a:rPr lang="en-US" sz="1050" b="1" spc="75">
                <a:solidFill>
                  <a:srgbClr val="F5A52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 spc="75">
                <a:solidFill>
                  <a:srgbClr val="F5A524"/>
                </a:solidFill>
                <a:latin typeface="Microsoft YaHei"/>
                <a:ea typeface="Microsoft YaHei"/>
              </a:rPr>
              <a:t>必读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629525" y="1647825"/>
            <a:ext cx="3781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均为</a:t>
            </a:r>
            <a:r>
              <a:rPr lang="zh-CN" sz="1050" b="1">
                <a:solidFill>
                  <a:srgbClr val="E8F1FA"/>
                </a:solidFill>
                <a:latin typeface="Microsoft YaHei"/>
                <a:ea typeface="Microsoft YaHei"/>
              </a:rPr>
              <a:t>稳态层流工程尺度验证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，非临床诊断；出口下游阻力缺失</a:t>
            </a:r>
            <a:r>
              <a:rPr lang="en-US" sz="1050">
                <a:solidFill>
                  <a:srgbClr val="C9D8E6"/>
                </a:solidFill>
                <a:latin typeface="Microsoft YaHei"/>
                <a:ea typeface="Microsoft YaHei"/>
              </a:rPr>
              <a:t xml:space="preserve"> → Δp 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已知偏低。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629525" y="2228850"/>
            <a:ext cx="37814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C9D8E6"/>
                </a:solidFill>
                <a:latin typeface="Microsoft YaHei"/>
                <a:ea typeface="Microsoft YaHei"/>
              </a:rPr>
              <a:t xml:space="preserve">R 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绝对值不可对标临床鼻测压</a:t>
            </a:r>
            <a:r>
              <a:rPr lang="en-US" sz="1050">
                <a:solidFill>
                  <a:srgbClr val="C9D8E6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只有</a:t>
            </a:r>
            <a:r>
              <a:rPr lang="zh-CN" sz="1050" b="1">
                <a:solidFill>
                  <a:srgbClr val="E8F1FA"/>
                </a:solidFill>
                <a:latin typeface="Microsoft YaHei"/>
                <a:ea typeface="Microsoft YaHei"/>
              </a:rPr>
              <a:t>配对相对变化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可采信。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629525" y="2562225"/>
            <a:ext cx="37814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5A524"/>
                </a:solidFill>
                <a:latin typeface="Microsoft YaHei"/>
                <a:ea typeface="Microsoft YaHei"/>
              </a:rPr>
              <a:t>通过的是</a:t>
            </a:r>
            <a:r>
              <a:rPr lang="zh-CN" sz="1050" b="1">
                <a:solidFill>
                  <a:srgbClr val="F5A524"/>
                </a:solidFill>
                <a:latin typeface="Microsoft YaHei"/>
                <a:ea typeface="Microsoft YaHei"/>
              </a:rPr>
              <a:t>工程尺度筛检</a:t>
            </a:r>
            <a:r>
              <a:rPr lang="zh-CN" sz="1050">
                <a:solidFill>
                  <a:srgbClr val="F5A524"/>
                </a:solidFill>
                <a:latin typeface="Microsoft YaHei"/>
                <a:ea typeface="Microsoft YaHei"/>
              </a:rPr>
              <a:t>，而非严格残差意义上的完全收敛。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7429500" y="3105150"/>
            <a:ext cx="4152900" cy="2914650"/>
          </a:xfrm>
          <a:prstGeom prst="roundRect">
            <a:avLst>
              <a:gd name="adj" fmla="val 326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600950" y="32766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Microsoft YaHei"/>
                <a:ea typeface="Microsoft YaHei"/>
              </a:rPr>
              <a:t>域不同，数字不可比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600950" y="3514725"/>
            <a:ext cx="3810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5A524"/>
                </a:solidFill>
                <a:latin typeface="Microsoft YaHei"/>
                <a:ea typeface="Microsoft YaHei"/>
              </a:rPr>
              <a:t>40%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600950" y="4419600"/>
            <a:ext cx="3810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用「鼻腔短域」口径算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b15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，Δ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p 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只有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10.29 Pa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；含口咽的扩展域是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17.12 Pa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600950" y="5505450"/>
            <a:ext cx="3810000" cy="342900"/>
          </a:xfrm>
          <a:prstGeom prst="rect"/>
        </p:spPr>
        <p:txBody>
          <a:bodyPr wrap="none" lIns="0" tIns="71438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域变一次，结论翻一次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域标准必须锁死。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口径：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generalisation_test_only_no_human_review ·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出口为工程截断面，缺下游阻力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  <p:sp>
        <p:nvSpPr>
          <p:cNvPr id="245" name="TextBox 230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1"/>
              </a:rPr>
              <a:t>▸ 标定与基准计划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测试过程与真实反馈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1148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为什么这些数字可以被相信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验证三重门：三个不依赖「我们说自己严谨」的独立关卡</a:t>
            </a:r>
            <a:endParaRPr/>
          </a:p>
        </p:txBody>
      </p:sp>
      <p:pic>
        <p:nvPicPr>
          <p:cNvPr id="2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00200"/>
            <a:ext cx="10515600" cy="1771650"/>
          </a:xfrm>
          <a:prstGeom prst="rect">
            <a:avLst/>
          </a:prstGeom>
          <a:ln/>
        </p:spPr>
      </p:pic>
      <p:sp>
        <p:nvSpPr>
          <p:cNvPr id="257" name=""/>
          <p:cNvSpPr/>
          <p:nvPr/>
        </p:nvSpPr>
        <p:spPr>
          <a:xfrm rot="0" flipH="0" flipV="0">
            <a:off x="609600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>0.087%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解出来的力和输入对得上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壁面应力积分的合力与压差反作用力相差不到千分之一；纯解析圆管泊肃叶解也逐档对上。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4314825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524375" y="398145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2D3EE"/>
                </a:solidFill>
                <a:latin typeface="Microsoft YaHei"/>
                <a:ea typeface="Microsoft YaHei"/>
              </a:rPr>
              <a:t>独立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524375" y="4381500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不是自己给自己签字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524375" y="5219700"/>
            <a:ext cx="3143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每个关键结论都由未参与创作的人按同一套判据重走一遍，逐项对上才写入结论卡。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8029575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239125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>42 s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239125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别人能重来一遍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239125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删掉旧现场从原始案例重建，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42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秒完成：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个已知值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+ 6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个输入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SHA256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逐位匹配。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20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文献对照：静息呼吸稳态层流解与全分辨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LES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预测近乎一致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本管线的层流口径合规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  <p:sp>
        <p:nvSpPr>
          <p:cNvPr id="272" name="TextBox 256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2"/>
              </a:rPr>
              <a:t>▸ 标定与基准计划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05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团队与产品的未来计划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61722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愿景：从评估工具，到一条可复现的标准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Q5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12573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38200" y="16478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38200" y="21907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科研</a:t>
            </a:r>
            <a:r>
              <a:rPr lang="en-US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客观终点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2876550" y="15811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把研究终点从主观问卷，换成可复现的物理量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2876550" y="18859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空鼻综合征研究长期缺客观终点。文献已给出症状关联分级：热通量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SAHF50 r≈−0.76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、下鼻道峰值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WSS −0.398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、中鼻道气流占比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0.76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；我们将用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例队列做无监督表型分型，为人群建立常模分布。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28956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38200" y="32861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38200" y="38290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泛化</a:t>
            </a:r>
            <a:r>
              <a:rPr lang="en-US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一个标准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2876550" y="32194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全自动流水线</a:t>
            </a:r>
            <a:r>
              <a:rPr lang="en-US" sz="15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跨中心队列常模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2876550" y="35242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几何层已全自动：23/24 通过全部表面判据，网格、求解、指标正在批量化。下一步做跨中心、不同扫描参数的输入标准化——让任何一台 CT 的气道，都能进同一条流水线、比同一套常模。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09600" y="45339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38200" y="49244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A5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8200" y="54673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器件</a:t>
            </a:r>
            <a:r>
              <a:rPr lang="en-US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数字孪生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876550" y="48577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术前预演手术、试穿定制鼻塞，术后客观随访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2876550" y="51625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在患者的数字孪生上预演下鼻甲切除、填充方案对气流与温湿度的影响，反向求解定制鼻塞的形状与位置——从「读出功能」到「改回功能」；术后以配对相对变化做客观随访。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边界：关联证据为文献迁移、未在本队列验证；不做个体化症状预测；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R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绝对值不可对标临床鼻测压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0" y="0"/>
            <a:ext cx="7239000" cy="7239000"/>
          </a:xfrm>
          <a:custGeom>
            <a:pathLst>
              <a:path w="760" h="760">
                <a:moveTo>
                  <a:pt x="760" y="720"/>
                </a:moveTo>
                <a:lnTo>
                  <a:pt x="0" y="720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gradFill>
            <a:gsLst>
              <a:gs pos="0">
                <a:srgbClr val="22D3EE">
                  <a:alpha val="16000"/>
                </a:srgbClr>
              </a:gs>
              <a:gs pos="62000">
                <a:srgbClr val="22D3EE">
                  <a:alpha val="0"/>
                </a:srgbClr>
              </a:gs>
            </a:gsLst>
            <a:path path="circle">
              <a:fillToRect l="50000" t="42000" r="50000" b="58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239000" y="1905000"/>
            <a:ext cx="4953000" cy="4953000"/>
          </a:xfrm>
          <a:prstGeom prst="rect">
            <a:avLst/>
          </a:prstGeom>
          <a:gradFill>
            <a:gsLst>
              <a:gs pos="0">
                <a:srgbClr val="F5A524">
                  <a:alpha val="9000"/>
                </a:srgbClr>
              </a:gs>
              <a:gs pos="66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705475" y="790575"/>
            <a:ext cx="79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2D3EE"/>
                </a:solidFill>
                <a:latin typeface="Microsoft YaHei"/>
                <a:ea typeface="Microsoft YaHei"/>
              </a:rPr>
              <a:t>ENDING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238250" y="1200150"/>
            <a:ext cx="9715500" cy="1819275"/>
          </a:xfrm>
          <a:prstGeom prst="rect"/>
        </p:spPr>
        <p:txBody>
          <a:bodyPr wrap="none" lIns="0" tIns="0" rIns="0" bIns="0"/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Microsoft YaHei"/>
                <a:ea typeface="Microsoft YaHei"/>
              </a:rPr>
              <a:t>让「说不出的难受」</a:t>
            </a:r>
            <a:endParaRPr/>
          </a:p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Microsoft YaHei"/>
                <a:ea typeface="Microsoft YaHei"/>
              </a:rPr>
              <a:t>变成</a:t>
            </a:r>
            <a:r>
              <a:rPr lang="zh-CN" sz="4650" b="1">
                <a:solidFill>
                  <a:srgbClr val="22D3EE"/>
                </a:solidFill>
                <a:latin typeface="Microsoft YaHei"/>
                <a:ea typeface="Microsoft YaHei"/>
              </a:rPr>
              <a:t>看得见的数字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5524500" y="3343275"/>
            <a:ext cx="1143000" cy="28575"/>
          </a:xfrm>
          <a:prstGeom prst="rect">
            <a:avLst/>
          </a:prstGeom>
          <a:gradFill>
            <a:gsLst>
              <a:gs pos="0">
                <a:srgbClr val="22D3EE">
                  <a:alpha val="0"/>
                </a:srgbClr>
              </a:gs>
              <a:gs pos="50000">
                <a:srgbClr val="22D3EE"/>
              </a:gs>
              <a:gs pos="100000">
                <a:srgbClr val="22D3EE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619250" y="3657600"/>
            <a:ext cx="8953500" cy="7810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空鼻症鼻腔功能客观化评估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一张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CT →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自动建模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稳态流场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鼻阻力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壁面剪应力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后鼻孔温湿与热通量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762500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514850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开源可复现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5467350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010275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762625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条命令跑通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715125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258050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010400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次人工交互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43000" y="5838825"/>
            <a:ext cx="99060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>本项目输出为工程尺度的功能指标，用于研究与器械设计评估，不构成临床诊断或治疗建议；患者数据均经脱敏处理。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6" name="" descr="&lt;Slide style={{ width: 1280, height: 720, background: '#0A1A2F', padding: '24px 64px', position: 'relative', overflow: 'hidden', fontFamily: &quot;'Microsoft YaHei','PingFang SC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84, flexDirection: 'row', alignItems: 'flex-end', justifyContent: 'space-between' }}&gt;&#10;            &lt;Box style={{ flexDirection: 'column', gap: 6 }}&gt;&#10;                &lt;Text style={{ fontSize: 15, fontWeight: 600, letterSpacing: 3, color: '#22D3EE' }}&gt;APPENDIX / 支撑材料与依据来源&lt;/Text&gt;&#10;                &lt;Text style={{ fontSize: 34, fontWeight: 700, color: '#E8F1FA', lineHeight: 1.2 }}&gt;每个数字都有出处：调研 · 链路 · 验证 · 训练 · Demo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A&lt;/Text&gt;&#10;            &lt;/Box&gt;&#10;        &lt;/Box&gt;&#10;&#10;        &lt;Box style={{ height: 508, marginTop: 14, flexDirection: 'column', gap: 11 }}&gt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1&lt;/Text&gt;&#10;                &lt;/Box&gt;&#10;                &lt;Box style={{ flex: 1, flexDirection: 'column', gap: 3 }}&gt;&#10;                    &lt;Text style={{ fontSize: 16, fontWeight: 600, color: '#7DE3F4' }}&gt;01 · 患者需求调研包（7 份 · 交叉验证表 / 需求→指标交叉分析 / 两轮 ENS 外部调研 / 原始材料）&lt;/Text&gt;&#10;                    &lt;Text style={{ fontSize: 13, color: '#8BA6C1', lineHeight: 1.45 }}&gt;P03–05 患者画像与量表的依据来源；全部逐字入库、口径可追溯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2&lt;/Text&gt;&#10;                &lt;/Box&gt;&#10;                &lt;Box style={{ flex: 1, flexDirection: 'column', gap: 3 }}&gt;&#10;                    &lt;Text style={{ fontSize: 16, fontWeight: 600, color: '#7DE3F4' }}&gt;02 · 详细技术链路（8 份 · DICOM → 几何 → 网格 → 求解 → 指标 → 工作台）&lt;/Text&gt;&#10;                    &lt;Text style={{ fontSize: 13, color: '#8BA6C1', lineHeight: 1.45 }}&gt;P07「CT 进功能数字出」每一步的方法文档；从权威 SOP 起读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3&lt;/Text&gt;&#10;                &lt;/Box&gt;&#10;                &lt;Box style={{ flex: 1, flexDirection: 'column', gap: 3 }}&gt;&#10;                    &lt;Text style={{ fontSize: 16, fontWeight: 600, color: '#7DE3F4' }}&gt;03 · 验证与校准依据（6 份 · 验证三重门的底稿）&lt;/Text&gt;&#10;                    &lt;Text style={{ fontSize: 13, color: '#8BA6C1', lineHeight: 1.45 }}&gt;0.087% 已知答案对照 / 独立复验 / 42 秒一条命令复现 —— P15 的出处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4&lt;/Text&gt;&#10;                &lt;/Box&gt;&#10;                &lt;Box style={{ flex: 1, flexDirection: 'column', gap: 3 }}&gt;&#10;                    &lt;Text style={{ fontSize: 16, fontWeight: 600, color: '#7DE3F4' }}&gt;04 · 未来的依据（5 份 · 症状关联证据分级 + 症状标签探查）&lt;/Text&gt;&#10;                    &lt;Text style={{ fontSize: 13, color: '#8BA6C1', lineHeight: 1.45 }}&gt;愿景页热通量 r≈−0.76 等关联数字的文献出处，与「标签不可得」的探查记录&lt;/Text&gt;&#10;                &lt;/Box&gt;&#10;            &lt;/Box&gt;&#10;&#10;            &lt;Box style={{ height: 76, flexDirection: 'row', alignItems: 'center', gap: 18, padding: '10px 24px', background: 'linear-gradient(150deg, #1B3A5C 0%, #12263F 100%)', borderRadius: 12, border: '1px solid rgba(245,165,36,0.40)' }}&gt;&#10;                &lt;Box style={{ width: 40, height: 40, borderRadius: 20, border: '2px solid rgba(245,165,36,0.55)', justifyContent: 'center', alignItems: 'center' }}&gt;&#10;                    &lt;Text style={{ fontSize: 13, fontWeight: 700, color: '#F5A524' }}&gt;05&lt;/Text&gt;&#10;                &lt;/Box&gt;&#10;                &lt;Box style={{ flex: 1, flexDirection: 'column', gap: 3 }}&gt;&#10;                    &lt;Text style={{ fontSize: 16, fontWeight: 600, color: '#7DE3F4' }}&gt;05 · 标准训练方法与队列就绪（4 份 · 训练设计 v1 + 24 例批量实跑）&lt;/Text&gt;&#10;                    &lt;Text style={{ fontSize: 13, color: '#8BA6C1', lineHeight: 1.45 }}&gt;从评估工具到标准的路线图；「24 例已就绪」出处 = T-059 批量 23/24 auto_pass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34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6&lt;/Text&gt;&#10;                &lt;/Box&gt;&#10;                &lt;Box style={{ flex: 1, flexDirection: 'column', gap: 3 }}&gt;&#10;                    &lt;Text style={{ fontSize: 16, fontWeight: 600, color: '#7DE3F4' }}&gt;06 · 功能演示 Demo（三维检查 · 流线 · 对比 · 任务控制台）&lt;/Text&gt;&#10;                    &lt;Text style={{ fontSize: 13, color: '#8BA6C1', lineHeight: 1.45 }}&gt;真实脱敏数据；现场演示前需先启动本地服务（启动三维工作台.ps1）&lt;/Text&gt;&#10;                &lt;/Box&gt;&#10;            &lt;/Box&gt;&#10;        &lt;/Box&gt;&#10;&#10;        &lt;Box style={{ height: 38, marginTop: 10, flexDirection: 'row', alignItems: 'center', justifyContent: 'space-between', borderTop: '1px solid rgba(139,166,193,0.22)' }}&gt;&#10;            &lt;Text style={{ fontSize: 13, color: '#8BA6C1' }}&gt;依据来源：三例指标 = T-058 §6（patient_metrics.json）· 24 例 = T-059 批量结果 · 判据 = T-002——30 份材料均可点击，每份标注原件路径&lt;/Text&gt;&#10;            &lt;Text style={{ fontSize: 14, color: '#8BA6C1' }}&gt;附录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782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APPENDIX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支撑材料与依据来源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78295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每个数字都有出处：调研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链路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验证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训练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Demo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11144250" y="5905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315700" y="73342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116205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838200" y="133350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52500" y="14478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390650" y="130492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0="http://schemas.openxmlformats.org/officeDocument/2006/relationships" ns0:id="rId2"/>
              </a:rPr>
              <a:t xml:space="preserve">01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="http://schemas.openxmlformats.org/officeDocument/2006/relationships" ns1:id="rId2"/>
              </a:rPr>
              <a:t>患者需求调研包（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="http://schemas.openxmlformats.org/officeDocument/2006/relationships" ns2:id="rId2"/>
              </a:rPr>
              <a:t xml:space="preserve">7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="http://schemas.openxmlformats.org/officeDocument/2006/relationships" ns3:id="rId2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="http://schemas.openxmlformats.org/officeDocument/2006/relationships" ns4:id="rId2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="http://schemas.openxmlformats.org/officeDocument/2006/relationships" ns5:id="rId2"/>
              </a:rPr>
              <a:t>交叉验证表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6="http://schemas.openxmlformats.org/officeDocument/2006/relationships" ns6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7="http://schemas.openxmlformats.org/officeDocument/2006/relationships" ns7:id="rId2"/>
              </a:rPr>
              <a:t>需求→指标交叉分析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8="http://schemas.openxmlformats.org/officeDocument/2006/relationships" ns8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9="http://schemas.openxmlformats.org/officeDocument/2006/relationships" ns9:id="rId2"/>
              </a:rPr>
              <a:t>两轮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0="http://schemas.openxmlformats.org/officeDocument/2006/relationships" ns10:id="rId2"/>
              </a:rPr>
              <a:t xml:space="preserve"> ENS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1="http://schemas.openxmlformats.org/officeDocument/2006/relationships" ns11:id="rId2"/>
              </a:rPr>
              <a:t>外部调研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2="http://schemas.openxmlformats.org/officeDocument/2006/relationships" ns12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3="http://schemas.openxmlformats.org/officeDocument/2006/relationships" ns13:id="rId2"/>
              </a:rPr>
              <a:t>原始材料）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390650" y="152400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P03–05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患者画像与量表的依据来源；全部逐字入库、口径可追溯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199072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38200" y="216217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52500" y="22764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390650" y="213360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4="http://schemas.openxmlformats.org/officeDocument/2006/relationships" ns14:id="rId3"/>
              </a:rPr>
              <a:t xml:space="preserve">02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5="http://schemas.openxmlformats.org/officeDocument/2006/relationships" ns15:id="rId3"/>
              </a:rPr>
              <a:t>详细技术链路（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6="http://schemas.openxmlformats.org/officeDocument/2006/relationships" ns16:id="rId3"/>
              </a:rPr>
              <a:t xml:space="preserve">8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7="http://schemas.openxmlformats.org/officeDocument/2006/relationships" ns17:id="rId3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8="http://schemas.openxmlformats.org/officeDocument/2006/relationships" ns18:id="rId3"/>
              </a:rPr>
              <a:t xml:space="preserve"> · DICOM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9="http://schemas.openxmlformats.org/officeDocument/2006/relationships" ns19:id="rId3"/>
              </a:rPr>
              <a:t>几何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0="http://schemas.openxmlformats.org/officeDocument/2006/relationships" ns20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1="http://schemas.openxmlformats.org/officeDocument/2006/relationships" ns21:id="rId3"/>
              </a:rPr>
              <a:t>网格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2="http://schemas.openxmlformats.org/officeDocument/2006/relationships" ns22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3="http://schemas.openxmlformats.org/officeDocument/2006/relationships" ns23:id="rId3"/>
              </a:rPr>
              <a:t>求解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4="http://schemas.openxmlformats.org/officeDocument/2006/relationships" ns24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5="http://schemas.openxmlformats.org/officeDocument/2006/relationships" ns25:id="rId3"/>
              </a:rPr>
              <a:t>指标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6="http://schemas.openxmlformats.org/officeDocument/2006/relationships" ns26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7="http://schemas.openxmlformats.org/officeDocument/2006/relationships" ns27:id="rId3"/>
              </a:rPr>
              <a:t>工作台）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390650" y="235267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P07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CT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进功能数字出」每一步的方法文档；从权威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起读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281940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838200" y="299085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52500" y="310515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390650" y="296227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8="http://schemas.openxmlformats.org/officeDocument/2006/relationships" ns28:id="rId4"/>
              </a:rPr>
              <a:t xml:space="preserve">03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9="http://schemas.openxmlformats.org/officeDocument/2006/relationships" ns29:id="rId4"/>
              </a:rPr>
              <a:t>验证与校准依据（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0="http://schemas.openxmlformats.org/officeDocument/2006/relationships" ns30:id="rId4"/>
              </a:rPr>
              <a:t xml:space="preserve">6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1="http://schemas.openxmlformats.org/officeDocument/2006/relationships" ns31:id="rId4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2="http://schemas.openxmlformats.org/officeDocument/2006/relationships" ns32:id="rId4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3="http://schemas.openxmlformats.org/officeDocument/2006/relationships" ns33:id="rId4"/>
              </a:rPr>
              <a:t>验证三重门的底稿）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390650" y="318135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0.087%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已知答案对照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独立复验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/ 42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秒一条命令复现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—— P15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的出处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364807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838200" y="381952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52500" y="393382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390650" y="379095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4="http://schemas.openxmlformats.org/officeDocument/2006/relationships" ns34:id="rId5"/>
              </a:rPr>
              <a:t xml:space="preserve">04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5="http://schemas.openxmlformats.org/officeDocument/2006/relationships" ns35:id="rId5"/>
              </a:rPr>
              <a:t>未来的依据（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6="http://schemas.openxmlformats.org/officeDocument/2006/relationships" ns36:id="rId5"/>
              </a:rPr>
              <a:t xml:space="preserve">5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7="http://schemas.openxmlformats.org/officeDocument/2006/relationships" ns37:id="rId5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8="http://schemas.openxmlformats.org/officeDocument/2006/relationships" ns38:id="rId5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9="http://schemas.openxmlformats.org/officeDocument/2006/relationships" ns39:id="rId5"/>
              </a:rPr>
              <a:t>症状关联证据分级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0="http://schemas.openxmlformats.org/officeDocument/2006/relationships" ns40:id="rId5"/>
              </a:rPr>
              <a:t xml:space="preserve"> +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1="http://schemas.openxmlformats.org/officeDocument/2006/relationships" ns41:id="rId5"/>
              </a:rPr>
              <a:t>症状标签探查）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390650" y="401002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愿景页热通量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r≈−0.76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等关联数字的文献出处，与「标签不可得」的探查记录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447675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838200" y="464820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F5A52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52500" y="47625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5A5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390650" y="461962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2="http://schemas.openxmlformats.org/officeDocument/2006/relationships" ns42:id="rId6"/>
              </a:rPr>
              <a:t xml:space="preserve">05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3="http://schemas.openxmlformats.org/officeDocument/2006/relationships" ns43:id="rId6"/>
              </a:rPr>
              <a:t>标准训练方法与队列就绪（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4="http://schemas.openxmlformats.org/officeDocument/2006/relationships" ns44:id="rId6"/>
              </a:rPr>
              <a:t xml:space="preserve">4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5="http://schemas.openxmlformats.org/officeDocument/2006/relationships" ns45:id="rId6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6="http://schemas.openxmlformats.org/officeDocument/2006/relationships" ns46:id="rId6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7="http://schemas.openxmlformats.org/officeDocument/2006/relationships" ns47:id="rId6"/>
              </a:rPr>
              <a:t>训练设计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8="http://schemas.openxmlformats.org/officeDocument/2006/relationships" ns48:id="rId6"/>
              </a:rPr>
              <a:t xml:space="preserve"> v1 + 24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9="http://schemas.openxmlformats.org/officeDocument/2006/relationships" ns49:id="rId6"/>
              </a:rPr>
              <a:t>例批量实跑）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390650" y="483870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从评估工具到标准的路线图；「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例已就绪」出处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T-059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批量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23/24 auto_pass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530542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838200" y="547687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52500" y="55911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390650" y="544830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0="http://schemas.openxmlformats.org/officeDocument/2006/relationships" ns50:id="rId7"/>
              </a:rPr>
              <a:t xml:space="preserve">06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1="http://schemas.openxmlformats.org/officeDocument/2006/relationships" ns51:id="rId7"/>
              </a:rPr>
              <a:t>功能演示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2="http://schemas.openxmlformats.org/officeDocument/2006/relationships" ns52:id="rId7"/>
              </a:rPr>
              <a:t xml:space="preserve"> Demo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3="http://schemas.openxmlformats.org/officeDocument/2006/relationships" ns53:id="rId7"/>
              </a:rPr>
              <a:t>（三维检查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4="http://schemas.openxmlformats.org/officeDocument/2006/relationships" ns54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5="http://schemas.openxmlformats.org/officeDocument/2006/relationships" ns55:id="rId7"/>
              </a:rPr>
              <a:t>流线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6="http://schemas.openxmlformats.org/officeDocument/2006/relationships" ns56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7="http://schemas.openxmlformats.org/officeDocument/2006/relationships" ns57:id="rId7"/>
              </a:rPr>
              <a:t>对比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8="http://schemas.openxmlformats.org/officeDocument/2006/relationships" ns58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9="http://schemas.openxmlformats.org/officeDocument/2006/relationships" ns59:id="rId7"/>
              </a:rPr>
              <a:t>任务控制台）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390650" y="566737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真实脱敏数据；现场演示前需先启动本地服务（启动三维工作台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.ps1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6096000"/>
            <a:ext cx="10972800" cy="361950"/>
          </a:xfrm>
          <a:custGeom>
            <a:pathLst>
              <a:path w="1152" h="3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6210300"/>
            <a:ext cx="792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依据来源：三例指标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T-058 §6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patient_metrics.json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）·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例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T-059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批量结果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判据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T-002——30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份材料均可点击，每份标注原件路径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315700" y="62007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附录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2026-10-16T19:13:30Z</dcterms:created>
  <dcterms:modified xsi:type="dcterms:W3CDTF">2026-10-16T19:13:30Z</dcterms:modified>
</cp:coreProperties>
</file>