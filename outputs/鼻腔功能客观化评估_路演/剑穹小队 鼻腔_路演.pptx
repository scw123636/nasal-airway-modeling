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media/image3.svg" ContentType="image/svg+xml"/>
  <Override PartName="/ppt/slides/media/image5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p15="http://schemas.microsoft.com/office/powerpoint/2012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pn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chart" Target="charts/chart1.xml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pn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pn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5843;&#30740;&#27719;&#24635;/index.html#cat-01" TargetMode="External"/><Relationship Id="rId3" Type="http://schemas.openxmlformats.org/officeDocument/2006/relationships/hyperlink" Target="&#35843;&#30740;&#27719;&#24635;/index.html#cat-02" TargetMode="External"/><Relationship Id="rId4" Type="http://schemas.openxmlformats.org/officeDocument/2006/relationships/hyperlink" Target="&#35843;&#30740;&#27719;&#24635;/index.html#cat-03" TargetMode="External"/><Relationship Id="rId5" Type="http://schemas.openxmlformats.org/officeDocument/2006/relationships/hyperlink" Target="&#35843;&#30740;&#27719;&#24635;/index.html#cat-04" TargetMode="External"/><Relationship Id="rId6" Type="http://schemas.openxmlformats.org/officeDocument/2006/relationships/hyperlink" Target="&#35843;&#30740;&#27719;&#24635;/index.html#cat-06" TargetMode="External"/><Relationship Id="rId7" Type="http://schemas.openxmlformats.org/officeDocument/2006/relationships/hyperlink" Target="http://localhost:8769/workspace/pro/index.html" TargetMode="External"/></Relationships>
</file>

<file path=ppt/slides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mc="http://schemas.openxmlformats.org/markup-compatibility/2006" mc:Ignorable="c15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基线均分</c:v>
                </c:pt>
              </c:strCache>
            </c:strRef>
          </c:tx>
          <c:spPr>
            <a:gradFill>
              <a:gsLst>
                <a:gs pos="0">
                  <a:srgbClr val="22D3EE"/>
                </a:gs>
                <a:gs pos="100000">
                  <a:srgbClr val="7DE3F4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0A1A2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layout/>
              </c:ext>
            </c:extLst>
          </c:dLbls>
          <c:cat>
            <c:strRef>
              <c:f>sheet</c:f>
              <c:strCache>
                <c:ptCount val="6"/>
                <c:pt idx="0">
                  <c:v>干燥</c:v>
                </c:pt>
                <c:pt idx="1">
                  <c:v>气流感减弱</c:v>
                </c:pt>
                <c:pt idx="2">
                  <c:v>鼻腔过通</c:v>
                </c:pt>
                <c:pt idx="3">
                  <c:v>窒息感</c:v>
                </c:pt>
                <c:pt idx="4">
                  <c:v>灼热感</c:v>
                </c:pt>
                <c:pt idx="5">
                  <c:v>结痂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6"/>
                <c:pt idx="0">
                  <c:v>4.07</c:v>
                </c:pt>
                <c:pt idx="1">
                  <c:v>4.02</c:v>
                </c:pt>
                <c:pt idx="2">
                  <c:v>3.74</c:v>
                </c:pt>
                <c:pt idx="3">
                  <c:v>3.23</c:v>
                </c:pt>
                <c:pt idx="4">
                  <c:v>2.77</c:v>
                </c:pt>
                <c:pt idx="5">
                  <c:v>2.74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A6C1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A6C1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/>
    </c:extLst>
  </c:chart>
  <c:txPr>
    <a:bodyPr/>
    <a:lstStyle/>
    <a:p>
      <a:pPr>
        <a:defRPr lang="zh-CN"/>
      </a:pPr>
    </a:p>
  </c:txPr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7000"/>
                </a:srgbClr>
              </a:gs>
              <a:gs pos="38000">
                <a:srgbClr val="0A1A2F">
                  <a:alpha val="90000"/>
                </a:srgbClr>
              </a:gs>
              <a:gs pos="70000">
                <a:srgbClr val="0A1A2F">
                  <a:alpha val="35000"/>
                </a:srgbClr>
              </a:gs>
              <a:gs pos="100000">
                <a:srgbClr val="0A1A2F">
                  <a:alpha val="7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6" name="矩形 5"/>
          <p:cNvSpPr/>
          <p:nvPr/>
        </p:nvSpPr>
        <p:spPr>
          <a:xfrm>
            <a:off x="685800" y="685800"/>
            <a:ext cx="381000" cy="28575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200150" y="6096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NASAL CFD · </a:t>
            </a:r>
            <a:r>
              <a:rPr lang="zh-CN" sz="1125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鼻腔功能客观化评估</a:t>
            </a:r>
            <a:endParaRPr lang="zh-CN" sz="1125" b="1" spc="3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685800" y="1628775"/>
            <a:ext cx="5905500" cy="1876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4000"/>
              </a:lnSpc>
            </a:pPr>
            <a:r>
              <a:rPr lang="zh-CN" sz="5400" b="1" spc="-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让鼻子重新</a:t>
            </a:r>
            <a:endParaRPr lang="zh-CN" sz="5400" b="1" spc="-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4000"/>
              </a:lnSpc>
            </a:pPr>
            <a:r>
              <a:rPr lang="zh-CN" sz="5400" b="1" spc="-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「被感觉到」</a:t>
            </a:r>
            <a:endParaRPr lang="zh-CN" sz="5400" b="1" spc="-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85800" y="3733800"/>
            <a:ext cx="59055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把一片鼻腔</a:t>
            </a:r>
            <a:r>
              <a:rPr lang="en-US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，变成一组</a:t>
            </a:r>
            <a:r>
              <a:rPr lang="zh-CN" sz="1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可出示给医生看的客观功能数字</a:t>
            </a: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——鼻阻力、壁面剪应力、后鼻孔温湿度。</a:t>
            </a:r>
            <a:endParaRPr lang="zh-CN" sz="165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85800" y="4772025"/>
            <a:ext cx="1733550" cy="276225"/>
          </a:xfrm>
          <a:prstGeom prst="roundRect">
            <a:avLst>
              <a:gd name="adj" fmla="val 344482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819150" y="4829175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空鼻症（</a:t>
            </a:r>
            <a:r>
              <a:rPr lang="en-US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ENS</a:t>
            </a:r>
            <a:r>
              <a:rPr lang="zh-CN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）功能评估</a:t>
            </a:r>
            <a:endParaRPr lang="zh-CN" sz="1050">
              <a:solidFill>
                <a:srgbClr val="7DE3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533650" y="4772025"/>
            <a:ext cx="1333500" cy="276225"/>
          </a:xfrm>
          <a:prstGeom prst="roundRect">
            <a:avLst>
              <a:gd name="adj" fmla="val 3444828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2667000" y="4829175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全链路可复现</a:t>
            </a:r>
            <a:endParaRPr lang="zh-CN" sz="10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077325" y="2047875"/>
            <a:ext cx="242887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CT →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</a:t>
            </a: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求解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0363200" y="2505075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单命令全自动链路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505950" y="2847975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9810750" y="3028950"/>
            <a:ext cx="1695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类功能指标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10363200" y="348615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对应患者三大主诉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505950" y="3829050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0953750" y="4010025"/>
            <a:ext cx="552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4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0334625" y="4467225"/>
            <a:ext cx="1171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 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到可复现交付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85800" y="5886450"/>
            <a:ext cx="10820400" cy="371475"/>
          </a:xfrm>
          <a:custGeom>
            <a:avLst/>
            <a:gdLst/>
            <a:ahLst/>
            <a:cxnLst/>
            <a:pathLst>
              <a:path w="1136" h="39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3" name="文本框 23" descr="{&quot;isTemplate&quot;:true,&quot;type&quot;:&quot;text&quot;}"/>
          <p:cNvSpPr txBox="1"/>
          <p:nvPr/>
        </p:nvSpPr>
        <p:spPr>
          <a:xfrm>
            <a:off x="9820275" y="6086475"/>
            <a:ext cx="1685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2026.10 · 全链路验证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06200" y="609600"/>
            <a:ext cx="3200000" cy="3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E8F1FA"/>
                </a:solidFill>
              </a:rPr>
              <a:t>剑穹小队</a:t>
            </a:r>
            <a:r>
              <a:rPr sz="1300">
                <a:solidFill>
                  <a:srgbClr val="22D3EE"/>
                </a:solidFill>
              </a:rPr>
              <a:t>　·　演讲序号 02</a:t>
            </a:r>
            <a:endParaRPr sz="1300">
              <a:solidFill>
                <a:srgbClr val="22D3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矩形 3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354" name="矩形 312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355" name="矩形 313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356" name="文本框 314" descr="{&quot;isTemplate&quot;:true,&quot;type&quot;:&quot;text&quot;}"/>
          <p:cNvSpPr txBox="1"/>
          <p:nvPr/>
        </p:nvSpPr>
        <p:spPr>
          <a:xfrm>
            <a:off x="609600" y="381000"/>
            <a:ext cx="2400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CONTENTS</a:t>
            </a:r>
            <a:endParaRPr lang="en-US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15" descr="{&quot;isTemplate&quot;:true,&quot;type&quot;:&quot;text&quot;}"/>
          <p:cNvSpPr txBox="1"/>
          <p:nvPr/>
        </p:nvSpPr>
        <p:spPr>
          <a:xfrm>
            <a:off x="609600" y="609600"/>
            <a:ext cx="24003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今天的五个问题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16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9" name="文本框 317" descr="{&quot;isTemplate&quot;:true,&quot;type&quot;:&quot;text&quot;}"/>
          <p:cNvSpPr txBox="1"/>
          <p:nvPr/>
        </p:nvSpPr>
        <p:spPr>
          <a:xfrm>
            <a:off x="11249025" y="80962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5 Q</a:t>
            </a:r>
            <a:endParaRPr lang="en-US" sz="10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矩形 318"/>
          <p:cNvSpPr/>
          <p:nvPr/>
        </p:nvSpPr>
        <p:spPr>
          <a:xfrm>
            <a:off x="609600" y="2343150"/>
            <a:ext cx="381000" cy="28575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61" name="文本框 319" descr="{&quot;isTemplate&quot;:true,&quot;type&quot;:&quot;text&quot;}"/>
          <p:cNvSpPr txBox="1"/>
          <p:nvPr/>
        </p:nvSpPr>
        <p:spPr>
          <a:xfrm>
            <a:off x="609600" y="2543175"/>
            <a:ext cx="2857500" cy="1638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主办方给了五个问题。我们</a:t>
            </a: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一条都不绕开</a:t>
            </a: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——每一章只对一个核心问题负责，并给出可验证的回答。</a:t>
            </a:r>
            <a:endParaRPr lang="zh-CN" sz="15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20" descr="{&quot;isTemplate&quot;:true,&quot;type&quot;:&quot;text&quot;}"/>
          <p:cNvSpPr txBox="1"/>
          <p:nvPr/>
        </p:nvSpPr>
        <p:spPr>
          <a:xfrm>
            <a:off x="609600" y="4352925"/>
            <a:ext cx="2857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全篇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18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五个章节扉页与左侧编号逐一对应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圆角矩形 321"/>
          <p:cNvSpPr/>
          <p:nvPr/>
        </p:nvSpPr>
        <p:spPr>
          <a:xfrm>
            <a:off x="3790950" y="141922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文本框 322" descr="{&quot;isTemplate&quot;:true,&quot;type&quot;:&quot;text&quot;}"/>
          <p:cNvSpPr txBox="1"/>
          <p:nvPr/>
        </p:nvSpPr>
        <p:spPr>
          <a:xfrm>
            <a:off x="4000500" y="167640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23" descr="{&quot;isTemplate&quot;:true,&quot;type&quot;:&quot;text&quot;}"/>
          <p:cNvSpPr txBox="1"/>
          <p:nvPr/>
        </p:nvSpPr>
        <p:spPr>
          <a:xfrm>
            <a:off x="4591050" y="169545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24" descr="{&quot;isTemplate&quot;:true,&quot;type&quot;:&quot;text&quot;}"/>
          <p:cNvSpPr txBox="1"/>
          <p:nvPr/>
        </p:nvSpPr>
        <p:spPr>
          <a:xfrm>
            <a:off x="7143750" y="153352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关注了哪类患者？他们面临什么真实困难？为什么值得解决？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25" descr="{&quot;isTemplate&quot;:true,&quot;type&quot;:&quot;text&quot;}"/>
          <p:cNvSpPr txBox="1"/>
          <p:nvPr/>
        </p:nvSpPr>
        <p:spPr>
          <a:xfrm>
            <a:off x="11134725" y="175260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P03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26"/>
          <p:cNvSpPr/>
          <p:nvPr/>
        </p:nvSpPr>
        <p:spPr>
          <a:xfrm>
            <a:off x="3790950" y="2324100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9" name="文本框 327" descr="{&quot;isTemplate&quot;:true,&quot;type&quot;:&quot;text&quot;}"/>
          <p:cNvSpPr txBox="1"/>
          <p:nvPr/>
        </p:nvSpPr>
        <p:spPr>
          <a:xfrm>
            <a:off x="4000500" y="2581275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28" descr="{&quot;isTemplate&quot;:true,&quot;type&quot;:&quot;text&quot;}"/>
          <p:cNvSpPr txBox="1"/>
          <p:nvPr/>
        </p:nvSpPr>
        <p:spPr>
          <a:xfrm>
            <a:off x="4591050" y="2600325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29" descr="{&quot;isTemplate&quot;:true,&quot;type&quot;:&quot;text&quot;}"/>
          <p:cNvSpPr txBox="1"/>
          <p:nvPr/>
        </p:nvSpPr>
        <p:spPr>
          <a:xfrm>
            <a:off x="7143750" y="2438400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产品是什么？有哪些核心功能？如何使用？成本与可支付性是多少？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30" descr="{&quot;isTemplate&quot;:true,&quot;type&quot;:&quot;text&quot;}"/>
          <p:cNvSpPr txBox="1"/>
          <p:nvPr/>
        </p:nvSpPr>
        <p:spPr>
          <a:xfrm>
            <a:off x="11134725" y="265747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P06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31"/>
          <p:cNvSpPr/>
          <p:nvPr/>
        </p:nvSpPr>
        <p:spPr>
          <a:xfrm>
            <a:off x="3790950" y="322897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文本框 332" descr="{&quot;isTemplate&quot;:true,&quot;type&quot;:&quot;text&quot;}"/>
          <p:cNvSpPr txBox="1"/>
          <p:nvPr/>
        </p:nvSpPr>
        <p:spPr>
          <a:xfrm>
            <a:off x="4000500" y="348615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33" descr="{&quot;isTemplate&quot;:true,&quot;type&quot;:&quot;text&quot;}"/>
          <p:cNvSpPr txBox="1"/>
          <p:nvPr/>
        </p:nvSpPr>
        <p:spPr>
          <a:xfrm>
            <a:off x="4591050" y="350520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34" descr="{&quot;isTemplate&quot;:true,&quot;type&quot;:&quot;text&quot;}"/>
          <p:cNvSpPr txBox="1"/>
          <p:nvPr/>
        </p:nvSpPr>
        <p:spPr>
          <a:xfrm>
            <a:off x="7143750" y="334327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团队如何从想法走到产品？经历了哪些困难、关键转折和难点？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35" descr="{&quot;isTemplate&quot;:true,&quot;type&quot;:&quot;text&quot;}"/>
          <p:cNvSpPr txBox="1"/>
          <p:nvPr/>
        </p:nvSpPr>
        <p:spPr>
          <a:xfrm>
            <a:off x="11134725" y="356235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P10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36"/>
          <p:cNvSpPr/>
          <p:nvPr/>
        </p:nvSpPr>
        <p:spPr>
          <a:xfrm>
            <a:off x="3790950" y="4133850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文本框 337" descr="{&quot;isTemplate&quot;:true,&quot;type&quot;:&quot;text&quot;}"/>
          <p:cNvSpPr txBox="1"/>
          <p:nvPr/>
        </p:nvSpPr>
        <p:spPr>
          <a:xfrm>
            <a:off x="4000500" y="4391025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38" descr="{&quot;isTemplate&quot;:true,&quot;type&quot;:&quot;text&quot;}"/>
          <p:cNvSpPr txBox="1"/>
          <p:nvPr/>
        </p:nvSpPr>
        <p:spPr>
          <a:xfrm>
            <a:off x="4591050" y="4410075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39" descr="{&quot;isTemplate&quot;:true,&quot;type&quot;:&quot;text&quot;}"/>
          <p:cNvSpPr txBox="1"/>
          <p:nvPr/>
        </p:nvSpPr>
        <p:spPr>
          <a:xfrm>
            <a:off x="7143750" y="4248150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如何测试？收到哪些反馈？根据反馈做了什么？取得了什么效果？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40" descr="{&quot;isTemplate&quot;:true,&quot;type&quot;:&quot;text&quot;}"/>
          <p:cNvSpPr txBox="1"/>
          <p:nvPr/>
        </p:nvSpPr>
        <p:spPr>
          <a:xfrm>
            <a:off x="11134725" y="446722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P13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圆角矩形 341"/>
          <p:cNvSpPr/>
          <p:nvPr/>
        </p:nvSpPr>
        <p:spPr>
          <a:xfrm>
            <a:off x="3790950" y="503872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文本框 342" descr="{&quot;isTemplate&quot;:true,&quot;type&quot;:&quot;text&quot;}"/>
          <p:cNvSpPr txBox="1"/>
          <p:nvPr/>
        </p:nvSpPr>
        <p:spPr>
          <a:xfrm>
            <a:off x="4000500" y="529590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43" descr="{&quot;isTemplate&quot;:true,&quot;type&quot;:&quot;text&quot;}"/>
          <p:cNvSpPr txBox="1"/>
          <p:nvPr/>
        </p:nvSpPr>
        <p:spPr>
          <a:xfrm>
            <a:off x="4591050" y="531495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文本框 344" descr="{&quot;isTemplate&quot;:true,&quot;type&quot;:&quot;text&quot;}"/>
          <p:cNvSpPr txBox="1"/>
          <p:nvPr/>
        </p:nvSpPr>
        <p:spPr>
          <a:xfrm>
            <a:off x="7143750" y="515302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团队是否持续协作？下一步如何开发、验证和落地？需要哪些支持？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文本框 345" descr="{&quot;isTemplate&quot;:true,&quot;type&quot;:&quot;text&quot;}"/>
          <p:cNvSpPr txBox="1"/>
          <p:nvPr/>
        </p:nvSpPr>
        <p:spPr>
          <a:xfrm>
            <a:off x="11134725" y="537210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P16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任意多边形 346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89" name="文本框 347" descr="{&quot;isTemplate&quot;:true,&quot;type&quot;:&quot;text&quot;}"/>
          <p:cNvSpPr txBox="1"/>
          <p:nvPr/>
        </p:nvSpPr>
        <p:spPr>
          <a:xfrm>
            <a:off x="609600" y="62579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空鼻症鼻腔功能客观化评估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48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393" name="图片 35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4" name="矩形 3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395" name="矩形 353"/>
          <p:cNvSpPr/>
          <p:nvPr/>
        </p:nvSpPr>
        <p:spPr>
          <a:xfrm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96" name="文本框 354" descr="{&quot;isTemplate&quot;:true,&quot;type&quot;:&quot;text&quot;}"/>
          <p:cNvSpPr txBox="1"/>
          <p:nvPr/>
        </p:nvSpPr>
        <p:spPr>
          <a:xfrm>
            <a:off x="981075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55" descr="{&quot;isTemplate&quot;:true,&quot;type&quot;:&quot;text&quot;}"/>
          <p:cNvSpPr txBox="1"/>
          <p:nvPr/>
        </p:nvSpPr>
        <p:spPr>
          <a:xfrm>
            <a:off x="1971675" y="1828800"/>
            <a:ext cx="2857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56" descr="{&quot;isTemplate&quot;:true,&quot;type&quot;:&quot;text&quot;}"/>
          <p:cNvSpPr txBox="1"/>
          <p:nvPr/>
        </p:nvSpPr>
        <p:spPr>
          <a:xfrm>
            <a:off x="762000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他们说的不是「堵」。是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干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、是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感觉不到自己在呼吸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，以及最伤人的——</a:t>
            </a:r>
            <a:r>
              <a:rPr lang="zh-CN" sz="18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没有人相信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圆角矩形 357"/>
          <p:cNvSpPr/>
          <p:nvPr/>
        </p:nvSpPr>
        <p:spPr>
          <a:xfrm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0" name="文本框 358" descr="{&quot;isTemplate&quot;:true,&quot;type&quot;:&quot;text&quot;}"/>
          <p:cNvSpPr txBox="1"/>
          <p:nvPr/>
        </p:nvSpPr>
        <p:spPr>
          <a:xfrm>
            <a:off x="904875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患者画像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359"/>
          <p:cNvSpPr/>
          <p:nvPr/>
        </p:nvSpPr>
        <p:spPr>
          <a:xfrm>
            <a:off x="183832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2" name="文本框 360" descr="{&quot;isTemplate&quot;:true,&quot;type&quot;:&quot;text&quot;}"/>
          <p:cNvSpPr txBox="1"/>
          <p:nvPr/>
        </p:nvSpPr>
        <p:spPr>
          <a:xfrm>
            <a:off x="1981200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五大共性问题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361"/>
          <p:cNvSpPr/>
          <p:nvPr/>
        </p:nvSpPr>
        <p:spPr>
          <a:xfrm>
            <a:off x="32385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4" name="文本框 362" descr="{&quot;isTemplate&quot;:true,&quot;type&quot;:&quot;text&quot;}"/>
          <p:cNvSpPr txBox="1"/>
          <p:nvPr/>
        </p:nvSpPr>
        <p:spPr>
          <a:xfrm>
            <a:off x="3381375" y="4019550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20%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发生率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363" descr="{&quot;isTemplate&quot;:true,&quot;type&quot;:&quot;text&quot;}"/>
          <p:cNvSpPr txBox="1"/>
          <p:nvPr/>
        </p:nvSpPr>
        <p:spPr>
          <a:xfrm>
            <a:off x="762000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364" descr="{&quot;isTemplate&quot;:true,&quot;type&quot;:&quot;text&quot;}"/>
          <p:cNvSpPr txBox="1"/>
          <p:nvPr/>
        </p:nvSpPr>
        <p:spPr>
          <a:xfrm>
            <a:off x="762000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P03 – P05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365" descr="{&quot;isTemplate&quot;:true,&quot;type&quot;:&quot;text&quot;}"/>
          <p:cNvSpPr txBox="1"/>
          <p:nvPr/>
        </p:nvSpPr>
        <p:spPr>
          <a:xfrm>
            <a:off x="2085975" y="4638675"/>
            <a:ext cx="3067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366" descr="{&quot;isTemplate&quot;:true,&quot;type&quot;:&quot;text&quot;}"/>
          <p:cNvSpPr txBox="1"/>
          <p:nvPr/>
        </p:nvSpPr>
        <p:spPr>
          <a:xfrm>
            <a:off x="2085975" y="4838700"/>
            <a:ext cx="3067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谁在受困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痛在哪里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为何值得解决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圆角矩形 367"/>
          <p:cNvSpPr/>
          <p:nvPr/>
        </p:nvSpPr>
        <p:spPr>
          <a:xfrm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10" name="文本框 368" descr="{&quot;isTemplate&quot;:true,&quot;type&quot;:&quot;text&quot;}"/>
          <p:cNvSpPr txBox="1"/>
          <p:nvPr/>
        </p:nvSpPr>
        <p:spPr>
          <a:xfrm>
            <a:off x="762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圆角矩形 369"/>
          <p:cNvSpPr/>
          <p:nvPr/>
        </p:nvSpPr>
        <p:spPr>
          <a:xfrm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2" name="文本框 370" descr="{&quot;isTemplate&quot;:true,&quot;type&quot;:&quot;text&quot;}"/>
          <p:cNvSpPr txBox="1"/>
          <p:nvPr/>
        </p:nvSpPr>
        <p:spPr>
          <a:xfrm>
            <a:off x="2924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圆角矩形 371"/>
          <p:cNvSpPr/>
          <p:nvPr/>
        </p:nvSpPr>
        <p:spPr>
          <a:xfrm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4" name="文本框 372" descr="{&quot;isTemplate&quot;:true,&quot;type&quot;:&quot;text&quot;}"/>
          <p:cNvSpPr txBox="1"/>
          <p:nvPr/>
        </p:nvSpPr>
        <p:spPr>
          <a:xfrm>
            <a:off x="5086350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圆角矩形 373"/>
          <p:cNvSpPr/>
          <p:nvPr/>
        </p:nvSpPr>
        <p:spPr>
          <a:xfrm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6" name="文本框 374" descr="{&quot;isTemplate&quot;:true,&quot;type&quot;:&quot;text&quot;}"/>
          <p:cNvSpPr txBox="1"/>
          <p:nvPr/>
        </p:nvSpPr>
        <p:spPr>
          <a:xfrm>
            <a:off x="7239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圆角矩形 375"/>
          <p:cNvSpPr/>
          <p:nvPr/>
        </p:nvSpPr>
        <p:spPr>
          <a:xfrm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8" name="文本框 376" descr="{&quot;isTemplate&quot;:true,&quot;type&quot;:&quot;text&quot;}"/>
          <p:cNvSpPr txBox="1"/>
          <p:nvPr/>
        </p:nvSpPr>
        <p:spPr>
          <a:xfrm>
            <a:off x="9401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3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421" name="矩形 379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22" name="矩形 380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23" name="文本框 381" descr="{&quot;isTemplate&quot;:true,&quot;type&quot;:&quot;text&quot;}"/>
          <p:cNvSpPr txBox="1"/>
          <p:nvPr/>
        </p:nvSpPr>
        <p:spPr>
          <a:xfrm>
            <a:off x="609600" y="381000"/>
            <a:ext cx="466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382" descr="{&quot;isTemplate&quot;:true,&quot;type&quot;:&quot;text&quot;}"/>
          <p:cNvSpPr txBox="1"/>
          <p:nvPr/>
        </p:nvSpPr>
        <p:spPr>
          <a:xfrm>
            <a:off x="609600" y="609600"/>
            <a:ext cx="46672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一群被</a:t>
            </a:r>
            <a:r>
              <a:rPr lang="en-US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「证明健康」的病人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圆角矩形 383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6" name="文本框 384" descr="{&quot;isTemplate&quot;:true,&quot;type&quot;:&quot;text&quot;}"/>
          <p:cNvSpPr txBox="1"/>
          <p:nvPr/>
        </p:nvSpPr>
        <p:spPr>
          <a:xfrm>
            <a:off x="11239500" y="809625"/>
            <a:ext cx="257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ENS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385"/>
          <p:cNvSpPr/>
          <p:nvPr/>
        </p:nvSpPr>
        <p:spPr>
          <a:xfrm>
            <a:off x="609600" y="15335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8" name="文本框 386" descr="{&quot;isTemplate&quot;:true,&quot;type&quot;:&quot;text&quot;}"/>
          <p:cNvSpPr txBox="1"/>
          <p:nvPr/>
        </p:nvSpPr>
        <p:spPr>
          <a:xfrm>
            <a:off x="781050" y="16478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387" descr="{&quot;isTemplate&quot;:true,&quot;type&quot;:&quot;text&quot;}"/>
          <p:cNvSpPr txBox="1"/>
          <p:nvPr/>
        </p:nvSpPr>
        <p:spPr>
          <a:xfrm>
            <a:off x="1162050" y="1647825"/>
            <a:ext cx="5657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矛盾性鼻塞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388" descr="{&quot;isTemplate&quot;:true,&quot;type&quot;:&quot;text&quot;}"/>
          <p:cNvSpPr txBox="1"/>
          <p:nvPr/>
        </p:nvSpPr>
        <p:spPr>
          <a:xfrm>
            <a:off x="1162050" y="1933575"/>
            <a:ext cx="5657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主诉「吸不进气」，可内镜和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都显示鼻腔通畅——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来源一致的核心症状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389"/>
          <p:cNvSpPr/>
          <p:nvPr/>
        </p:nvSpPr>
        <p:spPr>
          <a:xfrm>
            <a:off x="609600" y="24098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2" name="文本框 390" descr="{&quot;isTemplate&quot;:true,&quot;type&quot;:&quot;text&quot;}"/>
          <p:cNvSpPr txBox="1"/>
          <p:nvPr/>
        </p:nvSpPr>
        <p:spPr>
          <a:xfrm>
            <a:off x="781050" y="25241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391" descr="{&quot;isTemplate&quot;:true,&quot;type&quot;:&quot;text&quot;}"/>
          <p:cNvSpPr txBox="1"/>
          <p:nvPr/>
        </p:nvSpPr>
        <p:spPr>
          <a:xfrm>
            <a:off x="1162050" y="2524125"/>
            <a:ext cx="5029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干燥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结痂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烧灼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392" descr="{&quot;isTemplate&quot;:true,&quot;type&quot;:&quot;text&quot;}"/>
          <p:cNvSpPr txBox="1"/>
          <p:nvPr/>
        </p:nvSpPr>
        <p:spPr>
          <a:xfrm>
            <a:off x="1162050" y="280987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「呼吸进来的空气像刀子」；鼻腔灼热、结痂、反复感染——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圆角矩形 393"/>
          <p:cNvSpPr/>
          <p:nvPr/>
        </p:nvSpPr>
        <p:spPr>
          <a:xfrm>
            <a:off x="609600" y="32861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6" name="文本框 394" descr="{&quot;isTemplate&quot;:true,&quot;type&quot;:&quot;text&quot;}"/>
          <p:cNvSpPr txBox="1"/>
          <p:nvPr/>
        </p:nvSpPr>
        <p:spPr>
          <a:xfrm>
            <a:off x="781050" y="34004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395" descr="{&quot;isTemplate&quot;:true,&quot;type&quot;:&quot;text&quot;}"/>
          <p:cNvSpPr txBox="1"/>
          <p:nvPr/>
        </p:nvSpPr>
        <p:spPr>
          <a:xfrm>
            <a:off x="1162050" y="3400425"/>
            <a:ext cx="4057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气流感知丧失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396" descr="{&quot;isTemplate&quot;:true,&quot;type&quot;:&quot;text&quot;}"/>
          <p:cNvSpPr txBox="1"/>
          <p:nvPr/>
        </p:nvSpPr>
        <p:spPr>
          <a:xfrm>
            <a:off x="1162050" y="3686175"/>
            <a:ext cx="4057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感觉不到空气流过鼻子，「直接吸到肺里」——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6/7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圆角矩形 397"/>
          <p:cNvSpPr/>
          <p:nvPr/>
        </p:nvSpPr>
        <p:spPr>
          <a:xfrm>
            <a:off x="609600" y="41624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0" name="文本框 398" descr="{&quot;isTemplate&quot;:true,&quot;type&quot;:&quot;text&quot;}"/>
          <p:cNvSpPr txBox="1"/>
          <p:nvPr/>
        </p:nvSpPr>
        <p:spPr>
          <a:xfrm>
            <a:off x="781050" y="42767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文本框 399" descr="{&quot;isTemplate&quot;:true,&quot;type&quot;:&quot;text&quot;}"/>
          <p:cNvSpPr txBox="1"/>
          <p:nvPr/>
        </p:nvSpPr>
        <p:spPr>
          <a:xfrm>
            <a:off x="1162050" y="4276725"/>
            <a:ext cx="42195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睡眠障碍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疲劳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认知下降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00" descr="{&quot;isTemplate&quot;:true,&quot;type&quot;:&quot;text&quot;}"/>
          <p:cNvSpPr txBox="1"/>
          <p:nvPr/>
        </p:nvSpPr>
        <p:spPr>
          <a:xfrm>
            <a:off x="1162050" y="4562475"/>
            <a:ext cx="42195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整夜无法入睡、白天浑浑噩噩、劳动能力丧失——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圆角矩形 401"/>
          <p:cNvSpPr/>
          <p:nvPr/>
        </p:nvSpPr>
        <p:spPr>
          <a:xfrm>
            <a:off x="609600" y="50387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4" name="文本框 402" descr="{&quot;isTemplate&quot;:true,&quot;type&quot;:&quot;text&quot;}"/>
          <p:cNvSpPr txBox="1"/>
          <p:nvPr/>
        </p:nvSpPr>
        <p:spPr>
          <a:xfrm>
            <a:off x="781050" y="51530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文本框 403" descr="{&quot;isTemplate&quot;:true,&quot;type&quot;:&quot;text&quot;}"/>
          <p:cNvSpPr txBox="1"/>
          <p:nvPr/>
        </p:nvSpPr>
        <p:spPr>
          <a:xfrm>
            <a:off x="1162050" y="5153025"/>
            <a:ext cx="4895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焦虑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抑郁共病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04" descr="{&quot;isTemplate&quot;:true,&quot;type&quot;:&quot;text&quot;}"/>
          <p:cNvSpPr txBox="1"/>
          <p:nvPr/>
        </p:nvSpPr>
        <p:spPr>
          <a:xfrm>
            <a:off x="1162050" y="5438775"/>
            <a:ext cx="4895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中国患者常见路径：耳鼻喉科不接诊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被诊断为抑郁症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转精神科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圆角矩形 405"/>
          <p:cNvSpPr/>
          <p:nvPr/>
        </p:nvSpPr>
        <p:spPr>
          <a:xfrm>
            <a:off x="7524750" y="1257300"/>
            <a:ext cx="4057650" cy="4857750"/>
          </a:xfrm>
          <a:prstGeom prst="roundRect">
            <a:avLst>
              <a:gd name="adj" fmla="val 281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8" name="文本框 406" descr="{&quot;isTemplate&quot;:true,&quot;type&quot;:&quot;text&quot;}"/>
          <p:cNvSpPr txBox="1"/>
          <p:nvPr/>
        </p:nvSpPr>
        <p:spPr>
          <a:xfrm>
            <a:off x="7753350" y="1504950"/>
            <a:ext cx="3600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空鼻症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EMPTY NOSE SYNDROME</a:t>
            </a:r>
            <a:endParaRPr lang="en-US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07" descr="{&quot;isTemplate&quot;:true,&quot;type&quot;:&quot;text&quot;}"/>
          <p:cNvSpPr txBox="1"/>
          <p:nvPr/>
        </p:nvSpPr>
        <p:spPr>
          <a:xfrm>
            <a:off x="7753350" y="1771650"/>
            <a:ext cx="360045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多发生在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鼻甲手术后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：鼻腔过于宽大，黏膜与神经末梢减少，加温加湿、气流感知、鼻阻力同时失守。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文本框 408" descr="{&quot;isTemplate&quot;:true,&quot;type&quot;:&quot;text&quot;}"/>
          <p:cNvSpPr txBox="1"/>
          <p:nvPr/>
        </p:nvSpPr>
        <p:spPr>
          <a:xfrm>
            <a:off x="7753350" y="2933700"/>
            <a:ext cx="36004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1" name="文本框 409" descr="{&quot;isTemplate&quot;:true,&quot;type&quot;:&quot;text&quot;}"/>
          <p:cNvSpPr txBox="1"/>
          <p:nvPr/>
        </p:nvSpPr>
        <p:spPr>
          <a:xfrm>
            <a:off x="7753350" y="3867150"/>
            <a:ext cx="36004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下鼻甲全切术后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ENS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发生率（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个来源一致，含人民日报报道）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任意多边形 410"/>
          <p:cNvSpPr/>
          <p:nvPr/>
        </p:nvSpPr>
        <p:spPr>
          <a:xfrm>
            <a:off x="7753350" y="4467225"/>
            <a:ext cx="3600450" cy="1409700"/>
          </a:xfrm>
          <a:custGeom>
            <a:avLst/>
            <a:gdLst/>
            <a:ahLst/>
            <a:cxnLst/>
            <a:pathLst>
              <a:path w="378" h="148">
                <a:moveTo>
                  <a:pt x="0" y="0"/>
                </a:moveTo>
                <a:lnTo>
                  <a:pt x="378" y="0"/>
                </a:lnTo>
                <a:lnTo>
                  <a:pt x="378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53" name="文本框 411" descr="{&quot;isTemplate&quot;:true,&quot;type&quot;:&quot;text&quot;}"/>
          <p:cNvSpPr txBox="1"/>
          <p:nvPr/>
        </p:nvSpPr>
        <p:spPr>
          <a:xfrm>
            <a:off x="7753350" y="4610100"/>
            <a:ext cx="360045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「愿用一条胳膊或者一条腿换回一个健康的鼻子——四肢残缺还能得到别人的同情，可空鼻症却不被理解。」</a:t>
            </a:r>
            <a:endParaRPr lang="zh-CN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文本框 412" descr="{&quot;isTemplate&quot;:true,&quot;type&quot;:&quot;text&quot;}"/>
          <p:cNvSpPr txBox="1"/>
          <p:nvPr/>
        </p:nvSpPr>
        <p:spPr>
          <a:xfrm>
            <a:off x="7753350" y="5705475"/>
            <a:ext cx="3600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患者原声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健康时报报道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任意多边形 413"/>
          <p:cNvSpPr/>
          <p:nvPr/>
        </p:nvSpPr>
        <p:spPr>
          <a:xfrm>
            <a:off x="609600" y="619125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56" name="文本框 414" descr="{&quot;isTemplate&quot;:true,&quot;type&quot;:&quot;text&quot;}"/>
          <p:cNvSpPr txBox="1"/>
          <p:nvPr/>
        </p:nvSpPr>
        <p:spPr>
          <a:xfrm>
            <a:off x="609600" y="6305550"/>
            <a:ext cx="421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来源：多源交叉验证表（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2026-10-15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12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类来源，剔除不可溯源数字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文本框 415" descr="{&quot;isTemplate&quot;:true,&quot;type&quot;:&quot;text&quot;}"/>
          <p:cNvSpPr txBox="1"/>
          <p:nvPr/>
        </p:nvSpPr>
        <p:spPr>
          <a:xfrm>
            <a:off x="11125200" y="63055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4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矩形 4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460" name="矩形 418"/>
          <p:cNvSpPr/>
          <p:nvPr/>
        </p:nvSpPr>
        <p:spPr>
          <a:xfrm>
            <a:off x="0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61" name="矩形 419"/>
          <p:cNvSpPr/>
          <p:nvPr/>
        </p:nvSpPr>
        <p:spPr>
          <a:xfrm>
            <a:off x="7810500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62" name="文本框 420" descr="{&quot;isTemplate&quot;:true,&quot;type&quot;:&quot;text&quot;}"/>
          <p:cNvSpPr txBox="1"/>
          <p:nvPr/>
        </p:nvSpPr>
        <p:spPr>
          <a:xfrm>
            <a:off x="609600" y="381000"/>
            <a:ext cx="4457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21" descr="{&quot;isTemplate&quot;:true,&quot;type&quot;:&quot;text&quot;}"/>
          <p:cNvSpPr txBox="1"/>
          <p:nvPr/>
        </p:nvSpPr>
        <p:spPr>
          <a:xfrm>
            <a:off x="609600" y="609600"/>
            <a:ext cx="44577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最痛的不是「堵」，是「干」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圆角矩形 422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5" name="文本框 423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圆角矩形 424"/>
          <p:cNvSpPr/>
          <p:nvPr/>
        </p:nvSpPr>
        <p:spPr>
          <a:xfrm>
            <a:off x="609600" y="1257300"/>
            <a:ext cx="64198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7" name="文本框 425" descr="{&quot;isTemplate&quot;:true,&quot;type&quot;:&quot;text&quot;}"/>
          <p:cNvSpPr txBox="1"/>
          <p:nvPr/>
        </p:nvSpPr>
        <p:spPr>
          <a:xfrm>
            <a:off x="800100" y="1409700"/>
            <a:ext cx="603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ENS6Q 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六条目基线得分（</a:t>
            </a: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0–5 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分制，</a:t>
            </a: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n = 53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，多国在线招募）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68" name="427"/>
          <p:cNvGraphicFramePr/>
          <p:nvPr/>
        </p:nvGraphicFramePr>
        <p:xfrm>
          <a:off x="800100" y="1809750"/>
          <a:ext cx="603885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69" name="文本框 427" descr="{&quot;isTemplate&quot;:true,&quot;type&quot;:&quot;text&quot;}"/>
          <p:cNvSpPr txBox="1"/>
          <p:nvPr/>
        </p:nvSpPr>
        <p:spPr>
          <a:xfrm>
            <a:off x="7296150" y="1514475"/>
            <a:ext cx="4286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最痛的两项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28" descr="{&quot;isTemplate&quot;:true,&quot;type&quot;:&quot;text&quot;}"/>
          <p:cNvSpPr txBox="1"/>
          <p:nvPr/>
        </p:nvSpPr>
        <p:spPr>
          <a:xfrm>
            <a:off x="7296150" y="1724025"/>
            <a:ext cx="155257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4.07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文本框 429" descr="{&quot;isTemplate&quot;:true,&quot;type&quot;:&quot;text&quot;}"/>
          <p:cNvSpPr txBox="1"/>
          <p:nvPr/>
        </p:nvSpPr>
        <p:spPr>
          <a:xfrm>
            <a:off x="9001125" y="1724025"/>
            <a:ext cx="4191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干燥</a:t>
            </a:r>
            <a:endParaRPr lang="zh-CN" sz="16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文本框 430" descr="{&quot;isTemplate&quot;:true,&quot;type&quot;:&quot;text&quot;}"/>
          <p:cNvSpPr txBox="1"/>
          <p:nvPr/>
        </p:nvSpPr>
        <p:spPr>
          <a:xfrm>
            <a:off x="7296150" y="2638425"/>
            <a:ext cx="155257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4.02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31" descr="{&quot;isTemplate&quot;:true,&quot;type&quot;:&quot;text&quot;}"/>
          <p:cNvSpPr txBox="1"/>
          <p:nvPr/>
        </p:nvSpPr>
        <p:spPr>
          <a:xfrm>
            <a:off x="9001125" y="2638425"/>
            <a:ext cx="12573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感觉不到气流</a:t>
            </a:r>
            <a:endParaRPr lang="zh-CN" sz="16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圆角矩形 432"/>
          <p:cNvSpPr/>
          <p:nvPr/>
        </p:nvSpPr>
        <p:spPr>
          <a:xfrm>
            <a:off x="7324725" y="3667125"/>
            <a:ext cx="4286250" cy="1390650"/>
          </a:xfrm>
          <a:prstGeom prst="roundRect">
            <a:avLst>
              <a:gd name="adj" fmla="val 4110"/>
            </a:avLst>
          </a:prstGeom>
          <a:solidFill>
            <a:srgbClr val="F5A524">
              <a:alpha val="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75" name="任意多边形 433"/>
          <p:cNvSpPr/>
          <p:nvPr/>
        </p:nvSpPr>
        <p:spPr>
          <a:xfrm>
            <a:off x="7324725" y="3667125"/>
            <a:ext cx="4286250" cy="1390650"/>
          </a:xfrm>
          <a:custGeom>
            <a:avLst/>
            <a:gdLst/>
            <a:ahLst/>
            <a:cxnLst/>
            <a:pathLst>
              <a:path w="450" h="1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3"/>
                </a:lnTo>
                <a:cubicBezTo>
                  <a:pt x="3" y="144"/>
                  <a:pt x="4" y="146"/>
                  <a:pt x="5" y="146"/>
                </a:cubicBezTo>
                <a:cubicBezTo>
                  <a:pt x="2" y="146"/>
                  <a:pt x="0" y="143"/>
                  <a:pt x="0" y="1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>
            <a:pPr/>
            <a:endParaRPr/>
          </a:p>
        </p:txBody>
      </p:sp>
      <p:sp>
        <p:nvSpPr>
          <p:cNvPr id="476" name="文本框 434" descr="{&quot;isTemplate&quot;:true,&quot;type&quot;:&quot;text&quot;}"/>
          <p:cNvSpPr txBox="1"/>
          <p:nvPr/>
        </p:nvSpPr>
        <p:spPr>
          <a:xfrm>
            <a:off x="7515225" y="3838575"/>
            <a:ext cx="38766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干燥与气流感知是患者最痛的两项，却恰恰是现有</a:t>
            </a:r>
            <a:r>
              <a:rPr lang="zh-CN" sz="14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鼻腔填充类方案改善最弱</a:t>
            </a: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的一对——所以产品目标不能只定在「恢复通气」。</a:t>
            </a:r>
            <a:endParaRPr lang="zh-CN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35" descr="{&quot;isTemplate&quot;:true,&quot;type&quot;:&quot;text&quot;}"/>
          <p:cNvSpPr txBox="1"/>
          <p:nvPr/>
        </p:nvSpPr>
        <p:spPr>
          <a:xfrm>
            <a:off x="7296150" y="5210175"/>
            <a:ext cx="4286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出处：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Manji J, et al. </a:t>
            </a:r>
            <a:r>
              <a:rPr lang="en-US" sz="1125" i="1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Ann Otol Rhinol Laryngol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. 2019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（【实】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L1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同行评议）。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ENS6Q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满分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30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，总分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≥11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提示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ENS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任意多边形 436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79" name="文本框 437" descr="{&quot;isTemplate&quot;:true,&quot;type&quot;:&quot;text&quot;}"/>
          <p:cNvSpPr txBox="1"/>
          <p:nvPr/>
        </p:nvSpPr>
        <p:spPr>
          <a:xfrm>
            <a:off x="609600" y="6257925"/>
            <a:ext cx="4667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数据落点：产品的价值主张由「让鼻子通气」修正为「让黏膜重新被气流刺激」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文本框 438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矩形 4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483" name="图片 44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4" name="矩形 4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2000">
                <a:srgbClr val="0A1A2F">
                  <a:alpha val="93000"/>
                </a:srgbClr>
              </a:gs>
              <a:gs pos="80000">
                <a:srgbClr val="0A1A2F">
                  <a:alpha val="28000"/>
                </a:srgbClr>
              </a:gs>
              <a:gs pos="100000">
                <a:srgbClr val="0A1A2F">
                  <a:alpha val="6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485" name="矩形 443"/>
          <p:cNvSpPr/>
          <p:nvPr/>
        </p:nvSpPr>
        <p:spPr>
          <a:xfrm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86" name="文本框 444" descr="{&quot;isTemplate&quot;:true,&quot;type&quot;:&quot;text&quot;}"/>
          <p:cNvSpPr txBox="1"/>
          <p:nvPr/>
        </p:nvSpPr>
        <p:spPr>
          <a:xfrm>
            <a:off x="981075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45" descr="{&quot;isTemplate&quot;:true,&quot;type&quot;:&quot;text&quot;}"/>
          <p:cNvSpPr txBox="1"/>
          <p:nvPr/>
        </p:nvSpPr>
        <p:spPr>
          <a:xfrm>
            <a:off x="1971675" y="1828800"/>
            <a:ext cx="4000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46" descr="{&quot;isTemplate&quot;:true,&quot;type&quot;:&quot;text&quot;}"/>
          <p:cNvSpPr txBox="1"/>
          <p:nvPr/>
        </p:nvSpPr>
        <p:spPr>
          <a:xfrm>
            <a:off x="762000" y="2886075"/>
            <a:ext cx="7239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从一张</a:t>
            </a:r>
            <a:r>
              <a:rPr lang="en-US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，到一个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可以出示的数字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——把「影像正常但功能丧失」翻译成医生、家属都看得懂的客观证据。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圆角矩形 447"/>
          <p:cNvSpPr/>
          <p:nvPr/>
        </p:nvSpPr>
        <p:spPr>
          <a:xfrm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0" name="文本框 448" descr="{&quot;isTemplate&quot;:true,&quot;type&quot;:&quot;text&quot;}"/>
          <p:cNvSpPr txBox="1"/>
          <p:nvPr/>
        </p:nvSpPr>
        <p:spPr>
          <a:xfrm>
            <a:off x="904875" y="4019550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四步自动化链路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圆角矩形 449"/>
          <p:cNvSpPr/>
          <p:nvPr/>
        </p:nvSpPr>
        <p:spPr>
          <a:xfrm>
            <a:off x="23241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2" name="文本框 450" descr="{&quot;isTemplate&quot;:true,&quot;type&quot;:&quot;text&quot;}"/>
          <p:cNvSpPr txBox="1"/>
          <p:nvPr/>
        </p:nvSpPr>
        <p:spPr>
          <a:xfrm>
            <a:off x="2466975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三大功能指标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圆角矩形 451"/>
          <p:cNvSpPr/>
          <p:nvPr/>
        </p:nvSpPr>
        <p:spPr>
          <a:xfrm>
            <a:off x="372427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4" name="文本框 452" descr="{&quot;isTemplate&quot;:true,&quot;type&quot;:&quot;text&quot;}"/>
          <p:cNvSpPr txBox="1"/>
          <p:nvPr/>
        </p:nvSpPr>
        <p:spPr>
          <a:xfrm>
            <a:off x="3867150" y="4019550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零许可成本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文本框 453" descr="{&quot;isTemplate&quot;:true,&quot;type&quot;:&quot;text&quot;}"/>
          <p:cNvSpPr txBox="1"/>
          <p:nvPr/>
        </p:nvSpPr>
        <p:spPr>
          <a:xfrm>
            <a:off x="762000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文本框 454" descr="{&quot;isTemplate&quot;:true,&quot;type&quot;:&quot;text&quot;}"/>
          <p:cNvSpPr txBox="1"/>
          <p:nvPr/>
        </p:nvSpPr>
        <p:spPr>
          <a:xfrm>
            <a:off x="762000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P06 – P09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55" descr="{&quot;isTemplate&quot;:true,&quot;type&quot;:&quot;text&quot;}"/>
          <p:cNvSpPr txBox="1"/>
          <p:nvPr/>
        </p:nvSpPr>
        <p:spPr>
          <a:xfrm>
            <a:off x="2085975" y="4638675"/>
            <a:ext cx="3838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56" descr="{&quot;isTemplate&quot;:true,&quot;type&quot;:&quot;text&quot;}"/>
          <p:cNvSpPr txBox="1"/>
          <p:nvPr/>
        </p:nvSpPr>
        <p:spPr>
          <a:xfrm>
            <a:off x="2085975" y="4838700"/>
            <a:ext cx="3838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产品是什么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如何使用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可支付性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圆角矩形 457"/>
          <p:cNvSpPr/>
          <p:nvPr/>
        </p:nvSpPr>
        <p:spPr>
          <a:xfrm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0" name="文本框 458" descr="{&quot;isTemplate&quot;:true,&quot;type&quot;:&quot;text&quot;}"/>
          <p:cNvSpPr txBox="1"/>
          <p:nvPr/>
        </p:nvSpPr>
        <p:spPr>
          <a:xfrm>
            <a:off x="762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圆角矩形 459"/>
          <p:cNvSpPr/>
          <p:nvPr/>
        </p:nvSpPr>
        <p:spPr>
          <a:xfrm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502" name="文本框 460" descr="{&quot;isTemplate&quot;:true,&quot;type&quot;:&quot;text&quot;}"/>
          <p:cNvSpPr txBox="1"/>
          <p:nvPr/>
        </p:nvSpPr>
        <p:spPr>
          <a:xfrm>
            <a:off x="2924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圆角矩形 461"/>
          <p:cNvSpPr/>
          <p:nvPr/>
        </p:nvSpPr>
        <p:spPr>
          <a:xfrm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4" name="文本框 462" descr="{&quot;isTemplate&quot;:true,&quot;type&quot;:&quot;text&quot;}"/>
          <p:cNvSpPr txBox="1"/>
          <p:nvPr/>
        </p:nvSpPr>
        <p:spPr>
          <a:xfrm>
            <a:off x="5086350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圆角矩形 463"/>
          <p:cNvSpPr/>
          <p:nvPr/>
        </p:nvSpPr>
        <p:spPr>
          <a:xfrm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6" name="文本框 464" descr="{&quot;isTemplate&quot;:true,&quot;type&quot;:&quot;text&quot;}"/>
          <p:cNvSpPr txBox="1"/>
          <p:nvPr/>
        </p:nvSpPr>
        <p:spPr>
          <a:xfrm>
            <a:off x="7239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圆角矩形 465"/>
          <p:cNvSpPr/>
          <p:nvPr/>
        </p:nvSpPr>
        <p:spPr>
          <a:xfrm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8" name="文本框 466" descr="{&quot;isTemplate&quot;:true,&quot;type&quot;:&quot;text&quot;}"/>
          <p:cNvSpPr txBox="1"/>
          <p:nvPr/>
        </p:nvSpPr>
        <p:spPr>
          <a:xfrm>
            <a:off x="9401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矩形 4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511" name="矩形 469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12" name="矩形 470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13" name="文本框 471" descr="{&quot;isTemplate&quot;:true,&quot;type&quot;:&quot;text&quot;}"/>
          <p:cNvSpPr txBox="1"/>
          <p:nvPr/>
        </p:nvSpPr>
        <p:spPr>
          <a:xfrm>
            <a:off x="609600" y="381000"/>
            <a:ext cx="4324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472" descr="{&quot;isTemplate&quot;:true,&quot;type&quot;:&quot;text&quot;}"/>
          <p:cNvSpPr txBox="1"/>
          <p:nvPr/>
        </p:nvSpPr>
        <p:spPr>
          <a:xfrm>
            <a:off x="609600" y="609600"/>
            <a:ext cx="43243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一句话：</a:t>
            </a:r>
            <a:r>
              <a:rPr lang="en-US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CT </a:t>
            </a: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进，功能数字出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473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6" name="文本框 474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圆角矩形 475"/>
          <p:cNvSpPr/>
          <p:nvPr/>
        </p:nvSpPr>
        <p:spPr>
          <a:xfrm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8" name="文本框 476" descr="{&quot;isTemplate&quot;:true,&quot;type&quot;:&quot;text&quot;}"/>
          <p:cNvSpPr txBox="1"/>
          <p:nvPr/>
        </p:nvSpPr>
        <p:spPr>
          <a:xfrm>
            <a:off x="800100" y="1390650"/>
            <a:ext cx="10591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鼻腔功能评估管线：一条命令，六个阶段，无需人工点击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9" name="图片 4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800100" y="1600200"/>
            <a:ext cx="10515600" cy="1771650"/>
          </a:xfrm>
          <a:prstGeom prst="rect">
            <a:avLst/>
          </a:prstGeom>
        </p:spPr>
      </p:pic>
      <p:sp>
        <p:nvSpPr>
          <p:cNvPr id="520" name="圆角矩形 478"/>
          <p:cNvSpPr/>
          <p:nvPr/>
        </p:nvSpPr>
        <p:spPr>
          <a:xfrm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1" name="文本框 479" descr="{&quot;isTemplate&quot;:true,&quot;type&quot;:&quot;text&quot;}"/>
          <p:cNvSpPr txBox="1"/>
          <p:nvPr/>
        </p:nvSpPr>
        <p:spPr>
          <a:xfrm>
            <a:off x="819150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 </a:t>
            </a: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480" descr="{&quot;isTemplate&quot;:true,&quot;type&quot;:&quot;text&quot;}"/>
          <p:cNvSpPr txBox="1"/>
          <p:nvPr/>
        </p:nvSpPr>
        <p:spPr>
          <a:xfrm>
            <a:off x="819150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人工交互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481" descr="{&quot;isTemplate&quot;:true,&quot;type&quot;:&quot;text&quot;}"/>
          <p:cNvSpPr txBox="1"/>
          <p:nvPr/>
        </p:nvSpPr>
        <p:spPr>
          <a:xfrm>
            <a:off x="819150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不需要在三维软件里手工点击分割、封口、裁剪；分割与开口由物理判据自动裁定，每一步留下可复核的判据与指纹。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圆角矩形 482"/>
          <p:cNvSpPr/>
          <p:nvPr/>
        </p:nvSpPr>
        <p:spPr>
          <a:xfrm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5" name="文本框 483" descr="{&quot;isTemplate&quot;:true,&quot;type&quot;:&quot;text&quot;}"/>
          <p:cNvSpPr txBox="1"/>
          <p:nvPr/>
        </p:nvSpPr>
        <p:spPr>
          <a:xfrm>
            <a:off x="4524375" y="3981450"/>
            <a:ext cx="31432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484" descr="{&quot;isTemplate&quot;:true,&quot;type&quot;:&quot;text&quot;}"/>
          <p:cNvSpPr txBox="1"/>
          <p:nvPr/>
        </p:nvSpPr>
        <p:spPr>
          <a:xfrm>
            <a:off x="4524375" y="4381500"/>
            <a:ext cx="3143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开源栈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485" descr="{&quot;isTemplate&quot;:true,&quot;type&quot;:&quot;text&quot;}"/>
          <p:cNvSpPr txBox="1"/>
          <p:nvPr/>
        </p:nvSpPr>
        <p:spPr>
          <a:xfrm>
            <a:off x="4524375" y="4924425"/>
            <a:ext cx="314325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SimpleITK / Netgen / OpenFOAM / VTK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全开源，零商业许可成本；同一份输入在任何机器上可重放同一条命令。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8" name="圆角矩形 486"/>
          <p:cNvSpPr/>
          <p:nvPr/>
        </p:nvSpPr>
        <p:spPr>
          <a:xfrm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9" name="文本框 487" descr="{&quot;isTemplate&quot;:true,&quot;type&quot;:&quot;text&quot;}"/>
          <p:cNvSpPr txBox="1"/>
          <p:nvPr/>
        </p:nvSpPr>
        <p:spPr>
          <a:xfrm>
            <a:off x="8239125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</a:t>
            </a: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文本框 488" descr="{&quot;isTemplate&quot;:true,&quot;type&quot;:&quot;text&quot;}"/>
          <p:cNvSpPr txBox="1"/>
          <p:nvPr/>
        </p:nvSpPr>
        <p:spPr>
          <a:xfrm>
            <a:off x="8239125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功能指标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489" descr="{&quot;isTemplate&quot;:true,&quot;type&quot;:&quot;text&quot;}"/>
          <p:cNvSpPr txBox="1"/>
          <p:nvPr/>
        </p:nvSpPr>
        <p:spPr>
          <a:xfrm>
            <a:off x="8239125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鼻阻力、壁面剪应力、后鼻孔温湿度与热通量——分别对应患者的三个核心主诉，而不是泛泛的「流场图」。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任意多边形 490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33" name="文本框 491" descr="{&quot;isTemplate&quot;:true,&quot;type&quot;:&quot;text&quot;}"/>
          <p:cNvSpPr txBox="1"/>
          <p:nvPr/>
        </p:nvSpPr>
        <p:spPr>
          <a:xfrm>
            <a:off x="609600" y="6257925"/>
            <a:ext cx="4600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数据落点：单例处理从人工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30–60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分钟降到一条命令，且过程可复现、可审计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文本框 492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矩形 4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537" name="矩形 495"/>
          <p:cNvSpPr/>
          <p:nvPr/>
        </p:nvSpPr>
        <p:spPr>
          <a:xfrm>
            <a:off x="0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38" name="矩形 496"/>
          <p:cNvSpPr/>
          <p:nvPr/>
        </p:nvSpPr>
        <p:spPr>
          <a:xfrm>
            <a:off x="7810500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39" name="文本框 497" descr="{&quot;isTemplate&quot;:true,&quot;type&quot;:&quot;text&quot;}"/>
          <p:cNvSpPr txBox="1"/>
          <p:nvPr/>
        </p:nvSpPr>
        <p:spPr>
          <a:xfrm>
            <a:off x="609600" y="381000"/>
            <a:ext cx="3771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498" descr="{&quot;isTemplate&quot;:true,&quot;type&quot;:&quot;text&quot;}"/>
          <p:cNvSpPr txBox="1"/>
          <p:nvPr/>
        </p:nvSpPr>
        <p:spPr>
          <a:xfrm>
            <a:off x="609600" y="609600"/>
            <a:ext cx="37719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三个数字，回答三个主诉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圆角矩形 499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2" name="文本框 500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圆角矩形 501"/>
          <p:cNvSpPr/>
          <p:nvPr/>
        </p:nvSpPr>
        <p:spPr>
          <a:xfrm>
            <a:off x="609600" y="1257300"/>
            <a:ext cx="3552825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4" name="文本框 502" descr="{&quot;isTemplate&quot;:true,&quot;type&quot;:&quot;text&quot;}"/>
          <p:cNvSpPr txBox="1"/>
          <p:nvPr/>
        </p:nvSpPr>
        <p:spPr>
          <a:xfrm>
            <a:off x="838200" y="146685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R = Δp / Q</a:t>
            </a:r>
            <a:endParaRPr lang="en-US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03" descr="{&quot;isTemplate&quot;:true,&quot;type&quot;:&quot;text&quot;}"/>
          <p:cNvSpPr txBox="1"/>
          <p:nvPr/>
        </p:nvSpPr>
        <p:spPr>
          <a:xfrm>
            <a:off x="838200" y="1714500"/>
            <a:ext cx="30956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0.0685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504" descr="{&quot;isTemplate&quot;:true,&quot;type&quot;:&quot;text&quot;}"/>
          <p:cNvSpPr txBox="1"/>
          <p:nvPr/>
        </p:nvSpPr>
        <p:spPr>
          <a:xfrm>
            <a:off x="838200" y="266700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Pa·s/mL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扩展域实测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任意多边形 505"/>
          <p:cNvSpPr/>
          <p:nvPr/>
        </p:nvSpPr>
        <p:spPr>
          <a:xfrm>
            <a:off x="838200" y="3095625"/>
            <a:ext cx="3095625" cy="971550"/>
          </a:xfrm>
          <a:custGeom>
            <a:avLst/>
            <a:gdLst/>
            <a:ahLst/>
            <a:cxnLst/>
            <a:pathLst>
              <a:path w="325" h="102">
                <a:moveTo>
                  <a:pt x="0" y="0"/>
                </a:moveTo>
                <a:lnTo>
                  <a:pt x="325" y="0"/>
                </a:lnTo>
                <a:lnTo>
                  <a:pt x="325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48" name="文本框 506" descr="{&quot;isTemplate&quot;:true,&quot;type&quot;:&quot;text&quot;}"/>
          <p:cNvSpPr txBox="1"/>
          <p:nvPr/>
        </p:nvSpPr>
        <p:spPr>
          <a:xfrm>
            <a:off x="838200" y="3238500"/>
            <a:ext cx="3095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替患者回答「明明通气，却吸不到氧」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07" descr="{&quot;isTemplate&quot;:true,&quot;type&quot;:&quot;text&quot;}"/>
          <p:cNvSpPr txBox="1"/>
          <p:nvPr/>
        </p:nvSpPr>
        <p:spPr>
          <a:xfrm>
            <a:off x="838200" y="3505200"/>
            <a:ext cx="30956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气流整体「太好走」——把鼻阻力量化出来，就是矛盾性鼻塞的客观读数。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08"/>
          <p:cNvSpPr/>
          <p:nvPr/>
        </p:nvSpPr>
        <p:spPr>
          <a:xfrm>
            <a:off x="4314825" y="1257300"/>
            <a:ext cx="3562350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1" name="文本框 509" descr="{&quot;isTemplate&quot;:true,&quot;type&quot;:&quot;text&quot;}"/>
          <p:cNvSpPr txBox="1"/>
          <p:nvPr/>
        </p:nvSpPr>
        <p:spPr>
          <a:xfrm>
            <a:off x="4543425" y="1466850"/>
            <a:ext cx="3105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壁面剪应力</a:t>
            </a:r>
            <a:r>
              <a:rPr lang="en-US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WSS</a:t>
            </a:r>
            <a:endParaRPr lang="en-US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文本框 510" descr="{&quot;isTemplate&quot;:true,&quot;type&quot;:&quot;text&quot;}"/>
          <p:cNvSpPr txBox="1"/>
          <p:nvPr/>
        </p:nvSpPr>
        <p:spPr>
          <a:xfrm>
            <a:off x="4543425" y="1714500"/>
            <a:ext cx="31051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1.49</a:t>
            </a:r>
            <a:endParaRPr lang="en-US" sz="5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11" descr="{&quot;isTemplate&quot;:true,&quot;type&quot;:&quot;text&quot;}"/>
          <p:cNvSpPr txBox="1"/>
          <p:nvPr/>
        </p:nvSpPr>
        <p:spPr>
          <a:xfrm>
            <a:off x="4543425" y="2667000"/>
            <a:ext cx="3105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×10⁻³ N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积分力｜中位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0.068 Pa</a:t>
            </a:r>
            <a:endParaRPr lang="en-US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任意多边形 512"/>
          <p:cNvSpPr/>
          <p:nvPr/>
        </p:nvSpPr>
        <p:spPr>
          <a:xfrm>
            <a:off x="4543425" y="3095625"/>
            <a:ext cx="3105150" cy="971550"/>
          </a:xfrm>
          <a:custGeom>
            <a:avLst/>
            <a:gdLst/>
            <a:ahLst/>
            <a:cxnLst/>
            <a:pathLst>
              <a:path w="326" h="102">
                <a:moveTo>
                  <a:pt x="0" y="0"/>
                </a:moveTo>
                <a:lnTo>
                  <a:pt x="326" y="0"/>
                </a:lnTo>
                <a:lnTo>
                  <a:pt x="32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55" name="文本框 513" descr="{&quot;isTemplate&quot;:true,&quot;type&quot;:&quot;text&quot;}"/>
          <p:cNvSpPr txBox="1"/>
          <p:nvPr/>
        </p:nvSpPr>
        <p:spPr>
          <a:xfrm>
            <a:off x="4543425" y="3238500"/>
            <a:ext cx="3105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替患者回答「感觉不到空气在流动」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文本框 514" descr="{&quot;isTemplate&quot;:true,&quot;type&quot;:&quot;text&quot;}"/>
          <p:cNvSpPr txBox="1"/>
          <p:nvPr/>
        </p:nvSpPr>
        <p:spPr>
          <a:xfrm>
            <a:off x="4543425" y="3505200"/>
            <a:ext cx="3105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黏膜靠剪应力被感知；宽大鼻腔里气流贴壁溜走——这正是气流感丧失的机制。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圆角矩形 515"/>
          <p:cNvSpPr/>
          <p:nvPr/>
        </p:nvSpPr>
        <p:spPr>
          <a:xfrm>
            <a:off x="8029575" y="1257300"/>
            <a:ext cx="3552825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文本框 516" descr="{&quot;isTemplate&quot;:true,&quot;type&quot;:&quot;text&quot;}"/>
          <p:cNvSpPr txBox="1"/>
          <p:nvPr/>
        </p:nvSpPr>
        <p:spPr>
          <a:xfrm>
            <a:off x="8258175" y="146685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后鼻孔温湿度</a:t>
            </a:r>
            <a:r>
              <a:rPr lang="en-US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热通量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文本框 517" descr="{&quot;isTemplate&quot;:true,&quot;type&quot;:&quot;text&quot;}"/>
          <p:cNvSpPr txBox="1"/>
          <p:nvPr/>
        </p:nvSpPr>
        <p:spPr>
          <a:xfrm>
            <a:off x="8258175" y="1714500"/>
            <a:ext cx="30956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32.2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18" descr="{&quot;isTemplate&quot;:true,&quot;type&quot;:&quot;text&quot;}"/>
          <p:cNvSpPr txBox="1"/>
          <p:nvPr/>
        </p:nvSpPr>
        <p:spPr>
          <a:xfrm>
            <a:off x="8258175" y="266700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℃ / 93.5 %RH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｜健康对照实测基准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1" name="任意多边形 519"/>
          <p:cNvSpPr/>
          <p:nvPr/>
        </p:nvSpPr>
        <p:spPr>
          <a:xfrm>
            <a:off x="8258175" y="3095625"/>
            <a:ext cx="3095625" cy="971550"/>
          </a:xfrm>
          <a:custGeom>
            <a:avLst/>
            <a:gdLst/>
            <a:ahLst/>
            <a:cxnLst/>
            <a:pathLst>
              <a:path w="325" h="102">
                <a:moveTo>
                  <a:pt x="0" y="0"/>
                </a:moveTo>
                <a:lnTo>
                  <a:pt x="325" y="0"/>
                </a:lnTo>
                <a:lnTo>
                  <a:pt x="325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62" name="文本框 520" descr="{&quot;isTemplate&quot;:true,&quot;type&quot;:&quot;text&quot;}"/>
          <p:cNvSpPr txBox="1"/>
          <p:nvPr/>
        </p:nvSpPr>
        <p:spPr>
          <a:xfrm>
            <a:off x="8258175" y="3238500"/>
            <a:ext cx="3095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替患者回答「干、结痂、烧灼」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21" descr="{&quot;isTemplate&quot;:true,&quot;type&quot;:&quot;text&quot;}"/>
          <p:cNvSpPr txBox="1"/>
          <p:nvPr/>
        </p:nvSpPr>
        <p:spPr>
          <a:xfrm>
            <a:off x="8258175" y="3505200"/>
            <a:ext cx="30956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文献把「热通量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&gt; 50 W/m²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黏膜面积占比」列为与症状相关性最强的指标。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圆角矩形 522"/>
          <p:cNvSpPr/>
          <p:nvPr/>
        </p:nvSpPr>
        <p:spPr>
          <a:xfrm>
            <a:off x="638175" y="4419600"/>
            <a:ext cx="10972800" cy="1600200"/>
          </a:xfrm>
          <a:prstGeom prst="roundRect">
            <a:avLst>
              <a:gd name="adj" fmla="val 4762"/>
            </a:avLst>
          </a:prstGeom>
          <a:solidFill>
            <a:srgbClr val="22D3EE">
              <a:alpha val="7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65" name="任意多边形 523"/>
          <p:cNvSpPr/>
          <p:nvPr/>
        </p:nvSpPr>
        <p:spPr>
          <a:xfrm>
            <a:off x="638175" y="4419600"/>
            <a:ext cx="10972800" cy="1600200"/>
          </a:xfrm>
          <a:custGeom>
            <a:avLst/>
            <a:gdLst/>
            <a:ahLst/>
            <a:cxnLst/>
            <a:pathLst>
              <a:path w="1152" h="16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63"/>
                </a:lnTo>
                <a:cubicBezTo>
                  <a:pt x="3" y="165"/>
                  <a:pt x="5" y="167"/>
                  <a:pt x="7" y="168"/>
                </a:cubicBezTo>
                <a:cubicBezTo>
                  <a:pt x="3" y="167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566" name="文本框 524" descr="{&quot;isTemplate&quot;:true,&quot;type&quot;:&quot;text&quot;}"/>
          <p:cNvSpPr txBox="1"/>
          <p:nvPr/>
        </p:nvSpPr>
        <p:spPr>
          <a:xfrm>
            <a:off x="904875" y="4991100"/>
            <a:ext cx="1905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为什么是这三个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525" descr="{&quot;isTemplate&quot;:true,&quot;type&quot;:&quot;text&quot;}"/>
          <p:cNvSpPr txBox="1"/>
          <p:nvPr/>
        </p:nvSpPr>
        <p:spPr>
          <a:xfrm>
            <a:off x="904875" y="5219700"/>
            <a:ext cx="1905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不是「好看的流场图」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526" descr="{&quot;isTemplate&quot;:true,&quot;type&quot;:&quot;text&quot;}"/>
          <p:cNvSpPr txBox="1"/>
          <p:nvPr/>
        </p:nvSpPr>
        <p:spPr>
          <a:xfrm>
            <a:off x="3076575" y="4686300"/>
            <a:ext cx="8239125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常规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报告输出的是速度云图与压降曲线，患者看不懂、医生用不上。我们做的是一次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需求到指标的翻译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：患者主诉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可量化的功能量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可比较的数值。三指标分别锚定「堵」「感受不到」「干」三大主诉，其中热通量与症状的相关性在文献中最强（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r ≈ −0.76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4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任意多边形 527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70" name="文本框 528" descr="{&quot;isTemplate&quot;:true,&quot;type&quot;:&quot;text&quot;}"/>
          <p:cNvSpPr txBox="1"/>
          <p:nvPr/>
        </p:nvSpPr>
        <p:spPr>
          <a:xfrm>
            <a:off x="609600" y="6257925"/>
            <a:ext cx="6562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数值为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b15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扩展域全链实测（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T-058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）；温湿度为健康对照实测基准，本项目为工程尺度验证，不构成临床诊断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29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574" name="矩形 532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5" name="矩形 533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6" name="文本框 534" descr="{&quot;isTemplate&quot;:true,&quot;type&quot;:&quot;text&quot;}"/>
          <p:cNvSpPr txBox="1"/>
          <p:nvPr/>
        </p:nvSpPr>
        <p:spPr>
          <a:xfrm>
            <a:off x="609600" y="381000"/>
            <a:ext cx="411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35" descr="{&quot;isTemplate&quot;:true,&quot;type&quot;:&quot;text&quot;}"/>
          <p:cNvSpPr txBox="1"/>
          <p:nvPr/>
        </p:nvSpPr>
        <p:spPr>
          <a:xfrm>
            <a:off x="609600" y="609600"/>
            <a:ext cx="41148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怎么用，以及为什么付得起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536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9" name="文本框 537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文本框 538" descr="{&quot;isTemplate&quot;:true,&quot;type&quot;:&quot;text&quot;}"/>
          <p:cNvSpPr txBox="1"/>
          <p:nvPr/>
        </p:nvSpPr>
        <p:spPr>
          <a:xfrm>
            <a:off x="609600" y="1800225"/>
            <a:ext cx="6419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使用路径：四步，全部在浏览器里完成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圆角矩形 539"/>
          <p:cNvSpPr/>
          <p:nvPr/>
        </p:nvSpPr>
        <p:spPr>
          <a:xfrm>
            <a:off x="609600" y="2124075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2" name="圆角矩形 540"/>
          <p:cNvSpPr/>
          <p:nvPr/>
        </p:nvSpPr>
        <p:spPr>
          <a:xfrm>
            <a:off x="800100" y="23145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文本框 541" descr="{&quot;isTemplate&quot;:true,&quot;type&quot;:&quot;text&quot;}"/>
          <p:cNvSpPr txBox="1"/>
          <p:nvPr/>
        </p:nvSpPr>
        <p:spPr>
          <a:xfrm>
            <a:off x="942975" y="240982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42" descr="{&quot;isTemplate&quot;:true,&quot;type&quot;:&quot;text&quot;}"/>
          <p:cNvSpPr txBox="1"/>
          <p:nvPr/>
        </p:nvSpPr>
        <p:spPr>
          <a:xfrm>
            <a:off x="1352550" y="2276475"/>
            <a:ext cx="36480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文本框 543" descr="{&quot;isTemplate&quot;:true,&quot;type&quot;:&quot;text&quot;}"/>
          <p:cNvSpPr txBox="1"/>
          <p:nvPr/>
        </p:nvSpPr>
        <p:spPr>
          <a:xfrm>
            <a:off x="1352550" y="2533650"/>
            <a:ext cx="3648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患者鼻窦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DICOM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序列，系统自动校层厚与方位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圆角矩形 544"/>
          <p:cNvSpPr/>
          <p:nvPr/>
        </p:nvSpPr>
        <p:spPr>
          <a:xfrm>
            <a:off x="609600" y="2990850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7" name="圆角矩形 545"/>
          <p:cNvSpPr/>
          <p:nvPr/>
        </p:nvSpPr>
        <p:spPr>
          <a:xfrm>
            <a:off x="800100" y="318135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8" name="文本框 546" descr="{&quot;isTemplate&quot;:true,&quot;type&quot;:&quot;text&quot;}"/>
          <p:cNvSpPr txBox="1"/>
          <p:nvPr/>
        </p:nvSpPr>
        <p:spPr>
          <a:xfrm>
            <a:off x="942975" y="327660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文本框 547" descr="{&quot;isTemplate&quot;:true,&quot;type&quot;:&quot;text&quot;}"/>
          <p:cNvSpPr txBox="1"/>
          <p:nvPr/>
        </p:nvSpPr>
        <p:spPr>
          <a:xfrm>
            <a:off x="1352550" y="3143250"/>
            <a:ext cx="403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自动建模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0" name="文本框 548" descr="{&quot;isTemplate&quot;:true,&quot;type&quot;:&quot;text&quot;}"/>
          <p:cNvSpPr txBox="1"/>
          <p:nvPr/>
        </p:nvSpPr>
        <p:spPr>
          <a:xfrm>
            <a:off x="1352550" y="3400425"/>
            <a:ext cx="4038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分割鼻腔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鼻咽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口咽、重建表面、自动定位鼻孔与截断出口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圆角矩形 549"/>
          <p:cNvSpPr/>
          <p:nvPr/>
        </p:nvSpPr>
        <p:spPr>
          <a:xfrm>
            <a:off x="609600" y="3857625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2" name="圆角矩形 550"/>
          <p:cNvSpPr/>
          <p:nvPr/>
        </p:nvSpPr>
        <p:spPr>
          <a:xfrm>
            <a:off x="800100" y="404812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3" name="文本框 551" descr="{&quot;isTemplate&quot;:true,&quot;type&quot;:&quot;text&quot;}"/>
          <p:cNvSpPr txBox="1"/>
          <p:nvPr/>
        </p:nvSpPr>
        <p:spPr>
          <a:xfrm>
            <a:off x="942975" y="414337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52" descr="{&quot;isTemplate&quot;:true,&quot;type&quot;:&quot;text&quot;}"/>
          <p:cNvSpPr txBox="1"/>
          <p:nvPr/>
        </p:nvSpPr>
        <p:spPr>
          <a:xfrm>
            <a:off x="1352550" y="4010025"/>
            <a:ext cx="4705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一键求解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文本框 553" descr="{&quot;isTemplate&quot;:true,&quot;type&quot;:&quot;text&quot;}"/>
          <p:cNvSpPr txBox="1"/>
          <p:nvPr/>
        </p:nvSpPr>
        <p:spPr>
          <a:xfrm>
            <a:off x="1352550" y="4267200"/>
            <a:ext cx="4705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体网格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稳态层流求解（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15 L/min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固定流量入口），自动提取三指标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圆角矩形 554"/>
          <p:cNvSpPr/>
          <p:nvPr/>
        </p:nvSpPr>
        <p:spPr>
          <a:xfrm>
            <a:off x="609600" y="4724400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7" name="圆角矩形 555"/>
          <p:cNvSpPr/>
          <p:nvPr/>
        </p:nvSpPr>
        <p:spPr>
          <a:xfrm>
            <a:off x="800100" y="49149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F5A52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8" name="文本框 556" descr="{&quot;isTemplate&quot;:true,&quot;type&quot;:&quot;text&quot;}"/>
          <p:cNvSpPr txBox="1"/>
          <p:nvPr/>
        </p:nvSpPr>
        <p:spPr>
          <a:xfrm>
            <a:off x="942975" y="501015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7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9" name="文本框 557" descr="{&quot;isTemplate&quot;:true,&quot;type&quot;:&quot;text&quot;}"/>
          <p:cNvSpPr txBox="1"/>
          <p:nvPr/>
        </p:nvSpPr>
        <p:spPr>
          <a:xfrm>
            <a:off x="1352550" y="4876800"/>
            <a:ext cx="45243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拿到可读报告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文本框 558" descr="{&quot;isTemplate&quot;:true,&quot;type&quot;:&quot;text&quot;}"/>
          <p:cNvSpPr txBox="1"/>
          <p:nvPr/>
        </p:nvSpPr>
        <p:spPr>
          <a:xfrm>
            <a:off x="1352550" y="5133975"/>
            <a:ext cx="4524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三指标数值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三维气流流线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与参考带的对照，可直接向医生出示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圆角矩形 559"/>
          <p:cNvSpPr/>
          <p:nvPr/>
        </p:nvSpPr>
        <p:spPr>
          <a:xfrm>
            <a:off x="7296150" y="1257300"/>
            <a:ext cx="4286250" cy="4762500"/>
          </a:xfrm>
          <a:prstGeom prst="roundRect">
            <a:avLst>
              <a:gd name="adj" fmla="val 266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F5A524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2" name="文本框 560" descr="{&quot;isTemplate&quot;:true,&quot;type&quot;:&quot;text&quot;}"/>
          <p:cNvSpPr txBox="1"/>
          <p:nvPr/>
        </p:nvSpPr>
        <p:spPr>
          <a:xfrm>
            <a:off x="7524750" y="1485900"/>
            <a:ext cx="3829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成本与可支付性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561" descr="{&quot;isTemplate&quot;:true,&quot;type&quot;:&quot;text&quot;}"/>
          <p:cNvSpPr txBox="1"/>
          <p:nvPr/>
        </p:nvSpPr>
        <p:spPr>
          <a:xfrm>
            <a:off x="7524750" y="20288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许可成本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0</a:t>
            </a:r>
            <a:endParaRPr lang="en-US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562" descr="{&quot;isTemplate&quot;:true,&quot;type&quot;:&quot;text&quot;}"/>
          <p:cNvSpPr txBox="1"/>
          <p:nvPr/>
        </p:nvSpPr>
        <p:spPr>
          <a:xfrm>
            <a:off x="7524750" y="22764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全链路开源（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SimpleITK / Netgen / OpenFOAM / VTK /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自研管线），不依赖任何商业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许可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文本框 563" descr="{&quot;isTemplate&quot;:true,&quot;type&quot;:&quot;text&quot;}"/>
          <p:cNvSpPr txBox="1"/>
          <p:nvPr/>
        </p:nvSpPr>
        <p:spPr>
          <a:xfrm>
            <a:off x="7524750" y="29432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算力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一台工作站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564" descr="{&quot;isTemplate&quot;:true,&quot;type&quot;:&quot;text&quot;}"/>
          <p:cNvSpPr txBox="1"/>
          <p:nvPr/>
        </p:nvSpPr>
        <p:spPr>
          <a:xfrm>
            <a:off x="7524750" y="31908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单例体网格百万级单元、稳态求解可在普通多核工作站完成；批量队列可上云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文本框 565" descr="{&quot;isTemplate&quot;:true,&quot;type&quot;:&quot;text&quot;}"/>
          <p:cNvSpPr txBox="1"/>
          <p:nvPr/>
        </p:nvSpPr>
        <p:spPr>
          <a:xfrm>
            <a:off x="7524750" y="38576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人力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一次命令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8" name="文本框 566" descr="{&quot;isTemplate&quot;:true,&quot;type&quot;:&quot;text&quot;}"/>
          <p:cNvSpPr txBox="1"/>
          <p:nvPr/>
        </p:nvSpPr>
        <p:spPr>
          <a:xfrm>
            <a:off x="7524750" y="41052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免去三维软件里逐例手工分割与封口，人力成本从「工程师小时」降到「复核一次」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任意多边形 567"/>
          <p:cNvSpPr/>
          <p:nvPr/>
        </p:nvSpPr>
        <p:spPr>
          <a:xfrm>
            <a:off x="7524750" y="5019675"/>
            <a:ext cx="3829050" cy="781050"/>
          </a:xfrm>
          <a:custGeom>
            <a:avLst/>
            <a:gdLst/>
            <a:ahLst/>
            <a:cxnLst/>
            <a:pathLst>
              <a:path w="402" h="82">
                <a:moveTo>
                  <a:pt x="0" y="0"/>
                </a:moveTo>
                <a:lnTo>
                  <a:pt x="402" y="0"/>
                </a:lnTo>
                <a:lnTo>
                  <a:pt x="40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10" name="文本框 568" descr="{&quot;isTemplate&quot;:true,&quot;type&quot;:&quot;text&quot;}"/>
          <p:cNvSpPr txBox="1"/>
          <p:nvPr/>
        </p:nvSpPr>
        <p:spPr>
          <a:xfrm>
            <a:off x="7524750" y="5162550"/>
            <a:ext cx="38290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对科室而言，这是一条</a:t>
            </a:r>
            <a:r>
              <a:rPr lang="zh-CN" sz="12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不需要新增预算科目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就能跑起来的评估流程。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任意多边形 569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12" name="文本框 570" descr="{&quot;isTemplate&quot;:true,&quot;type&quot;:&quot;text&quot;}"/>
          <p:cNvSpPr txBox="1"/>
          <p:nvPr/>
        </p:nvSpPr>
        <p:spPr>
          <a:xfrm>
            <a:off x="609600" y="6257925"/>
            <a:ext cx="5895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数据落点：成本结构的瓶颈不是许可费，而是「人」——自动化的直接收益就是把人力从流程里拿掉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文本框 571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2000">
                <a:srgbClr val="0A1A2F">
                  <a:alpha val="92000"/>
                </a:srgbClr>
              </a:gs>
              <a:gs pos="80000">
                <a:srgbClr val="0A1A2F">
                  <a:alpha val="30000"/>
                </a:srgbClr>
              </a:gs>
              <a:gs pos="100000">
                <a:srgbClr val="0A1A2F">
                  <a:alpha val="6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981075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1971675" y="1828800"/>
            <a:ext cx="4572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762000" y="2886075"/>
            <a:ext cx="74295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一个月，</a:t>
            </a:r>
            <a:r>
              <a:rPr lang="en-US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59 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，每一次失败都被写成了判据——我们改过三次「前提」，每一次都留下了代价记录。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04875" y="4019550"/>
            <a:ext cx="1047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59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23837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2381250" y="4019550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三次改前提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47662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3619500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四个星期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762000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762000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P10 – P12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2085975" y="4638675"/>
            <a:ext cx="3257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2085975" y="4838700"/>
            <a:ext cx="3257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如何从想法走到产品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困难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关键转折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62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2924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086350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239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9401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55" name="矩形 54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6" name="矩形 55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09600" y="381000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9600" y="609600"/>
            <a:ext cx="41910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从 0 到全链：四个星期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09600" y="1257300"/>
            <a:ext cx="3143250" cy="4857750"/>
          </a:xfrm>
          <a:prstGeom prst="roundRect">
            <a:avLst>
              <a:gd name="adj" fmla="val 3636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38200" y="1504950"/>
            <a:ext cx="2686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协作机制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838200" y="1828800"/>
            <a:ext cx="2686050" cy="1133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任务卡即合同：先立约、再执行；产物与判据全部落盘；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未参与创作的人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负责独立复验。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838200" y="4610100"/>
            <a:ext cx="2686050" cy="1266825"/>
          </a:xfrm>
          <a:custGeom>
            <a:avLst/>
            <a:gdLst/>
            <a:ahLst/>
            <a:cxnLst/>
            <a:pathLst>
              <a:path w="282" h="133">
                <a:moveTo>
                  <a:pt x="0" y="0"/>
                </a:moveTo>
                <a:lnTo>
                  <a:pt x="282" y="0"/>
                </a:lnTo>
                <a:lnTo>
                  <a:pt x="28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38200" y="4772025"/>
            <a:ext cx="5238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59</a:t>
            </a:r>
            <a:endParaRPr lang="en-US" sz="33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1457325" y="4772025"/>
            <a:ext cx="809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38200" y="5353050"/>
            <a:ext cx="2686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每个结论都带可复现命令、原始日志与独立复验记录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038600" y="20574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4410075" y="21717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4391025" y="23431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打通链路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248275" y="2171700"/>
            <a:ext cx="49053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DCM →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自动分割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STL</a:t>
            </a:r>
            <a:endParaRPr lang="en-US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248275" y="2428875"/>
            <a:ext cx="4905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例中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例通过表面四门禁（水密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体积守恒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开口面积），患者例全过。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4038600" y="28956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4410075" y="30099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391025" y="31813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求解首战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5248275" y="3009900"/>
            <a:ext cx="50577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体网格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首次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：崩溃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5248275" y="3267075"/>
            <a:ext cx="5057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首跑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Time = 260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报浮点异常；只改数值设置做单变量反证后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533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步稳定收敛。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4038600" y="37338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4410075" y="38481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4457700" y="40195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改判据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5248275" y="3848100"/>
            <a:ext cx="4600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判据重议与工具链核验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5248275" y="4105275"/>
            <a:ext cx="46005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出口改双轨判据收口；圆管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9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格判别把「网格致命」锁到退化单元一类。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4038600" y="45720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3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4410075" y="46863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4 </a:t>
            </a: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457700" y="48577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定标准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5248275" y="4686300"/>
            <a:ext cx="5210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域标准统一 + 全链对账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248275" y="4943475"/>
            <a:ext cx="5210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域改为「鼻腔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鼻咽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可见口咽」；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/ b01 / b02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全链跑通并对账基线。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609600" y="619125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09600" y="6305550"/>
            <a:ext cx="5200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数据落点：这一个月真正产出的不是三张图，而是一套「失败也要留下判据」的工程记录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1125200" y="63055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3" name="矩形 92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4" name="矩形 93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609600" y="38100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609600" y="609600"/>
            <a:ext cx="51435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三个关键时刻：我们改了「前提」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609600" y="1257300"/>
            <a:ext cx="4629150" cy="4914900"/>
          </a:xfrm>
          <a:prstGeom prst="roundRect">
            <a:avLst>
              <a:gd name="adj" fmla="val 246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1428750"/>
            <a:ext cx="4286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被改写的三个前提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781050" y="1600200"/>
            <a:ext cx="4286250" cy="4000500"/>
          </a:xfrm>
          <a:prstGeom prst="rect">
            <a:avLst/>
          </a:prstGeom>
        </p:spPr>
      </p:pic>
      <p:sp>
        <p:nvSpPr>
          <p:cNvPr id="102" name="圆角矩形 101"/>
          <p:cNvSpPr/>
          <p:nvPr/>
        </p:nvSpPr>
        <p:spPr>
          <a:xfrm>
            <a:off x="5486400" y="128587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5572125" y="13335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5829300" y="1285875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网格被判「致命」，我们把它推翻了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5486400" y="159067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首跑在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Time = 260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报浮点异常，「网格质量差」一度成为结论。我们在同一网格上只改数值设置做单变量反证。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486400" y="227647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533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步稳定收敛、Δ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p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落回合理带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承认是判据定得太松，全部已验证案例重跑。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5486400" y="294322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5572125" y="29908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5829300" y="2943225"/>
            <a:ext cx="3000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计算域从「鼻腔」扩到「含口咽」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5486400" y="324802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原先只建鼻腔短域，把鼻咽与口咽切在域外。但患者最难受的位置，恰恰在鼻咽之后。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5486400" y="393382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鼻阻力由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0.041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升到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0.068 Pa·s/mL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旧口径把阻力系统性低估了近四成。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5486400" y="460057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5572125" y="46482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5829300" y="4600575"/>
            <a:ext cx="2400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出口改由物理判据唯一定义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486400" y="490537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出口截断位置不再依赖人工确认，而是由「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mask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最底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+ 0.5 mm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」这一条物理判据唯一确定。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486400" y="559117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代价：出口被明确声明为工程截断面而非解剖结构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数字因此站得住，也因此不可对标临床鼻测压。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任意多边形 116"/>
          <p:cNvSpPr/>
          <p:nvPr/>
        </p:nvSpPr>
        <p:spPr>
          <a:xfrm>
            <a:off x="609600" y="6248400"/>
            <a:ext cx="10972800" cy="361950"/>
          </a:xfrm>
          <a:custGeom>
            <a:avLst/>
            <a:gdLst/>
            <a:ahLst/>
            <a:cxnLst/>
            <a:pathLst>
              <a:path w="1152" h="3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09600" y="6353175"/>
            <a:ext cx="437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数据落点：三个转折都留下了代价记录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前提可以改，但改了必须付账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1125200" y="63531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 1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" name="矩形 1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124" name="矩形 123"/>
          <p:cNvSpPr/>
          <p:nvPr/>
        </p:nvSpPr>
        <p:spPr>
          <a:xfrm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981075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971675" y="1828800"/>
            <a:ext cx="5143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62000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全链跑通——从原始</a:t>
            </a:r>
            <a:r>
              <a:rPr lang="en-US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到功能数字，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每一步都留下可复核的判据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，而不是一张好看的流场图。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904875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全链跑通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216217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2305050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工程尺度筛检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356235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3705225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独立复验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62000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762000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P13 – P15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2085975" y="4638675"/>
            <a:ext cx="3257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2085975" y="4838700"/>
            <a:ext cx="3257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跑通了吗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数字对不对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谁在独立复验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62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2924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5086350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239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9401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 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150" name="矩形 149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151" name="矩形 150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09600" y="381000"/>
            <a:ext cx="610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09600" y="609600"/>
            <a:ext cx="6105525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全链结果：几何 → 网格 → 求解 → 指标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Q4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09600" y="1257300"/>
            <a:ext cx="65722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819150" y="1447800"/>
            <a:ext cx="6153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扩展域全链结果</a:t>
            </a:r>
            <a:r>
              <a:rPr lang="en-US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现行基线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819150" y="1752600"/>
            <a:ext cx="6153150" cy="276225"/>
          </a:xfrm>
          <a:custGeom>
            <a:avLst/>
            <a:gdLst/>
            <a:ahLst/>
            <a:cxnLst/>
            <a:pathLst>
              <a:path w="646" h="29">
                <a:moveTo>
                  <a:pt x="0" y="28"/>
                </a:moveTo>
                <a:lnTo>
                  <a:pt x="646" y="28"/>
                </a:lnTo>
                <a:lnTo>
                  <a:pt x="64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8BA6C1">
              <a:alpha val="30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819150" y="1752600"/>
            <a:ext cx="190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352800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b15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4762500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b01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181725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b02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819150" y="21336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R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Pa·s/mL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3162300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0.0685</a:t>
            </a:r>
            <a:endParaRPr lang="en-US" sz="14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4581525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0.0618</a:t>
            </a:r>
            <a:endParaRPr lang="en-US" sz="14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91225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0.1729</a:t>
            </a:r>
            <a:endParaRPr lang="en-US" sz="142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819150" y="25527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压差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Δp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181350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17.120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600575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15.460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6010275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43.231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19150" y="29718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合力（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143250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1.49e-3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562475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1.27e-3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5972175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2.37e-3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19150" y="33909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中位（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3238500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0.068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4648200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0.050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067425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0.090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19150" y="38100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网格单元数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3152775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653,789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562475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710,101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981700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590,961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19150" y="42291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质量不平衡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3219450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6.0e-8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629150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4.5e-7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6048375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4.6e-7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819150" y="4533900"/>
            <a:ext cx="6153150" cy="419100"/>
          </a:xfrm>
          <a:prstGeom prst="roundRect">
            <a:avLst>
              <a:gd name="adj" fmla="val 18182"/>
            </a:avLst>
          </a:prstGeom>
          <a:solidFill>
            <a:srgbClr val="22D3EE">
              <a:alpha val="7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46482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工程验证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3314700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724400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6143625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19150" y="5524500"/>
            <a:ext cx="615315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均为全链 CHAIN-DONE（几何 → 开口 → 网格 → 求解 → 指标）；网格数为 checkMesh 口径。b02 为本项目首次进入求解链的病例，上表即其首产基线。</a:t>
            </a:r>
            <a:endParaRPr lang="zh-CN" sz="975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7458075" y="1257300"/>
            <a:ext cx="4152900" cy="1714500"/>
          </a:xfrm>
          <a:prstGeom prst="roundRect">
            <a:avLst>
              <a:gd name="adj" fmla="val 5556"/>
            </a:avLst>
          </a:prstGeom>
          <a:solidFill>
            <a:srgbClr val="F5A524">
              <a:alpha val="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94" name="任意多边形 193"/>
          <p:cNvSpPr/>
          <p:nvPr/>
        </p:nvSpPr>
        <p:spPr>
          <a:xfrm>
            <a:off x="7458075" y="1257300"/>
            <a:ext cx="4152900" cy="1714500"/>
          </a:xfrm>
          <a:custGeom>
            <a:avLst/>
            <a:gdLst/>
            <a:ahLst/>
            <a:cxnLst/>
            <a:pathLst>
              <a:path w="436" h="18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73"/>
                </a:lnTo>
                <a:cubicBezTo>
                  <a:pt x="3" y="176"/>
                  <a:pt x="5" y="179"/>
                  <a:pt x="8" y="180"/>
                </a:cubicBezTo>
                <a:cubicBezTo>
                  <a:pt x="3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>
            <a:pPr/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7629525" y="1409700"/>
            <a:ext cx="3781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口径声明</a:t>
            </a:r>
            <a:r>
              <a:rPr lang="en-US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必读</a:t>
            </a:r>
            <a:endParaRPr lang="zh-CN" sz="1050" b="1" spc="7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7629525" y="1647825"/>
            <a:ext cx="37814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均为</a:t>
            </a:r>
            <a:r>
              <a:rPr lang="zh-CN" sz="10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稳态层流工程尺度验证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，非临床诊断；出口下游阻力缺失</a:t>
            </a: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Δp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已知偏低。</a:t>
            </a:r>
            <a:endParaRPr lang="zh-CN" sz="1050">
              <a:solidFill>
                <a:srgbClr val="C9D8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7629525" y="2228850"/>
            <a:ext cx="3781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R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绝对值不可对标临床鼻测压</a:t>
            </a: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zh-CN" sz="10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配对相对变化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可采信。</a:t>
            </a:r>
            <a:endParaRPr lang="zh-CN" sz="1050">
              <a:solidFill>
                <a:srgbClr val="C9D8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7629525" y="2562225"/>
            <a:ext cx="3781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通过的是</a:t>
            </a:r>
            <a:r>
              <a:rPr lang="zh-CN" sz="105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工程尺度筛检</a:t>
            </a: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，而非严格残差意义上的完全收敛。</a:t>
            </a:r>
            <a:endParaRPr lang="zh-CN" sz="10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7429500" y="3105150"/>
            <a:ext cx="4152900" cy="2914650"/>
          </a:xfrm>
          <a:prstGeom prst="roundRect">
            <a:avLst>
              <a:gd name="adj" fmla="val 326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7600950" y="32766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域不同，数字不可比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7600950" y="3514725"/>
            <a:ext cx="38100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  <a:endParaRPr lang="en-US" sz="54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7600950" y="4419600"/>
            <a:ext cx="3810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用「鼻腔短域」口径算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b15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，Δ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p 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10.29 Pa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；含口咽的扩展域是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17.12 Pa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600950" y="5505450"/>
            <a:ext cx="3810000" cy="342900"/>
          </a:xfrm>
          <a:prstGeom prst="rect">
            <a:avLst/>
          </a:prstGeom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域变一次，结论翻一次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域标准必须锁死。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09600" y="6257925"/>
            <a:ext cx="511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口径：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generalisation_test_only_no_human_review ·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出口为工程截断面，缺下游阻力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 2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209" name="矩形 208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10" name="矩形 209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609600" y="381000"/>
            <a:ext cx="411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09600" y="609600"/>
            <a:ext cx="41148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为什么这些数字可以被相信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Q4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09600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800100" y="1390650"/>
            <a:ext cx="10591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验证三重门：三个不依赖「我们说自己严谨」的独立关卡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800100" y="1600200"/>
            <a:ext cx="10515600" cy="1771650"/>
          </a:xfrm>
          <a:prstGeom prst="rect">
            <a:avLst/>
          </a:prstGeom>
        </p:spPr>
      </p:pic>
      <p:sp>
        <p:nvSpPr>
          <p:cNvPr id="218" name="圆角矩形 217"/>
          <p:cNvSpPr/>
          <p:nvPr/>
        </p:nvSpPr>
        <p:spPr>
          <a:xfrm>
            <a:off x="609600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819150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0.087%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819150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解出来的力和输入对得上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819150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壁面应力积分的合力与压差反作用力相差不到千分之一；纯解析圆管泊肃叶解也逐档对上。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4314825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524375" y="3981450"/>
            <a:ext cx="31432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独立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524375" y="4381500"/>
            <a:ext cx="3143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不是自己给自己签字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4524375" y="5219700"/>
            <a:ext cx="31432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每个关键结论都由未参与创作的人按同一套判据重走一遍，逐项对上才写入结论卡。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8029575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8239125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42 s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239125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别人能重来一遍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239125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删掉旧现场从原始案例重建，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42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秒完成：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12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个已知值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+ 6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个输入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SHA256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逐位匹配。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09600" y="6257925"/>
            <a:ext cx="5200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文献对照：静息呼吸稳态层流解与全分辨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LES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预测近乎一致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本管线的层流口径合规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235" name="图片 234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6" name="矩形 2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237" name="矩形 236"/>
          <p:cNvSpPr/>
          <p:nvPr/>
        </p:nvSpPr>
        <p:spPr>
          <a:xfrm>
            <a:off x="762000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981075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1971675" y="1828800"/>
            <a:ext cx="5715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62000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从「看得见」到「改得动」——先把功能量出来、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把标准立起来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，再让数字反过来指导器件设计。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76200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904875" y="4019550"/>
            <a:ext cx="1047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例队列常模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2238375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2381250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定制器件终局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3638550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781425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所需支持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762000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762000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P16 – P17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2085975" y="4638675"/>
            <a:ext cx="3448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085975" y="4838700"/>
            <a:ext cx="3448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下一步做什么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需要什么支持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谁来一起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762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762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2924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2924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5086350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5086350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7239000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7239000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9401175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9401175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矩形 2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263" name="矩形 262"/>
          <p:cNvSpPr/>
          <p:nvPr/>
        </p:nvSpPr>
        <p:spPr>
          <a:xfrm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64" name="矩形 263"/>
          <p:cNvSpPr/>
          <p:nvPr/>
        </p:nvSpPr>
        <p:spPr>
          <a:xfrm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09600" y="381000"/>
            <a:ext cx="4800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09600" y="609600"/>
            <a:ext cx="48006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下一步：从评估工具到定制器件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11144250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1277600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Q5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圆角矩形 268"/>
          <p:cNvSpPr/>
          <p:nvPr/>
        </p:nvSpPr>
        <p:spPr>
          <a:xfrm>
            <a:off x="609600" y="1257300"/>
            <a:ext cx="5848350" cy="3429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838200" y="1466850"/>
            <a:ext cx="5391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A · </a:t>
            </a: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评估工具（进行中）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838200" y="1733550"/>
            <a:ext cx="8953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1828800" y="1733550"/>
            <a:ext cx="14954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例副鼻窦</a:t>
            </a:r>
            <a:r>
              <a:rPr lang="en-US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队列</a:t>
            </a:r>
            <a:endParaRPr lang="zh-CN" sz="15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838200" y="2724150"/>
            <a:ext cx="5391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从单例演示到队列常模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838200" y="3048000"/>
            <a:ext cx="53911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例几何层已批量重跑（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23/24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通过表面判据）。下一步把网格、求解、指标一并批量，建立队列常模分布，并用无监督聚类做表型分层。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838200" y="4105275"/>
            <a:ext cx="5391150" cy="371475"/>
          </a:xfrm>
          <a:prstGeom prst="rect">
            <a:avLst/>
          </a:prstGeom>
        </p:spPr>
        <p:txBody>
          <a:bodyPr wrap="none" lIns="0" tIns="85725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边界：表型分层是文献迁移的解释层，未在本队列验证；不做个体化症状预测。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6705600" y="1257300"/>
            <a:ext cx="4876800" cy="3429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934200" y="1466850"/>
            <a:ext cx="4419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en-US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 · </a:t>
            </a: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终局产品（设计目标）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6934200" y="1733550"/>
            <a:ext cx="14478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&gt;50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458200" y="1733550"/>
            <a:ext cx="12192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W/m² </a:t>
            </a: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黏膜占比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6934200" y="2724150"/>
            <a:ext cx="4419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把「气流重新导回下鼻道」写成设计目标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6934200" y="3048000"/>
            <a:ext cx="44196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以热通量与壁面剪应力为约束，反向求解鼻腔填充器件的形状与位置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从「读出功能」变成「改回功能」。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6934200" y="4105275"/>
            <a:ext cx="4419600" cy="371475"/>
          </a:xfrm>
          <a:prstGeom prst="rect">
            <a:avLst/>
          </a:prstGeom>
        </p:spPr>
        <p:txBody>
          <a:bodyPr wrap="none" lIns="0" tIns="85725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前置：需先有队列常模，否则器件设计没有可比的基线。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609600" y="4857750"/>
            <a:ext cx="10972800" cy="1143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819150" y="4991100"/>
            <a:ext cx="10553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我们需要什么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819150" y="5257800"/>
            <a:ext cx="3381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真实病例数据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19150" y="5495925"/>
            <a:ext cx="3381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带症状记录的病例尤其稀缺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这是最大缺口。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4410075" y="5257800"/>
            <a:ext cx="3371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临床合作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4410075" y="5495925"/>
            <a:ext cx="3371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术前术后配对随访，让「相对变化」落地。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991475" y="5257800"/>
            <a:ext cx="3381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算力与工程人手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991475" y="5495925"/>
            <a:ext cx="3381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队列批量求解与器件设计，需要更多算力与人力。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任意多边形 290"/>
          <p:cNvSpPr/>
          <p:nvPr/>
        </p:nvSpPr>
        <p:spPr>
          <a:xfrm>
            <a:off x="609600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09600" y="6257925"/>
            <a:ext cx="4667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路径逻辑：先有可信的功能读数，再有队列基线，最后才谈得上按目标设计器件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1125200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296" name="任意多边形 295"/>
          <p:cNvSpPr/>
          <p:nvPr/>
        </p:nvSpPr>
        <p:spPr>
          <a:xfrm>
            <a:off x="0" y="0"/>
            <a:ext cx="7239000" cy="7239000"/>
          </a:xfrm>
          <a:custGeom>
            <a:avLst/>
            <a:gdLst/>
            <a:ahLst/>
            <a:cxnLst/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97" name="矩形 296"/>
          <p:cNvSpPr/>
          <p:nvPr/>
        </p:nvSpPr>
        <p:spPr>
          <a:xfrm>
            <a:off x="7239000" y="1905000"/>
            <a:ext cx="4953000" cy="495300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705475" y="790575"/>
            <a:ext cx="790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ENDING</a:t>
            </a:r>
            <a:endParaRPr lang="en-US" sz="1050" b="1" spc="3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238250" y="1200150"/>
            <a:ext cx="9715500" cy="18192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让「说不出的难受」</a:t>
            </a:r>
            <a:endParaRPr lang="zh-CN" sz="46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zh-CN" sz="46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看得见的数字</a:t>
            </a:r>
            <a:endParaRPr lang="zh-CN" sz="46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矩形 299"/>
          <p:cNvSpPr/>
          <p:nvPr/>
        </p:nvSpPr>
        <p:spPr>
          <a:xfrm>
            <a:off x="5524500" y="3343275"/>
            <a:ext cx="1143000" cy="28575"/>
          </a:xfrm>
          <a:prstGeom prst="rect">
            <a:avLst/>
          </a:prstGeom>
          <a:gradFill>
            <a:gsLst>
              <a:gs pos="0">
                <a:srgbClr val="22D3EE">
                  <a:alpha val="0"/>
                </a:srgbClr>
              </a:gs>
              <a:gs pos="5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1619250" y="3657600"/>
            <a:ext cx="89535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空鼻症鼻腔功能客观化评估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一张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自动建模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稳态流场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壁面剪应力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后鼻孔温湿与热通量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4762500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4514850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开源可复现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5467350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6010275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5762625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条命令跑通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6715125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258050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010400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次人工交互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1143000" y="5838825"/>
            <a:ext cx="9906000" cy="2381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本项目输出为工程尺度的功能指标，用于研究与器械设计评估，不构成临床诊断或治疗建议；患者数据均经脱敏处理。</a:t>
            </a:r>
            <a:endParaRPr lang="zh-CN" sz="975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1" name="" descr="&lt;Slide style={{ width: 1280, height: 720, background: '#0A1A2F', padding: '24px 64px', position: 'relative', overflow: 'hidden', fontFamily: &quot;'Microsoft YaHei','PingFang SC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84, flexDirection: 'row', alignItems: 'flex-end', justifyContent: 'space-between' }}&gt;&#10;            &lt;Box style={{ flexDirection: 'column', gap: 6 }}&gt;&#10;                &lt;Text style={{ fontSize: 15, fontWeight: 600, letterSpacing: 3, color: '#22D3EE' }}&gt;APPENDIX / 支撑材料与依据来源&lt;/Text&gt;&#10;                &lt;Text style={{ fontSize: 34, fontWeight: 700, color: '#E8F1FA', lineHeight: 1.2 }}&gt;每个数字都有出处：调研 · 链路 · 验证 · 训练 · Demo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A&lt;/Text&gt;&#10;            &lt;/Box&gt;&#10;        &lt;/Box&gt;&#10;&#10;        &lt;Box style={{ height: 508, marginTop: 14, flexDirection: 'column', gap: 11 }}&gt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1&lt;/Text&gt;&#10;                &lt;/Box&gt;&#10;                &lt;Box style={{ flex: 1, flexDirection: 'column', gap: 3 }}&gt;&#10;                    &lt;Text style={{ fontSize: 16, fontWeight: 600, color: '#7DE3F4' }}&gt;01 · 患者需求调研包（7 份 · 交叉验证表 / 需求→指标交叉分析 / 两轮 ENS 外部调研 / 原始材料）&lt;/Text&gt;&#10;                    &lt;Text style={{ fontSize: 13, color: '#8BA6C1', lineHeight: 1.45 }}&gt;P03–05 患者画像与量表的依据来源；全部逐字入库、口径可追溯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2&lt;/Text&gt;&#10;                &lt;/Box&gt;&#10;                &lt;Box style={{ flex: 1, flexDirection: 'column', gap: 3 }}&gt;&#10;                    &lt;Text style={{ fontSize: 16, fontWeight: 600, color: '#7DE3F4' }}&gt;02 · 详细技术链路（8 份 · DICOM → 几何 → 网格 → 求解 → 指标 → 工作台）&lt;/Text&gt;&#10;                    &lt;Text style={{ fontSize: 13, color: '#8BA6C1', lineHeight: 1.45 }}&gt;P07「CT 进功能数字出」每一步的方法文档；从权威 SOP 起读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3&lt;/Text&gt;&#10;                &lt;/Box&gt;&#10;                &lt;Box style={{ flex: 1, flexDirection: 'column', gap: 3 }}&gt;&#10;                    &lt;Text style={{ fontSize: 16, fontWeight: 600, color: '#7DE3F4' }}&gt;03 · 验证与校准依据（6 份 · 验证三重门的底稿）&lt;/Text&gt;&#10;                    &lt;Text style={{ fontSize: 13, color: '#8BA6C1', lineHeight: 1.45 }}&gt;0.087% 已知答案对照 / 独立复验 / 42 秒一条命令复现 —— P15 的出处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4&lt;/Text&gt;&#10;                &lt;/Box&gt;&#10;                &lt;Box style={{ flex: 1, flexDirection: 'column', gap: 3 }}&gt;&#10;                    &lt;Text style={{ fontSize: 16, fontWeight: 600, color: '#7DE3F4' }}&gt;04 · 未来的依据（5 份 · 症状关联证据分级 + 症状标签探查）&lt;/Text&gt;&#10;                    &lt;Text style={{ fontSize: 13, color: '#8BA6C1', lineHeight: 1.45 }}&gt;愿景页热通量 r≈−0.76 等关联数字的文献出处，与「标签不可得」的探查记录&lt;/Text&gt;&#10;                &lt;/Box&gt;&#10;            &lt;/Box&gt;&#10;&#10;            &lt;Box style={{ height: 76, flexDirection: 'row', alignItems: 'center', gap: 18, padding: '10px 24px', background: 'linear-gradient(150deg, #1B3A5C 0%, #12263F 100%)', borderRadius: 12, border: '1px solid rgba(245,165,36,0.40)' }}&gt;&#10;                &lt;Box style={{ width: 40, height: 40, borderRadius: 20, border: '2px solid rgba(245,165,36,0.55)', justifyContent: 'center', alignItems: 'center' }}&gt;&#10;                    &lt;Text style={{ fontSize: 13, fontWeight: 700, color: '#F5A524' }}&gt;05&lt;/Text&gt;&#10;                &lt;/Box&gt;&#10;                &lt;Box style={{ flex: 1, flexDirection: 'column', gap: 3 }}&gt;&#10;                    &lt;Text style={{ fontSize: 16, fontWeight: 600, color: '#7DE3F4' }}&gt;05 · 标准训练方法与队列就绪（4 份 · 训练设计 v1 + 24 例批量实跑）&lt;/Text&gt;&#10;                    &lt;Text style={{ fontSize: 13, color: '#8BA6C1', lineHeight: 1.45 }}&gt;从评估工具到标准的路线图；「24 例已就绪」出处 = T-059 批量 23/24 auto_pass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34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6&lt;/Text&gt;&#10;                &lt;/Box&gt;&#10;                &lt;Box style={{ flex: 1, flexDirection: 'column', gap: 3 }}&gt;&#10;                    &lt;Text style={{ fontSize: 16, fontWeight: 600, color: '#7DE3F4' }}&gt;06 · 功能演示 Demo（三维检查 · 流线 · 对比 · 任务控制台）&lt;/Text&gt;&#10;                    &lt;Text style={{ fontSize: 13, color: '#8BA6C1', lineHeight: 1.45 }}&gt;真实脱敏数据；现场演示前需先启动本地服务（启动三维工作台.ps1）&lt;/Text&gt;&#10;                &lt;/Box&gt;&#10;            &lt;/Box&gt;&#10;        &lt;/Box&gt;&#10;&#10;        &lt;Box style={{ height: 38, marginTop: 10, flexDirection: 'row', alignItems: 'center', justifyContent: 'space-between', borderTop: '1px solid rgba(139,166,193,0.22)' }}&gt;&#10;            &lt;Text style={{ fontSize: 13, color: '#8BA6C1' }}&gt;依据来源：三例指标 = T-058 §6（patient_metrics.json）· 24 例 = T-059 批量结果 · 判据 = T-002——30 份材料均可点击，每份标注原件路径&lt;/Text&gt;&#10;            &lt;Text style={{ fontSize: 14, color: '#8BA6C1' }}&gt;附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0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8191500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333375"/>
            <a:ext cx="782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APPENDIX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支撑材料与依据来源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561975"/>
            <a:ext cx="78295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每个数字都有出处：调研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链路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验证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训练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Demo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1144250" y="5905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315700" y="7334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11620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838200" y="13335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52500" y="14478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390650" y="13049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0="http://schemas.openxmlformats.org/officeDocument/2006/relationships" ns0:id="rId2"/>
              </a:rPr>
              <a:t xml:space="preserve">01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="http://schemas.openxmlformats.org/officeDocument/2006/relationships" ns1:id="rId2"/>
              </a:rPr>
              <a:t>患者需求调研包（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="http://schemas.openxmlformats.org/officeDocument/2006/relationships" ns2:id="rId2"/>
              </a:rPr>
              <a:t xml:space="preserve">7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="http://schemas.openxmlformats.org/officeDocument/2006/relationships" ns3:id="rId2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="http://schemas.openxmlformats.org/officeDocument/2006/relationships" ns4:id="rId2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="http://schemas.openxmlformats.org/officeDocument/2006/relationships" ns5:id="rId2"/>
              </a:rPr>
              <a:t>交叉验证表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6="http://schemas.openxmlformats.org/officeDocument/2006/relationships" ns6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7="http://schemas.openxmlformats.org/officeDocument/2006/relationships" ns7:id="rId2"/>
              </a:rPr>
              <a:t>需求→指标交叉分析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8="http://schemas.openxmlformats.org/officeDocument/2006/relationships" ns8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9="http://schemas.openxmlformats.org/officeDocument/2006/relationships" ns9:id="rId2"/>
              </a:rPr>
              <a:t>两轮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0="http://schemas.openxmlformats.org/officeDocument/2006/relationships" ns10:id="rId2"/>
              </a:rPr>
              <a:t xml:space="preserve"> ENS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1="http://schemas.openxmlformats.org/officeDocument/2006/relationships" ns11:id="rId2"/>
              </a:rPr>
              <a:t>外部调研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2="http://schemas.openxmlformats.org/officeDocument/2006/relationships" ns12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3="http://schemas.openxmlformats.org/officeDocument/2006/relationships" ns13:id="rId2"/>
              </a:rPr>
              <a:t>原始材料）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390650" y="15240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P03–05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患者画像与量表的依据来源；全部逐字入库、口径可追溯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19907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838200" y="21621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52500" y="22764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390650" y="21336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4="http://schemas.openxmlformats.org/officeDocument/2006/relationships" ns14:id="rId3"/>
              </a:rPr>
              <a:t xml:space="preserve">02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5="http://schemas.openxmlformats.org/officeDocument/2006/relationships" ns15:id="rId3"/>
              </a:rPr>
              <a:t>详细技术链路（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6="http://schemas.openxmlformats.org/officeDocument/2006/relationships" ns16:id="rId3"/>
              </a:rPr>
              <a:t xml:space="preserve">8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7="http://schemas.openxmlformats.org/officeDocument/2006/relationships" ns17:id="rId3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8="http://schemas.openxmlformats.org/officeDocument/2006/relationships" ns18:id="rId3"/>
              </a:rPr>
              <a:t xml:space="preserve"> · DICOM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9="http://schemas.openxmlformats.org/officeDocument/2006/relationships" ns19:id="rId3"/>
              </a:rPr>
              <a:t>几何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0="http://schemas.openxmlformats.org/officeDocument/2006/relationships" ns20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1="http://schemas.openxmlformats.org/officeDocument/2006/relationships" ns21:id="rId3"/>
              </a:rPr>
              <a:t>网格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2="http://schemas.openxmlformats.org/officeDocument/2006/relationships" ns22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3="http://schemas.openxmlformats.org/officeDocument/2006/relationships" ns23:id="rId3"/>
              </a:rPr>
              <a:t>求解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4="http://schemas.openxmlformats.org/officeDocument/2006/relationships" ns24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5="http://schemas.openxmlformats.org/officeDocument/2006/relationships" ns25:id="rId3"/>
              </a:rPr>
              <a:t>指标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6="http://schemas.openxmlformats.org/officeDocument/2006/relationships" ns26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7="http://schemas.openxmlformats.org/officeDocument/2006/relationships" ns27:id="rId3"/>
              </a:rPr>
              <a:t>工作台）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390650" y="23526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P07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CT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进功能数字出」每一步的方法文档；从权威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起读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09600" y="281940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838200" y="299085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52500" y="31051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390650" y="296227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8="http://schemas.openxmlformats.org/officeDocument/2006/relationships" ns28:id="rId4"/>
              </a:rPr>
              <a:t xml:space="preserve">03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9="http://schemas.openxmlformats.org/officeDocument/2006/relationships" ns29:id="rId4"/>
              </a:rPr>
              <a:t>验证与校准依据（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0="http://schemas.openxmlformats.org/officeDocument/2006/relationships" ns30:id="rId4"/>
              </a:rPr>
              <a:t xml:space="preserve">6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1="http://schemas.openxmlformats.org/officeDocument/2006/relationships" ns31:id="rId4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2="http://schemas.openxmlformats.org/officeDocument/2006/relationships" ns32:id="rId4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3="http://schemas.openxmlformats.org/officeDocument/2006/relationships" ns33:id="rId4"/>
              </a:rPr>
              <a:t>验证三重门的底稿）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390650" y="318135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0.087%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已知答案对照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独立复验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42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秒一条命令复现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P15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的出处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364807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838200" y="381952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52500" y="39338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390650" y="379095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4="http://schemas.openxmlformats.org/officeDocument/2006/relationships" ns34:id="rId5"/>
              </a:rPr>
              <a:t xml:space="preserve">04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5="http://schemas.openxmlformats.org/officeDocument/2006/relationships" ns35:id="rId5"/>
              </a:rPr>
              <a:t>未来的依据（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6="http://schemas.openxmlformats.org/officeDocument/2006/relationships" ns36:id="rId5"/>
              </a:rPr>
              <a:t xml:space="preserve">5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7="http://schemas.openxmlformats.org/officeDocument/2006/relationships" ns37:id="rId5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8="http://schemas.openxmlformats.org/officeDocument/2006/relationships" ns38:id="rId5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9="http://schemas.openxmlformats.org/officeDocument/2006/relationships" ns39:id="rId5"/>
              </a:rPr>
              <a:t>症状关联证据分级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0="http://schemas.openxmlformats.org/officeDocument/2006/relationships" ns40:id="rId5"/>
              </a:rPr>
              <a:t xml:space="preserve"> +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1="http://schemas.openxmlformats.org/officeDocument/2006/relationships" ns41:id="rId5"/>
              </a:rPr>
              <a:t>症状标签探查）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390650" y="401002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愿景页热通量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r≈−0.76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等关联数字的文献出处，与「标签不可得」的探查记录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09600" y="44767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838200" y="46482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F5A52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52500" y="47625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5A5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390650" y="46196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2="http://schemas.openxmlformats.org/officeDocument/2006/relationships" ns42:id="rId6"/>
              </a:rPr>
              <a:t xml:space="preserve">05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3="http://schemas.openxmlformats.org/officeDocument/2006/relationships" ns43:id="rId6"/>
              </a:rPr>
              <a:t>标准训练方法与队列就绪（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4="http://schemas.openxmlformats.org/officeDocument/2006/relationships" ns44:id="rId6"/>
              </a:rPr>
              <a:t xml:space="preserve">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5="http://schemas.openxmlformats.org/officeDocument/2006/relationships" ns45:id="rId6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6="http://schemas.openxmlformats.org/officeDocument/2006/relationships" ns46:id="rId6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7="http://schemas.openxmlformats.org/officeDocument/2006/relationships" ns47:id="rId6"/>
              </a:rPr>
              <a:t>训练设计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8="http://schemas.openxmlformats.org/officeDocument/2006/relationships" ns48:id="rId6"/>
              </a:rPr>
              <a:t xml:space="preserve"> v1 + 24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9="http://schemas.openxmlformats.org/officeDocument/2006/relationships" ns49:id="rId6"/>
              </a:rPr>
              <a:t>例批量实跑）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390650" y="48387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从评估工具到标准的路线图；「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例已就绪」出处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23/24 auto_pass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09600" y="53054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838200" y="54768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952500" y="55911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390650" y="54483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0="http://schemas.openxmlformats.org/officeDocument/2006/relationships" ns50:id="rId7"/>
              </a:rPr>
              <a:t xml:space="preserve">06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1="http://schemas.openxmlformats.org/officeDocument/2006/relationships" ns51:id="rId7"/>
              </a:rPr>
              <a:t>功能演示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2="http://schemas.openxmlformats.org/officeDocument/2006/relationships" ns52:id="rId7"/>
              </a:rPr>
              <a:t xml:space="preserve"> Demo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3="http://schemas.openxmlformats.org/officeDocument/2006/relationships" ns53:id="rId7"/>
              </a:rPr>
              <a:t>（三维检查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4="http://schemas.openxmlformats.org/officeDocument/2006/relationships" ns54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5="http://schemas.openxmlformats.org/officeDocument/2006/relationships" ns55:id="rId7"/>
              </a:rPr>
              <a:t>流线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6="http://schemas.openxmlformats.org/officeDocument/2006/relationships" ns56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7="http://schemas.openxmlformats.org/officeDocument/2006/relationships" ns57:id="rId7"/>
              </a:rPr>
              <a:t>对比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8="http://schemas.openxmlformats.org/officeDocument/2006/relationships" ns58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9="http://schemas.openxmlformats.org/officeDocument/2006/relationships" ns59:id="rId7"/>
              </a:rPr>
              <a:t>任务控制台）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390650" y="56673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真实脱敏数据；现场演示前需先启动本地服务（启动三维工作台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.ps1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6096000"/>
            <a:ext cx="10972800" cy="361950"/>
          </a:xfrm>
          <a:custGeom>
            <a:pathLst>
              <a:path w="1152" h="3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210300"/>
            <a:ext cx="792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依据来源：三例指标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T-058 §6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patient_metrics.json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批量结果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判据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T-002——30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份材料均可点击，每份标注原件路径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315700" y="6200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附录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2026-10-16T19:13:34Z</dcterms:created>
  <dcterms:modified xsi:type="dcterms:W3CDTF">2026-10-16T19:13:34Z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5A8E80B12DA247968C6036AB0BE95E27_12</vt:lpwstr>
  </property>
  <property fmtid="{D5CDD505-2E9C-101B-9397-08002B2CF9AE}" pid="3" name="KSOProductBuildVer">
    <vt:lpwstr>2052-12.1.0.29161</vt:lpwstr>
  </property>
</Properties>
</file>