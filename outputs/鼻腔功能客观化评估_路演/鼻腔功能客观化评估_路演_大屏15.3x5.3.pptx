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charts/chart1.xml" ContentType="application/vnd.openxmlformats-officedocument.drawingml.chart+xml"/>
  <Override PartName="/ppt/slides/media/image3.svg" ContentType="image/svg+xml"/>
  <Override PartName="/ppt/slides/media/image5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xmlns:p15="http://schemas.microsoft.com/office/powerpoint/2012/main" xmlns:mc="http://schemas.openxmlformats.org/markup-compatibility/2006" firstSlideNum="1" mc:Ignorable="p15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9797624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presProps" Target="presProps.xml"/><Relationship Id="rId21" Type="http://schemas.openxmlformats.org/officeDocument/2006/relationships/tableStyles" Target="tableStyles.xml"/><Relationship Id="rId22" Type="http://schemas.openxmlformats.org/officeDocument/2006/relationships/viewProps" Target="viewProps.xml"/></Relationship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png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png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chart" Target="charts/chart1.xml"/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8.png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png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png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/Relationships>
</file>

<file path=ppt/slides/_rels/slide1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png"/></Relationships>
</file>

<file path=ppt/slides/_rels/slide1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hyperlink" Target="&#35843;&#30740;&#27719;&#24635;/index.html#cat-01" TargetMode="External"/><Relationship Id="rId3" Type="http://schemas.openxmlformats.org/officeDocument/2006/relationships/hyperlink" Target="&#35843;&#30740;&#27719;&#24635;/index.html#cat-02" TargetMode="External"/><Relationship Id="rId4" Type="http://schemas.openxmlformats.org/officeDocument/2006/relationships/hyperlink" Target="&#35843;&#30740;&#27719;&#24635;/index.html#cat-03" TargetMode="External"/><Relationship Id="rId5" Type="http://schemas.openxmlformats.org/officeDocument/2006/relationships/hyperlink" Target="&#35843;&#30740;&#27719;&#24635;/index.html#cat-04" TargetMode="External"/><Relationship Id="rId6" Type="http://schemas.openxmlformats.org/officeDocument/2006/relationships/hyperlink" Target="&#35843;&#30740;&#27719;&#24635;/index.html#cat-06" TargetMode="External"/><Relationship Id="rId7" Type="http://schemas.openxmlformats.org/officeDocument/2006/relationships/hyperlink" Target="http://localhost:8769/workspace/pro/index.html" TargetMode="External"/></Relationships>
</file>

<file path=ppt/slides/charts/chart1.xml><?xml version="1.0" encoding="utf-8"?>
<c:chartSpace xmlns:a="http://schemas.openxmlformats.org/drawingml/2006/main" xmlns:c="http://schemas.openxmlformats.org/drawingml/2006/chart" xmlns:c14="http://schemas.microsoft.com/office/drawing/2007/8/2/chart" xmlns:c15="http://schemas.microsoft.com/office/drawing/2012/chart" xmlns:mc="http://schemas.openxmlformats.org/markup-compatibility/2006" mc:Ignorable="c15">
  <c:date1904 val="0"/>
  <c:lang val="zh-CN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基线均分</c:v>
                </c:pt>
              </c:strCache>
            </c:strRef>
          </c:tx>
          <c:spPr>
            <a:gradFill>
              <a:gsLst>
                <a:gs pos="0">
                  <a:srgbClr val="22D3EE"/>
                </a:gs>
                <a:gs pos="100000">
                  <a:srgbClr val="7DE3F4"/>
                </a:gs>
              </a:gsLst>
              <a:lin ang="0" scaled="1"/>
            </a:gra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0A1A2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c15:layout/>
              </c:ext>
            </c:extLst>
          </c:dLbls>
          <c:cat>
            <c:strRef>
              <c:f>sheet</c:f>
              <c:strCache>
                <c:ptCount val="6"/>
                <c:pt idx="0">
                  <c:v>干燥</c:v>
                </c:pt>
                <c:pt idx="1">
                  <c:v>气流感减弱</c:v>
                </c:pt>
                <c:pt idx="2">
                  <c:v>鼻腔过通</c:v>
                </c:pt>
                <c:pt idx="3">
                  <c:v>窒息感</c:v>
                </c:pt>
                <c:pt idx="4">
                  <c:v>灼热感</c:v>
                </c:pt>
                <c:pt idx="5">
                  <c:v>结痂</c:v>
                </c:pt>
              </c:strCache>
            </c:strRef>
          </c:cat>
          <c:val>
            <c:numRef>
              <c:f>sheet</c:f>
              <c:numCache>
                <c:formatCode>General</c:formatCode>
                <c:ptCount val="6"/>
                <c:pt idx="0">
                  <c:v>4.07</c:v>
                </c:pt>
                <c:pt idx="1">
                  <c:v>4.02</c:v>
                </c:pt>
                <c:pt idx="2">
                  <c:v>3.74</c:v>
                </c:pt>
                <c:pt idx="3">
                  <c:v>3.23</c:v>
                </c:pt>
                <c:pt idx="4">
                  <c:v>2.77</c:v>
                </c:pt>
                <c:pt idx="5">
                  <c:v>2.74</c:v>
                </c:pt>
              </c:numCache>
            </c:numRef>
          </c:val>
        </c:ser>
        <c:dLbls>
          <c:showLegendKey val="1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8BA6C1"/>
                </a:solidFill>
                <a:latin typeface="+mn-lt"/>
                <a:ea typeface="+mn-ea"/>
                <a:cs typeface="+mn-cs"/>
              </a:defRPr>
            </a:pPr>
          </a:p>
        </c:txPr>
        <c:crossAx val="89736802"/>
        <c:crosses val="autoZero"/>
        <c:auto val="1"/>
        <c:lblAlgn val="ctr"/>
        <c:lblOffset val="100"/>
        <c:noMultiLvlLbl val="0"/>
      </c:catAx>
      <c:valAx>
        <c:axId val="8973680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D9D9D9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8BA6C1"/>
                </a:solidFill>
                <a:latin typeface="+mn-lt"/>
                <a:ea typeface="+mn-ea"/>
                <a:cs typeface="+mn-cs"/>
              </a:defRPr>
            </a:pPr>
          </a:p>
        </c:txPr>
        <c:crossAx val="89736801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/>
    </c:extLst>
  </c:chart>
  <c:txPr>
    <a:bodyPr/>
    <a:lstStyle/>
    <a:p>
      <a:pPr>
        <a:defRPr lang="zh-CN"/>
      </a:pPr>
    </a:p>
  </c:txPr>
</c:chartSpace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3246" b="3246"/>
          <a:stretch>
            <a:fillRect/>
          </a:stretch>
        </p:blipFill>
        <p:spPr>
          <a:xfrm>
            <a:off x="0" y="0"/>
            <a:ext cx="19797624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gradFill>
            <a:gsLst>
              <a:gs pos="0">
                <a:srgbClr val="0A1A2F">
                  <a:alpha val="97000"/>
                </a:srgbClr>
              </a:gs>
              <a:gs pos="38000">
                <a:srgbClr val="0A1A2F">
                  <a:alpha val="90000"/>
                </a:srgbClr>
              </a:gs>
              <a:gs pos="70000">
                <a:srgbClr val="0A1A2F">
                  <a:alpha val="35000"/>
                </a:srgbClr>
              </a:gs>
              <a:gs pos="100000">
                <a:srgbClr val="0A1A2F">
                  <a:alpha val="72000"/>
                </a:srgbClr>
              </a:gs>
            </a:gsLst>
            <a:lin ang="0" scaled="1"/>
          </a:gradFill>
        </p:spPr>
        <p:txBody>
          <a:bodyPr/>
          <a:p>
            <a:pPr/>
            <a:endParaRPr/>
          </a:p>
        </p:txBody>
      </p:sp>
      <p:sp>
        <p:nvSpPr>
          <p:cNvPr id="9001" name="矩形 4"/>
          <p:cNvSpPr/>
          <p:nvPr/>
        </p:nvSpPr>
        <p:spPr>
          <a:xfrm>
            <a:off x="-491417" y="0"/>
            <a:ext cx="4937760" cy="4937760"/>
          </a:xfrm>
          <a:prstGeom prst="rect">
            <a:avLst/>
          </a:prstGeom>
          <a:gradFill>
            <a:gsLst>
              <a:gs pos="0">
                <a:srgbClr val="22D3EE">
                  <a:alpha val="16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9002" name="矩形 4"/>
          <p:cNvSpPr/>
          <p:nvPr/>
        </p:nvSpPr>
        <p:spPr>
          <a:xfrm>
            <a:off x="15351281" y="1920240"/>
            <a:ext cx="4937760" cy="4937760"/>
          </a:xfrm>
          <a:prstGeom prst="rect">
            <a:avLst/>
          </a:prstGeom>
          <a:gradFill>
            <a:gsLst>
              <a:gs pos="0">
                <a:srgbClr val="22D3EE">
                  <a:alpha val="16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" name="矩形 4"/>
          <p:cNvSpPr/>
          <p:nvPr/>
        </p:nvSpPr>
        <p:spPr>
          <a:xfrm>
            <a:off x="3802812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6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6" name="矩形 5"/>
          <p:cNvSpPr/>
          <p:nvPr/>
        </p:nvSpPr>
        <p:spPr>
          <a:xfrm>
            <a:off x="4488612" y="685800"/>
            <a:ext cx="381000" cy="28575"/>
          </a:xfrm>
          <a:prstGeom prst="rect">
            <a:avLst/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5002962" y="609600"/>
            <a:ext cx="3067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NASAL CFD · </a:t>
            </a:r>
            <a:r>
              <a:rPr lang="zh-CN" sz="1125" b="1" spc="3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鼻腔功能客观化评估</a:t>
            </a:r>
            <a:endParaRPr lang="zh-CN" sz="1125" b="1" spc="30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4488612" y="1628775"/>
            <a:ext cx="5905500" cy="1876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4000"/>
              </a:lnSpc>
            </a:pPr>
            <a:r>
              <a:rPr lang="zh-CN" sz="5400" b="1" spc="-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让鼻子重新</a:t>
            </a:r>
            <a:endParaRPr lang="zh-CN" sz="5400" b="1" spc="-7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4000"/>
              </a:lnSpc>
            </a:pPr>
            <a:r>
              <a:rPr lang="zh-CN" sz="5400" b="1" spc="-7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「被感觉到」</a:t>
            </a:r>
            <a:endParaRPr lang="zh-CN" sz="5400" b="1" spc="-7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4488612" y="3733800"/>
            <a:ext cx="5905500" cy="809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把一片鼻腔</a:t>
            </a:r>
            <a:r>
              <a:rPr lang="en-US" sz="165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CT</a:t>
            </a:r>
            <a:r>
              <a:rPr lang="zh-CN" sz="165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，变成一组</a:t>
            </a:r>
            <a:r>
              <a:rPr lang="zh-CN" sz="16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可出示给医生看的客观功能数字</a:t>
            </a:r>
            <a:r>
              <a:rPr lang="zh-CN" sz="165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——鼻阻力、壁面剪应力、后鼻孔温湿度。</a:t>
            </a:r>
            <a:endParaRPr lang="zh-CN" sz="1650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488612" y="4772025"/>
            <a:ext cx="1733550" cy="276225"/>
          </a:xfrm>
          <a:prstGeom prst="roundRect">
            <a:avLst>
              <a:gd name="adj" fmla="val 3444828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4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4621962" y="4829175"/>
            <a:ext cx="1466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DE3F4"/>
                </a:solidFill>
                <a:latin typeface="微软雅黑" panose="020B0503020204020204" charset="-122"/>
                <a:ea typeface="微软雅黑" panose="020B0503020204020204" charset="-122"/>
              </a:rPr>
              <a:t>空鼻症（</a:t>
            </a:r>
            <a:r>
              <a:rPr lang="en-US" sz="1050">
                <a:solidFill>
                  <a:srgbClr val="7DE3F4"/>
                </a:solidFill>
                <a:latin typeface="微软雅黑" panose="020B0503020204020204" charset="-122"/>
                <a:ea typeface="微软雅黑" panose="020B0503020204020204" charset="-122"/>
              </a:rPr>
              <a:t>ENS</a:t>
            </a:r>
            <a:r>
              <a:rPr lang="zh-CN" sz="1050">
                <a:solidFill>
                  <a:srgbClr val="7DE3F4"/>
                </a:solidFill>
                <a:latin typeface="微软雅黑" panose="020B0503020204020204" charset="-122"/>
                <a:ea typeface="微软雅黑" panose="020B0503020204020204" charset="-122"/>
              </a:rPr>
              <a:t>）功能评估</a:t>
            </a:r>
            <a:endParaRPr lang="zh-CN" sz="1050">
              <a:solidFill>
                <a:srgbClr val="7DE3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336462" y="4772025"/>
            <a:ext cx="1333500" cy="276225"/>
          </a:xfrm>
          <a:prstGeom prst="roundRect">
            <a:avLst>
              <a:gd name="adj" fmla="val 3444828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6469812" y="4829175"/>
            <a:ext cx="1066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全链路可复现</a:t>
            </a:r>
            <a:endParaRPr lang="zh-CN" sz="105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12880137" y="2047875"/>
            <a:ext cx="2428875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CT → </a:t>
            </a:r>
            <a:r>
              <a:rPr lang="zh-CN" sz="22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网格</a:t>
            </a:r>
            <a:r>
              <a:rPr lang="en-US" sz="22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→ </a:t>
            </a:r>
            <a:r>
              <a:rPr lang="zh-CN" sz="22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求解</a:t>
            </a:r>
            <a:endParaRPr lang="zh-CN" sz="225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14166012" y="2505075"/>
            <a:ext cx="1143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单命令全自动链路</a:t>
            </a:r>
            <a:endParaRPr lang="zh-CN" sz="112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308762" y="2847975"/>
            <a:ext cx="2000250" cy="9525"/>
          </a:xfrm>
          <a:prstGeom prst="rect">
            <a:avLst/>
          </a:prstGeom>
          <a:solidFill>
            <a:srgbClr val="8BA6C1">
              <a:alpha val="26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13613562" y="3028950"/>
            <a:ext cx="16954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3 </a:t>
            </a:r>
            <a:r>
              <a:rPr lang="zh-CN" sz="22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类功能指标</a:t>
            </a:r>
            <a:endParaRPr lang="zh-CN" sz="225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14166012" y="3486150"/>
            <a:ext cx="1143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对应患者三大主诉</a:t>
            </a:r>
            <a:endParaRPr lang="zh-CN" sz="112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308762" y="3829050"/>
            <a:ext cx="2000250" cy="9525"/>
          </a:xfrm>
          <a:prstGeom prst="rect">
            <a:avLst/>
          </a:prstGeom>
          <a:solidFill>
            <a:srgbClr val="8BA6C1">
              <a:alpha val="26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14756562" y="4010025"/>
            <a:ext cx="55245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4 </a:t>
            </a:r>
            <a:r>
              <a:rPr lang="zh-CN" sz="22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endParaRPr lang="zh-CN" sz="225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14137437" y="4467225"/>
            <a:ext cx="11715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0 </a:t>
            </a:r>
            <a:r>
              <a:rPr lang="zh-CN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到可复现交付</a:t>
            </a:r>
            <a:endParaRPr lang="zh-CN" sz="112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4488612" y="5886450"/>
            <a:ext cx="10820400" cy="371475"/>
          </a:xfrm>
          <a:custGeom>
            <a:avLst/>
            <a:gdLst/>
            <a:ahLst/>
            <a:cxnLst/>
            <a:pathLst>
              <a:path w="1136" h="39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8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23" name="文本框 23" descr="{&quot;isTemplate&quot;:true,&quot;type&quot;:&quot;text&quot;}"/>
          <p:cNvSpPr txBox="1"/>
          <p:nvPr/>
        </p:nvSpPr>
        <p:spPr>
          <a:xfrm>
            <a:off x="13623087" y="6086475"/>
            <a:ext cx="1685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2026.10 · 全链路验证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109012" y="609600"/>
            <a:ext cx="3200000" cy="30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500" b="1">
                <a:solidFill>
                  <a:srgbClr val="E8F1FA"/>
                </a:solidFill>
              </a:rPr>
              <a:t>剑穹小队</a:t>
            </a:r>
            <a:r>
              <a:rPr sz="1300">
                <a:solidFill>
                  <a:srgbClr val="22D3EE"/>
                </a:solidFill>
              </a:rPr>
              <a:t>　·　演讲序号 02</a:t>
            </a:r>
            <a:endParaRPr sz="1300">
              <a:solidFill>
                <a:srgbClr val="22D3E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矩形 311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9003" name="矩形 312"/>
          <p:cNvSpPr/>
          <p:nvPr/>
        </p:nvSpPr>
        <p:spPr>
          <a:xfrm>
            <a:off x="-491417" y="0"/>
            <a:ext cx="4937760" cy="493776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9004" name="矩形 313"/>
          <p:cNvSpPr/>
          <p:nvPr/>
        </p:nvSpPr>
        <p:spPr>
          <a:xfrm>
            <a:off x="15351281" y="1920240"/>
            <a:ext cx="4937760" cy="493776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354" name="矩形 312"/>
          <p:cNvSpPr/>
          <p:nvPr/>
        </p:nvSpPr>
        <p:spPr>
          <a:xfrm>
            <a:off x="3802812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355" name="矩形 313"/>
          <p:cNvSpPr/>
          <p:nvPr/>
        </p:nvSpPr>
        <p:spPr>
          <a:xfrm>
            <a:off x="11994312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356" name="文本框 314" descr="{&quot;isTemplate&quot;:true,&quot;type&quot;:&quot;text&quot;}"/>
          <p:cNvSpPr txBox="1"/>
          <p:nvPr/>
        </p:nvSpPr>
        <p:spPr>
          <a:xfrm>
            <a:off x="4412412" y="381000"/>
            <a:ext cx="24003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/ CONTENTS</a:t>
            </a:r>
            <a:endParaRPr lang="en-US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7" name="文本框 315" descr="{&quot;isTemplate&quot;:true,&quot;type&quot;:&quot;text&quot;}"/>
          <p:cNvSpPr txBox="1"/>
          <p:nvPr/>
        </p:nvSpPr>
        <p:spPr>
          <a:xfrm>
            <a:off x="4412412" y="609600"/>
            <a:ext cx="240030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今天的五个问题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" name="圆角矩形 316"/>
          <p:cNvSpPr/>
          <p:nvPr/>
        </p:nvSpPr>
        <p:spPr>
          <a:xfrm>
            <a:off x="14947062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59" name="文本框 317" descr="{&quot;isTemplate&quot;:true,&quot;type&quot;:&quot;text&quot;}"/>
          <p:cNvSpPr txBox="1"/>
          <p:nvPr/>
        </p:nvSpPr>
        <p:spPr>
          <a:xfrm>
            <a:off x="15051837" y="809625"/>
            <a:ext cx="238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5 Q</a:t>
            </a:r>
            <a:endParaRPr lang="en-US" sz="10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0" name="矩形 318"/>
          <p:cNvSpPr/>
          <p:nvPr/>
        </p:nvSpPr>
        <p:spPr>
          <a:xfrm>
            <a:off x="4412412" y="2343150"/>
            <a:ext cx="381000" cy="28575"/>
          </a:xfrm>
          <a:prstGeom prst="rect">
            <a:avLst/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361" name="文本框 319" descr="{&quot;isTemplate&quot;:true,&quot;type&quot;:&quot;text&quot;}"/>
          <p:cNvSpPr txBox="1"/>
          <p:nvPr/>
        </p:nvSpPr>
        <p:spPr>
          <a:xfrm>
            <a:off x="4412412" y="2543175"/>
            <a:ext cx="2857500" cy="1638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主办方给了五个问题。我们</a:t>
            </a:r>
            <a:r>
              <a:rPr lang="zh-CN" sz="15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一条都不绕开</a:t>
            </a:r>
            <a:r>
              <a:rPr lang="zh-CN" sz="15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——每一章只对一个核心问题负责，并给出可验证的回答。</a:t>
            </a:r>
            <a:endParaRPr lang="zh-CN" sz="15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2" name="文本框 320" descr="{&quot;isTemplate&quot;:true,&quot;type&quot;:&quot;text&quot;}"/>
          <p:cNvSpPr txBox="1"/>
          <p:nvPr/>
        </p:nvSpPr>
        <p:spPr>
          <a:xfrm>
            <a:off x="4412412" y="4352925"/>
            <a:ext cx="28575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全篇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18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五个章节扉页与左侧编号逐一对应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3" name="圆角矩形 321"/>
          <p:cNvSpPr/>
          <p:nvPr/>
        </p:nvSpPr>
        <p:spPr>
          <a:xfrm>
            <a:off x="7593762" y="1419225"/>
            <a:ext cx="7791450" cy="819150"/>
          </a:xfrm>
          <a:prstGeom prst="roundRect">
            <a:avLst>
              <a:gd name="adj" fmla="val 116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4" name="文本框 322" descr="{&quot;isTemplate&quot;:true,&quot;type&quot;:&quot;text&quot;}"/>
          <p:cNvSpPr txBox="1"/>
          <p:nvPr/>
        </p:nvSpPr>
        <p:spPr>
          <a:xfrm>
            <a:off x="7803312" y="1676400"/>
            <a:ext cx="4191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5" name="文本框 323" descr="{&quot;isTemplate&quot;:true,&quot;type&quot;:&quot;text&quot;}"/>
          <p:cNvSpPr txBox="1"/>
          <p:nvPr/>
        </p:nvSpPr>
        <p:spPr>
          <a:xfrm>
            <a:off x="8393862" y="1695450"/>
            <a:ext cx="2381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问题与需求</a:t>
            </a:r>
            <a:endParaRPr lang="zh-CN" sz="17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6" name="文本框 324" descr="{&quot;isTemplate&quot;:true,&quot;type&quot;:&quot;text&quot;}"/>
          <p:cNvSpPr txBox="1"/>
          <p:nvPr/>
        </p:nvSpPr>
        <p:spPr>
          <a:xfrm>
            <a:off x="10946562" y="1533525"/>
            <a:ext cx="38195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关注了哪类患者？他们面临什么真实困难？为什么值得解决？</a:t>
            </a:r>
            <a:endParaRPr lang="zh-CN" sz="13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7" name="文本框 325" descr="{&quot;isTemplate&quot;:true,&quot;type&quot;:&quot;text&quot;}"/>
          <p:cNvSpPr txBox="1"/>
          <p:nvPr/>
        </p:nvSpPr>
        <p:spPr>
          <a:xfrm>
            <a:off x="14937537" y="1752600"/>
            <a:ext cx="238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P03</a:t>
            </a:r>
            <a:endParaRPr lang="en-US" sz="105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" name="圆角矩形 326"/>
          <p:cNvSpPr/>
          <p:nvPr/>
        </p:nvSpPr>
        <p:spPr>
          <a:xfrm>
            <a:off x="7593762" y="2324100"/>
            <a:ext cx="7791450" cy="819150"/>
          </a:xfrm>
          <a:prstGeom prst="roundRect">
            <a:avLst>
              <a:gd name="adj" fmla="val 116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9" name="文本框 327" descr="{&quot;isTemplate&quot;:true,&quot;type&quot;:&quot;text&quot;}"/>
          <p:cNvSpPr txBox="1"/>
          <p:nvPr/>
        </p:nvSpPr>
        <p:spPr>
          <a:xfrm>
            <a:off x="7803312" y="2581275"/>
            <a:ext cx="4191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0" name="文本框 328" descr="{&quot;isTemplate&quot;:true,&quot;type&quot;:&quot;text&quot;}"/>
          <p:cNvSpPr txBox="1"/>
          <p:nvPr/>
        </p:nvSpPr>
        <p:spPr>
          <a:xfrm>
            <a:off x="8393862" y="2600325"/>
            <a:ext cx="2381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产品与解决方案</a:t>
            </a:r>
            <a:endParaRPr lang="zh-CN" sz="17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1" name="文本框 329" descr="{&quot;isTemplate&quot;:true,&quot;type&quot;:&quot;text&quot;}"/>
          <p:cNvSpPr txBox="1"/>
          <p:nvPr/>
        </p:nvSpPr>
        <p:spPr>
          <a:xfrm>
            <a:off x="10946562" y="2438400"/>
            <a:ext cx="38195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产品是什么？有哪些核心功能？如何使用？成本与可支付性是多少？</a:t>
            </a:r>
            <a:endParaRPr lang="zh-CN" sz="13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2" name="文本框 330" descr="{&quot;isTemplate&quot;:true,&quot;type&quot;:&quot;text&quot;}"/>
          <p:cNvSpPr txBox="1"/>
          <p:nvPr/>
        </p:nvSpPr>
        <p:spPr>
          <a:xfrm>
            <a:off x="14937537" y="2657475"/>
            <a:ext cx="238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P06</a:t>
            </a:r>
            <a:endParaRPr lang="en-US" sz="105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3" name="圆角矩形 331"/>
          <p:cNvSpPr/>
          <p:nvPr/>
        </p:nvSpPr>
        <p:spPr>
          <a:xfrm>
            <a:off x="7593762" y="3228975"/>
            <a:ext cx="7791450" cy="819150"/>
          </a:xfrm>
          <a:prstGeom prst="roundRect">
            <a:avLst>
              <a:gd name="adj" fmla="val 116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4" name="文本框 332" descr="{&quot;isTemplate&quot;:true,&quot;type&quot;:&quot;text&quot;}"/>
          <p:cNvSpPr txBox="1"/>
          <p:nvPr/>
        </p:nvSpPr>
        <p:spPr>
          <a:xfrm>
            <a:off x="7803312" y="3486150"/>
            <a:ext cx="4191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5" name="文本框 333" descr="{&quot;isTemplate&quot;:true,&quot;type&quot;:&quot;text&quot;}"/>
          <p:cNvSpPr txBox="1"/>
          <p:nvPr/>
        </p:nvSpPr>
        <p:spPr>
          <a:xfrm>
            <a:off x="8393862" y="3505200"/>
            <a:ext cx="2381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一个月的协作故事</a:t>
            </a:r>
            <a:endParaRPr lang="zh-CN" sz="17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6" name="文本框 334" descr="{&quot;isTemplate&quot;:true,&quot;type&quot;:&quot;text&quot;}"/>
          <p:cNvSpPr txBox="1"/>
          <p:nvPr/>
        </p:nvSpPr>
        <p:spPr>
          <a:xfrm>
            <a:off x="10946562" y="3343275"/>
            <a:ext cx="38195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团队如何从想法走到产品？经历了哪些困难、关键转折和难点？</a:t>
            </a:r>
            <a:endParaRPr lang="zh-CN" sz="13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7" name="文本框 335" descr="{&quot;isTemplate&quot;:true,&quot;type&quot;:&quot;text&quot;}"/>
          <p:cNvSpPr txBox="1"/>
          <p:nvPr/>
        </p:nvSpPr>
        <p:spPr>
          <a:xfrm>
            <a:off x="14937537" y="3562350"/>
            <a:ext cx="238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P10</a:t>
            </a:r>
            <a:endParaRPr lang="en-US" sz="105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8" name="圆角矩形 336"/>
          <p:cNvSpPr/>
          <p:nvPr/>
        </p:nvSpPr>
        <p:spPr>
          <a:xfrm>
            <a:off x="7593762" y="4133850"/>
            <a:ext cx="7791450" cy="819150"/>
          </a:xfrm>
          <a:prstGeom prst="roundRect">
            <a:avLst>
              <a:gd name="adj" fmla="val 116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9" name="文本框 337" descr="{&quot;isTemplate&quot;:true,&quot;type&quot;:&quot;text&quot;}"/>
          <p:cNvSpPr txBox="1"/>
          <p:nvPr/>
        </p:nvSpPr>
        <p:spPr>
          <a:xfrm>
            <a:off x="7803312" y="4391025"/>
            <a:ext cx="4191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0" name="文本框 338" descr="{&quot;isTemplate&quot;:true,&quot;type&quot;:&quot;text&quot;}"/>
          <p:cNvSpPr txBox="1"/>
          <p:nvPr/>
        </p:nvSpPr>
        <p:spPr>
          <a:xfrm>
            <a:off x="8393862" y="4410075"/>
            <a:ext cx="2381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测试过程与真实反馈</a:t>
            </a:r>
            <a:endParaRPr lang="zh-CN" sz="17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1" name="文本框 339" descr="{&quot;isTemplate&quot;:true,&quot;type&quot;:&quot;text&quot;}"/>
          <p:cNvSpPr txBox="1"/>
          <p:nvPr/>
        </p:nvSpPr>
        <p:spPr>
          <a:xfrm>
            <a:off x="10946562" y="4248150"/>
            <a:ext cx="38195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如何测试？收到哪些反馈？根据反馈做了什么？取得了什么效果？</a:t>
            </a:r>
            <a:endParaRPr lang="zh-CN" sz="13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2" name="文本框 340" descr="{&quot;isTemplate&quot;:true,&quot;type&quot;:&quot;text&quot;}"/>
          <p:cNvSpPr txBox="1"/>
          <p:nvPr/>
        </p:nvSpPr>
        <p:spPr>
          <a:xfrm>
            <a:off x="14937537" y="4467225"/>
            <a:ext cx="238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P13</a:t>
            </a:r>
            <a:endParaRPr lang="en-US" sz="105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3" name="圆角矩形 341"/>
          <p:cNvSpPr/>
          <p:nvPr/>
        </p:nvSpPr>
        <p:spPr>
          <a:xfrm>
            <a:off x="7593762" y="5038725"/>
            <a:ext cx="7791450" cy="819150"/>
          </a:xfrm>
          <a:prstGeom prst="roundRect">
            <a:avLst>
              <a:gd name="adj" fmla="val 116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4" name="文本框 342" descr="{&quot;isTemplate&quot;:true,&quot;type&quot;:&quot;text&quot;}"/>
          <p:cNvSpPr txBox="1"/>
          <p:nvPr/>
        </p:nvSpPr>
        <p:spPr>
          <a:xfrm>
            <a:off x="7803312" y="5295900"/>
            <a:ext cx="4191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5" name="文本框 343" descr="{&quot;isTemplate&quot;:true,&quot;type&quot;:&quot;text&quot;}"/>
          <p:cNvSpPr txBox="1"/>
          <p:nvPr/>
        </p:nvSpPr>
        <p:spPr>
          <a:xfrm>
            <a:off x="8393862" y="5314950"/>
            <a:ext cx="23812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团队与产品的未来计划</a:t>
            </a:r>
            <a:endParaRPr lang="zh-CN" sz="17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6" name="文本框 344" descr="{&quot;isTemplate&quot;:true,&quot;type&quot;:&quot;text&quot;}"/>
          <p:cNvSpPr txBox="1"/>
          <p:nvPr/>
        </p:nvSpPr>
        <p:spPr>
          <a:xfrm>
            <a:off x="10946562" y="5153025"/>
            <a:ext cx="3819525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团队是否持续协作？下一步如何开发、验证和落地？需要哪些支持？</a:t>
            </a:r>
            <a:endParaRPr lang="zh-CN" sz="13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7" name="文本框 345" descr="{&quot;isTemplate&quot;:true,&quot;type&quot;:&quot;text&quot;}"/>
          <p:cNvSpPr txBox="1"/>
          <p:nvPr/>
        </p:nvSpPr>
        <p:spPr>
          <a:xfrm>
            <a:off x="14937537" y="5372100"/>
            <a:ext cx="2381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P16</a:t>
            </a:r>
            <a:endParaRPr lang="en-US" sz="105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任意多边形 346"/>
          <p:cNvSpPr/>
          <p:nvPr/>
        </p:nvSpPr>
        <p:spPr>
          <a:xfrm>
            <a:off x="4412412" y="6134100"/>
            <a:ext cx="10972800" cy="400050"/>
          </a:xfrm>
          <a:custGeom>
            <a:avLst/>
            <a:gdLst/>
            <a:ahLst/>
            <a:cxnLst/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389" name="文本框 347" descr="{&quot;isTemplate&quot;:true,&quot;type&quot;:&quot;text&quot;}"/>
          <p:cNvSpPr txBox="1"/>
          <p:nvPr/>
        </p:nvSpPr>
        <p:spPr>
          <a:xfrm>
            <a:off x="4412412" y="6257925"/>
            <a:ext cx="1600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空鼻症鼻腔功能客观化评估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0" name="文本框 348" descr="{&quot;isTemplate&quot;:true,&quot;type&quot;:&quot;text&quot;}"/>
          <p:cNvSpPr txBox="1"/>
          <p:nvPr/>
        </p:nvSpPr>
        <p:spPr>
          <a:xfrm>
            <a:off x="14928012" y="62579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02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矩形 350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pic>
        <p:nvPicPr>
          <p:cNvPr id="393" name="图片 351"/>
          <p:cNvPicPr>
            <a:picLocks noChangeAspect="1"/>
          </p:cNvPicPr>
          <p:nvPr/>
        </p:nvPicPr>
        <p:blipFill>
          <a:blip r:embed="rId1"/>
          <a:srcRect t="3246" b="3246"/>
          <a:stretch>
            <a:fillRect/>
          </a:stretch>
        </p:blipFill>
        <p:spPr>
          <a:xfrm>
            <a:off x="0" y="0"/>
            <a:ext cx="19797624" cy="6858000"/>
          </a:xfrm>
          <a:prstGeom prst="rect">
            <a:avLst/>
          </a:prstGeom>
        </p:spPr>
      </p:pic>
      <p:sp>
        <p:nvSpPr>
          <p:cNvPr id="394" name="矩形 352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gradFill>
            <a:gsLst>
              <a:gs pos="0">
                <a:srgbClr val="0A1A2F">
                  <a:alpha val="98000"/>
                </a:srgbClr>
              </a:gs>
              <a:gs pos="40000">
                <a:srgbClr val="0A1A2F">
                  <a:alpha val="92000"/>
                </a:srgbClr>
              </a:gs>
              <a:gs pos="78000">
                <a:srgbClr val="0A1A2F">
                  <a:alpha val="25000"/>
                </a:srgbClr>
              </a:gs>
              <a:gs pos="100000">
                <a:srgbClr val="0A1A2F">
                  <a:alpha val="60000"/>
                </a:srgbClr>
              </a:gs>
            </a:gsLst>
            <a:lin ang="0" scaled="1"/>
          </a:gradFill>
        </p:spPr>
        <p:txBody>
          <a:bodyPr/>
          <a:p>
            <a:pPr/>
            <a:endParaRPr/>
          </a:p>
        </p:txBody>
      </p:sp>
      <p:sp>
        <p:nvSpPr>
          <p:cNvPr id="395" name="矩形 353"/>
          <p:cNvSpPr/>
          <p:nvPr/>
        </p:nvSpPr>
        <p:spPr>
          <a:xfrm>
            <a:off x="4564812" y="1809750"/>
            <a:ext cx="28575" cy="800100"/>
          </a:xfrm>
          <a:prstGeom prst="rect">
            <a:avLst/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396" name="文本框 354" descr="{&quot;isTemplate&quot;:true,&quot;type&quot;:&quot;text&quot;}"/>
          <p:cNvSpPr txBox="1"/>
          <p:nvPr/>
        </p:nvSpPr>
        <p:spPr>
          <a:xfrm>
            <a:off x="4783887" y="1800225"/>
            <a:ext cx="800100" cy="819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1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51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7" name="文本框 355" descr="{&quot;isTemplate&quot;:true,&quot;type&quot;:&quot;text&quot;}"/>
          <p:cNvSpPr txBox="1"/>
          <p:nvPr/>
        </p:nvSpPr>
        <p:spPr>
          <a:xfrm>
            <a:off x="5774487" y="1828800"/>
            <a:ext cx="2857500" cy="762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问题与需求</a:t>
            </a:r>
            <a:endParaRPr lang="zh-CN" sz="4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8" name="文本框 356" descr="{&quot;isTemplate&quot;:true,&quot;type&quot;:&quot;text&quot;}"/>
          <p:cNvSpPr txBox="1"/>
          <p:nvPr/>
        </p:nvSpPr>
        <p:spPr>
          <a:xfrm>
            <a:off x="4564812" y="2886075"/>
            <a:ext cx="68580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他们说的不是「堵」。是</a:t>
            </a:r>
            <a:r>
              <a:rPr lang="zh-CN" sz="18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干</a:t>
            </a: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、是</a:t>
            </a:r>
            <a:r>
              <a:rPr lang="zh-CN" sz="18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感觉不到自己在呼吸</a:t>
            </a: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，以及最伤人的——</a:t>
            </a:r>
            <a:r>
              <a:rPr lang="zh-CN" sz="1800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没有人相信</a:t>
            </a: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800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9" name="圆角矩形 357"/>
          <p:cNvSpPr/>
          <p:nvPr/>
        </p:nvSpPr>
        <p:spPr>
          <a:xfrm>
            <a:off x="4564812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400" name="文本框 358" descr="{&quot;isTemplate&quot;:true,&quot;type&quot;:&quot;text&quot;}"/>
          <p:cNvSpPr txBox="1"/>
          <p:nvPr/>
        </p:nvSpPr>
        <p:spPr>
          <a:xfrm>
            <a:off x="4707687" y="4019550"/>
            <a:ext cx="647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患者画像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1" name="圆角矩形 359"/>
          <p:cNvSpPr/>
          <p:nvPr/>
        </p:nvSpPr>
        <p:spPr>
          <a:xfrm>
            <a:off x="5641137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402" name="文本框 360" descr="{&quot;isTemplate&quot;:true,&quot;type&quot;:&quot;text&quot;}"/>
          <p:cNvSpPr txBox="1"/>
          <p:nvPr/>
        </p:nvSpPr>
        <p:spPr>
          <a:xfrm>
            <a:off x="5784012" y="4019550"/>
            <a:ext cx="971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五大共性问题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3" name="圆角矩形 361"/>
          <p:cNvSpPr/>
          <p:nvPr/>
        </p:nvSpPr>
        <p:spPr>
          <a:xfrm>
            <a:off x="7041312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404" name="文本框 362" descr="{&quot;isTemplate&quot;:true,&quot;type&quot;:&quot;text&quot;}"/>
          <p:cNvSpPr txBox="1"/>
          <p:nvPr/>
        </p:nvSpPr>
        <p:spPr>
          <a:xfrm>
            <a:off x="7184187" y="4019550"/>
            <a:ext cx="876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20% </a:t>
            </a: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发生率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5" name="文本框 363" descr="{&quot;isTemplate&quot;:true,&quot;type&quot;:&quot;text&quot;}"/>
          <p:cNvSpPr txBox="1"/>
          <p:nvPr/>
        </p:nvSpPr>
        <p:spPr>
          <a:xfrm>
            <a:off x="4564812" y="4638675"/>
            <a:ext cx="942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SECTION</a:t>
            </a:r>
            <a:endParaRPr lang="en-US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6" name="文本框 364" descr="{&quot;isTemplate&quot;:true,&quot;type&quot;:&quot;text&quot;}"/>
          <p:cNvSpPr txBox="1"/>
          <p:nvPr/>
        </p:nvSpPr>
        <p:spPr>
          <a:xfrm>
            <a:off x="4564812" y="4838700"/>
            <a:ext cx="9429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P03 – P05</a:t>
            </a:r>
            <a:endParaRPr lang="en-US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7" name="文本框 365" descr="{&quot;isTemplate&quot;:true,&quot;type&quot;:&quot;text&quot;}"/>
          <p:cNvSpPr txBox="1"/>
          <p:nvPr/>
        </p:nvSpPr>
        <p:spPr>
          <a:xfrm>
            <a:off x="5888787" y="4638675"/>
            <a:ext cx="3067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本章回答</a:t>
            </a:r>
            <a:endParaRPr lang="zh-CN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8" name="文本框 366" descr="{&quot;isTemplate&quot;:true,&quot;type&quot;:&quot;text&quot;}"/>
          <p:cNvSpPr txBox="1"/>
          <p:nvPr/>
        </p:nvSpPr>
        <p:spPr>
          <a:xfrm>
            <a:off x="5888787" y="4838700"/>
            <a:ext cx="3067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谁在受困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痛在哪里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为何值得解决</a:t>
            </a:r>
            <a:endParaRPr lang="zh-CN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9" name="圆角矩形 367"/>
          <p:cNvSpPr/>
          <p:nvPr/>
        </p:nvSpPr>
        <p:spPr>
          <a:xfrm>
            <a:off x="4564812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410" name="文本框 368" descr="{&quot;isTemplate&quot;:true,&quot;type&quot;:&quot;text&quot;}"/>
          <p:cNvSpPr txBox="1"/>
          <p:nvPr/>
        </p:nvSpPr>
        <p:spPr>
          <a:xfrm>
            <a:off x="4564812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01 </a:t>
            </a:r>
            <a:r>
              <a:rPr lang="zh-CN" sz="9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问题与需求</a:t>
            </a:r>
            <a:endParaRPr lang="zh-CN" sz="9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1" name="圆角矩形 369"/>
          <p:cNvSpPr/>
          <p:nvPr/>
        </p:nvSpPr>
        <p:spPr>
          <a:xfrm>
            <a:off x="6726987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412" name="文本框 370" descr="{&quot;isTemplate&quot;:true,&quot;type&quot;:&quot;text&quot;}"/>
          <p:cNvSpPr txBox="1"/>
          <p:nvPr/>
        </p:nvSpPr>
        <p:spPr>
          <a:xfrm>
            <a:off x="6726987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02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产品与解决方案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3" name="圆角矩形 371"/>
          <p:cNvSpPr/>
          <p:nvPr/>
        </p:nvSpPr>
        <p:spPr>
          <a:xfrm>
            <a:off x="8889162" y="6115050"/>
            <a:ext cx="2019300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414" name="文本框 372" descr="{&quot;isTemplate&quot;:true,&quot;type&quot;:&quot;text&quot;}"/>
          <p:cNvSpPr txBox="1"/>
          <p:nvPr/>
        </p:nvSpPr>
        <p:spPr>
          <a:xfrm>
            <a:off x="8889162" y="6219825"/>
            <a:ext cx="2019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03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一个月的协作故事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5" name="圆角矩形 373"/>
          <p:cNvSpPr/>
          <p:nvPr/>
        </p:nvSpPr>
        <p:spPr>
          <a:xfrm>
            <a:off x="11041812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416" name="文本框 374" descr="{&quot;isTemplate&quot;:true,&quot;type&quot;:&quot;text&quot;}"/>
          <p:cNvSpPr txBox="1"/>
          <p:nvPr/>
        </p:nvSpPr>
        <p:spPr>
          <a:xfrm>
            <a:off x="11041812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04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测试过程与真实反馈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7" name="圆角矩形 375"/>
          <p:cNvSpPr/>
          <p:nvPr/>
        </p:nvSpPr>
        <p:spPr>
          <a:xfrm>
            <a:off x="13203987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418" name="文本框 376" descr="{&quot;isTemplate&quot;:true,&quot;type&quot;:&quot;text&quot;}"/>
          <p:cNvSpPr txBox="1"/>
          <p:nvPr/>
        </p:nvSpPr>
        <p:spPr>
          <a:xfrm>
            <a:off x="13203987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05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团队与产品的未来计划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矩形 378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9005" name="矩形 379"/>
          <p:cNvSpPr/>
          <p:nvPr/>
        </p:nvSpPr>
        <p:spPr>
          <a:xfrm>
            <a:off x="-491417" y="0"/>
            <a:ext cx="4937760" cy="493776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9006" name="矩形 380"/>
          <p:cNvSpPr/>
          <p:nvPr/>
        </p:nvSpPr>
        <p:spPr>
          <a:xfrm>
            <a:off x="15351281" y="1920240"/>
            <a:ext cx="4937760" cy="493776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421" name="矩形 379"/>
          <p:cNvSpPr/>
          <p:nvPr/>
        </p:nvSpPr>
        <p:spPr>
          <a:xfrm>
            <a:off x="3802812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422" name="矩形 380"/>
          <p:cNvSpPr/>
          <p:nvPr/>
        </p:nvSpPr>
        <p:spPr>
          <a:xfrm>
            <a:off x="11994312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423" name="文本框 381" descr="{&quot;isTemplate&quot;:true,&quot;type&quot;:&quot;text&quot;}"/>
          <p:cNvSpPr txBox="1"/>
          <p:nvPr/>
        </p:nvSpPr>
        <p:spPr>
          <a:xfrm>
            <a:off x="4412412" y="381000"/>
            <a:ext cx="466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01 / </a:t>
            </a: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问题与需求</a:t>
            </a:r>
            <a:endParaRPr lang="zh-CN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4" name="文本框 382" descr="{&quot;isTemplate&quot;:true,&quot;type&quot;:&quot;text&quot;}"/>
          <p:cNvSpPr txBox="1"/>
          <p:nvPr/>
        </p:nvSpPr>
        <p:spPr>
          <a:xfrm>
            <a:off x="4412412" y="609600"/>
            <a:ext cx="466725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一群被</a:t>
            </a:r>
            <a:r>
              <a:rPr lang="en-US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CT</a:t>
            </a: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「证明健康」的病人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5" name="圆角矩形 383"/>
          <p:cNvSpPr/>
          <p:nvPr/>
        </p:nvSpPr>
        <p:spPr>
          <a:xfrm>
            <a:off x="14947062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6" name="文本框 384" descr="{&quot;isTemplate&quot;:true,&quot;type&quot;:&quot;text&quot;}"/>
          <p:cNvSpPr txBox="1"/>
          <p:nvPr/>
        </p:nvSpPr>
        <p:spPr>
          <a:xfrm>
            <a:off x="15042312" y="809625"/>
            <a:ext cx="2571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ENS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7" name="圆角矩形 385"/>
          <p:cNvSpPr/>
          <p:nvPr/>
        </p:nvSpPr>
        <p:spPr>
          <a:xfrm>
            <a:off x="4412412" y="15335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8" name="文本框 386" descr="{&quot;isTemplate&quot;:true,&quot;type&quot;:&quot;text&quot;}"/>
          <p:cNvSpPr txBox="1"/>
          <p:nvPr/>
        </p:nvSpPr>
        <p:spPr>
          <a:xfrm>
            <a:off x="4583862" y="1647825"/>
            <a:ext cx="2476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3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9" name="文本框 387" descr="{&quot;isTemplate&quot;:true,&quot;type&quot;:&quot;text&quot;}"/>
          <p:cNvSpPr txBox="1"/>
          <p:nvPr/>
        </p:nvSpPr>
        <p:spPr>
          <a:xfrm>
            <a:off x="4964862" y="1647825"/>
            <a:ext cx="56578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矛盾性鼻塞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0" name="文本框 388" descr="{&quot;isTemplate&quot;:true,&quot;type&quot;:&quot;text&quot;}"/>
          <p:cNvSpPr txBox="1"/>
          <p:nvPr/>
        </p:nvSpPr>
        <p:spPr>
          <a:xfrm>
            <a:off x="4964862" y="1933575"/>
            <a:ext cx="5657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主诉「吸不进气」，可内镜和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CT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都显示鼻腔通畅——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7/7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来源一致的核心症状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1" name="圆角矩形 389"/>
          <p:cNvSpPr/>
          <p:nvPr/>
        </p:nvSpPr>
        <p:spPr>
          <a:xfrm>
            <a:off x="4412412" y="24098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32" name="文本框 390" descr="{&quot;isTemplate&quot;:true,&quot;type&quot;:&quot;text&quot;}"/>
          <p:cNvSpPr txBox="1"/>
          <p:nvPr/>
        </p:nvSpPr>
        <p:spPr>
          <a:xfrm>
            <a:off x="4583862" y="2524125"/>
            <a:ext cx="2476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3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3" name="文本框 391" descr="{&quot;isTemplate&quot;:true,&quot;type&quot;:&quot;text&quot;}"/>
          <p:cNvSpPr txBox="1"/>
          <p:nvPr/>
        </p:nvSpPr>
        <p:spPr>
          <a:xfrm>
            <a:off x="4964862" y="2524125"/>
            <a:ext cx="50292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干燥</a:t>
            </a:r>
            <a:r>
              <a:rPr lang="en-US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结痂</a:t>
            </a:r>
            <a:r>
              <a:rPr lang="en-US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烧灼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4" name="文本框 392" descr="{&quot;isTemplate&quot;:true,&quot;type&quot;:&quot;text&quot;}"/>
          <p:cNvSpPr txBox="1"/>
          <p:nvPr/>
        </p:nvSpPr>
        <p:spPr>
          <a:xfrm>
            <a:off x="4964862" y="2809875"/>
            <a:ext cx="5029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「呼吸进来的空气像刀子」；鼻腔灼热、结痂、反复感染——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7/7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一致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5" name="圆角矩形 393"/>
          <p:cNvSpPr/>
          <p:nvPr/>
        </p:nvSpPr>
        <p:spPr>
          <a:xfrm>
            <a:off x="4412412" y="32861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36" name="文本框 394" descr="{&quot;isTemplate&quot;:true,&quot;type&quot;:&quot;text&quot;}"/>
          <p:cNvSpPr txBox="1"/>
          <p:nvPr/>
        </p:nvSpPr>
        <p:spPr>
          <a:xfrm>
            <a:off x="4583862" y="3400425"/>
            <a:ext cx="2476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3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7" name="文本框 395" descr="{&quot;isTemplate&quot;:true,&quot;type&quot;:&quot;text&quot;}"/>
          <p:cNvSpPr txBox="1"/>
          <p:nvPr/>
        </p:nvSpPr>
        <p:spPr>
          <a:xfrm>
            <a:off x="4964862" y="3400425"/>
            <a:ext cx="40576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气流感知丧失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8" name="文本框 396" descr="{&quot;isTemplate&quot;:true,&quot;type&quot;:&quot;text&quot;}"/>
          <p:cNvSpPr txBox="1"/>
          <p:nvPr/>
        </p:nvSpPr>
        <p:spPr>
          <a:xfrm>
            <a:off x="4964862" y="3686175"/>
            <a:ext cx="40576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感觉不到空气流过鼻子，「直接吸到肺里」——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6/7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一致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9" name="圆角矩形 397"/>
          <p:cNvSpPr/>
          <p:nvPr/>
        </p:nvSpPr>
        <p:spPr>
          <a:xfrm>
            <a:off x="4412412" y="41624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0" name="文本框 398" descr="{&quot;isTemplate&quot;:true,&quot;type&quot;:&quot;text&quot;}"/>
          <p:cNvSpPr txBox="1"/>
          <p:nvPr/>
        </p:nvSpPr>
        <p:spPr>
          <a:xfrm>
            <a:off x="4583862" y="4276725"/>
            <a:ext cx="2476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3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1" name="文本框 399" descr="{&quot;isTemplate&quot;:true,&quot;type&quot;:&quot;text&quot;}"/>
          <p:cNvSpPr txBox="1"/>
          <p:nvPr/>
        </p:nvSpPr>
        <p:spPr>
          <a:xfrm>
            <a:off x="4964862" y="4276725"/>
            <a:ext cx="42195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睡眠障碍</a:t>
            </a:r>
            <a:r>
              <a:rPr lang="en-US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疲劳</a:t>
            </a:r>
            <a:r>
              <a:rPr lang="en-US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认知下降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2" name="文本框 400" descr="{&quot;isTemplate&quot;:true,&quot;type&quot;:&quot;text&quot;}"/>
          <p:cNvSpPr txBox="1"/>
          <p:nvPr/>
        </p:nvSpPr>
        <p:spPr>
          <a:xfrm>
            <a:off x="4964862" y="4562475"/>
            <a:ext cx="42195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整夜无法入睡、白天浑浑噩噩、劳动能力丧失——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7/7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一致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3" name="圆角矩形 401"/>
          <p:cNvSpPr/>
          <p:nvPr/>
        </p:nvSpPr>
        <p:spPr>
          <a:xfrm>
            <a:off x="4412412" y="5038725"/>
            <a:ext cx="66294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4" name="文本框 402" descr="{&quot;isTemplate&quot;:true,&quot;type&quot;:&quot;text&quot;}"/>
          <p:cNvSpPr txBox="1"/>
          <p:nvPr/>
        </p:nvSpPr>
        <p:spPr>
          <a:xfrm>
            <a:off x="4583862" y="5153025"/>
            <a:ext cx="2476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13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5" name="文本框 403" descr="{&quot;isTemplate&quot;:true,&quot;type&quot;:&quot;text&quot;}"/>
          <p:cNvSpPr txBox="1"/>
          <p:nvPr/>
        </p:nvSpPr>
        <p:spPr>
          <a:xfrm>
            <a:off x="4964862" y="5153025"/>
            <a:ext cx="48958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焦虑</a:t>
            </a:r>
            <a:r>
              <a:rPr lang="en-US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抑郁共病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6" name="文本框 404" descr="{&quot;isTemplate&quot;:true,&quot;type&quot;:&quot;text&quot;}"/>
          <p:cNvSpPr txBox="1"/>
          <p:nvPr/>
        </p:nvSpPr>
        <p:spPr>
          <a:xfrm>
            <a:off x="4964862" y="5438775"/>
            <a:ext cx="4895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中国患者常见路径：耳鼻喉科不接诊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→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被诊断为抑郁症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→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转精神科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7" name="圆角矩形 405"/>
          <p:cNvSpPr/>
          <p:nvPr/>
        </p:nvSpPr>
        <p:spPr>
          <a:xfrm>
            <a:off x="11327562" y="1257300"/>
            <a:ext cx="4057650" cy="4857750"/>
          </a:xfrm>
          <a:prstGeom prst="roundRect">
            <a:avLst>
              <a:gd name="adj" fmla="val 2817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22D3EE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8" name="文本框 406" descr="{&quot;isTemplate&quot;:true,&quot;type&quot;:&quot;text&quot;}"/>
          <p:cNvSpPr txBox="1"/>
          <p:nvPr/>
        </p:nvSpPr>
        <p:spPr>
          <a:xfrm>
            <a:off x="11556162" y="1504950"/>
            <a:ext cx="3600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空鼻症</a:t>
            </a:r>
            <a:r>
              <a:rPr lang="en-US" sz="1125" b="1" spc="1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EMPTY NOSE SYNDROME</a:t>
            </a:r>
            <a:endParaRPr lang="en-US" sz="1125" b="1" spc="1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9" name="文本框 407" descr="{&quot;isTemplate&quot;:true,&quot;type&quot;:&quot;text&quot;}"/>
          <p:cNvSpPr txBox="1"/>
          <p:nvPr/>
        </p:nvSpPr>
        <p:spPr>
          <a:xfrm>
            <a:off x="11556162" y="1771650"/>
            <a:ext cx="3600450" cy="1104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多发生在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鼻甲手术后</a:t>
            </a: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：鼻腔过于宽大，黏膜与神经末梢减少，加温加湿、气流感知、鼻阻力同时失守。</a:t>
            </a:r>
            <a:endParaRPr lang="zh-CN" sz="1500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0" name="文本框 408" descr="{&quot;isTemplate&quot;:true,&quot;type&quot;:&quot;text&quot;}"/>
          <p:cNvSpPr txBox="1"/>
          <p:nvPr/>
        </p:nvSpPr>
        <p:spPr>
          <a:xfrm>
            <a:off x="11556162" y="2933700"/>
            <a:ext cx="3600450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20%</a:t>
            </a:r>
            <a:endParaRPr lang="en-US" sz="57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1" name="文本框 409" descr="{&quot;isTemplate&quot;:true,&quot;type&quot;:&quot;text&quot;}"/>
          <p:cNvSpPr txBox="1"/>
          <p:nvPr/>
        </p:nvSpPr>
        <p:spPr>
          <a:xfrm>
            <a:off x="11556162" y="3867150"/>
            <a:ext cx="36004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下鼻甲全切术后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ENS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发生率（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5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个来源一致，含人民日报报道）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2" name="任意多边形 410"/>
          <p:cNvSpPr/>
          <p:nvPr/>
        </p:nvSpPr>
        <p:spPr>
          <a:xfrm>
            <a:off x="11556162" y="4467225"/>
            <a:ext cx="3600450" cy="1409700"/>
          </a:xfrm>
          <a:custGeom>
            <a:avLst/>
            <a:gdLst/>
            <a:ahLst/>
            <a:cxnLst/>
            <a:pathLst>
              <a:path w="378" h="148">
                <a:moveTo>
                  <a:pt x="0" y="0"/>
                </a:moveTo>
                <a:lnTo>
                  <a:pt x="378" y="0"/>
                </a:lnTo>
                <a:lnTo>
                  <a:pt x="378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4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453" name="文本框 411" descr="{&quot;isTemplate&quot;:true,&quot;type&quot;:&quot;text&quot;}"/>
          <p:cNvSpPr txBox="1"/>
          <p:nvPr/>
        </p:nvSpPr>
        <p:spPr>
          <a:xfrm>
            <a:off x="11556162" y="4610100"/>
            <a:ext cx="3600450" cy="1019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「愿用一条胳膊或者一条腿换回一个健康的鼻子——四肢残缺还能得到别人的同情，可空鼻症却不被理解。」</a:t>
            </a:r>
            <a:endParaRPr lang="zh-CN" sz="142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4" name="文本框 412" descr="{&quot;isTemplate&quot;:true,&quot;type&quot;:&quot;text&quot;}"/>
          <p:cNvSpPr txBox="1"/>
          <p:nvPr/>
        </p:nvSpPr>
        <p:spPr>
          <a:xfrm>
            <a:off x="11556162" y="5705475"/>
            <a:ext cx="3600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患者原声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健康时报报道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5" name="任意多边形 413"/>
          <p:cNvSpPr/>
          <p:nvPr/>
        </p:nvSpPr>
        <p:spPr>
          <a:xfrm>
            <a:off x="4412412" y="619125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456" name="文本框 414" descr="{&quot;isTemplate&quot;:true,&quot;type&quot;:&quot;text&quot;}"/>
          <p:cNvSpPr txBox="1"/>
          <p:nvPr/>
        </p:nvSpPr>
        <p:spPr>
          <a:xfrm>
            <a:off x="4412412" y="6305550"/>
            <a:ext cx="4210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来源：多源交叉验证表（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2026-10-15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）·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12 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类来源，剔除不可溯源数字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7" name="文本框 415" descr="{&quot;isTemplate&quot;:true,&quot;type&quot;:&quot;text&quot;}"/>
          <p:cNvSpPr txBox="1"/>
          <p:nvPr/>
        </p:nvSpPr>
        <p:spPr>
          <a:xfrm>
            <a:off x="14928012" y="630555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04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4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矩形 417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9007" name="矩形 418"/>
          <p:cNvSpPr/>
          <p:nvPr/>
        </p:nvSpPr>
        <p:spPr>
          <a:xfrm>
            <a:off x="-491417" y="0"/>
            <a:ext cx="4937760" cy="4937760"/>
          </a:xfrm>
          <a:prstGeom prst="rect">
            <a:avLst/>
          </a:prstGeom>
          <a:gradFill>
            <a:gsLst>
              <a:gs pos="0">
                <a:srgbClr val="22D3EE">
                  <a:alpha val="16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9008" name="矩形 419"/>
          <p:cNvSpPr/>
          <p:nvPr/>
        </p:nvSpPr>
        <p:spPr>
          <a:xfrm>
            <a:off x="15351281" y="1920240"/>
            <a:ext cx="4937760" cy="4937760"/>
          </a:xfrm>
          <a:prstGeom prst="rect">
            <a:avLst/>
          </a:prstGeom>
          <a:gradFill>
            <a:gsLst>
              <a:gs pos="0">
                <a:srgbClr val="F5A524">
                  <a:alpha val="10000"/>
                </a:srgbClr>
              </a:gs>
              <a:gs pos="70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460" name="矩形 418"/>
          <p:cNvSpPr/>
          <p:nvPr/>
        </p:nvSpPr>
        <p:spPr>
          <a:xfrm>
            <a:off x="3802812" y="0"/>
            <a:ext cx="5905500" cy="5905500"/>
          </a:xfrm>
          <a:prstGeom prst="rect">
            <a:avLst/>
          </a:prstGeom>
          <a:gradFill>
            <a:gsLst>
              <a:gs pos="0">
                <a:srgbClr val="22D3EE">
                  <a:alpha val="16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461" name="矩形 419"/>
          <p:cNvSpPr/>
          <p:nvPr/>
        </p:nvSpPr>
        <p:spPr>
          <a:xfrm>
            <a:off x="11613312" y="2476500"/>
            <a:ext cx="4381500" cy="4381500"/>
          </a:xfrm>
          <a:prstGeom prst="rect">
            <a:avLst/>
          </a:prstGeom>
          <a:gradFill>
            <a:gsLst>
              <a:gs pos="0">
                <a:srgbClr val="F5A524">
                  <a:alpha val="10000"/>
                </a:srgbClr>
              </a:gs>
              <a:gs pos="70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462" name="文本框 420" descr="{&quot;isTemplate&quot;:true,&quot;type&quot;:&quot;text&quot;}"/>
          <p:cNvSpPr txBox="1"/>
          <p:nvPr/>
        </p:nvSpPr>
        <p:spPr>
          <a:xfrm>
            <a:off x="4412412" y="381000"/>
            <a:ext cx="4457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01 / </a:t>
            </a: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问题与需求</a:t>
            </a:r>
            <a:endParaRPr lang="zh-CN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3" name="文本框 421" descr="{&quot;isTemplate&quot;:true,&quot;type&quot;:&quot;text&quot;}"/>
          <p:cNvSpPr txBox="1"/>
          <p:nvPr/>
        </p:nvSpPr>
        <p:spPr>
          <a:xfrm>
            <a:off x="4412412" y="609600"/>
            <a:ext cx="445770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最痛的不是「堵」，是「干」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4" name="圆角矩形 422"/>
          <p:cNvSpPr/>
          <p:nvPr/>
        </p:nvSpPr>
        <p:spPr>
          <a:xfrm>
            <a:off x="14947062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5" name="文本框 423" descr="{&quot;isTemplate&quot;:true,&quot;type&quot;:&quot;text&quot;}"/>
          <p:cNvSpPr txBox="1"/>
          <p:nvPr/>
        </p:nvSpPr>
        <p:spPr>
          <a:xfrm>
            <a:off x="15080412" y="809625"/>
            <a:ext cx="180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Q1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6" name="圆角矩形 424"/>
          <p:cNvSpPr/>
          <p:nvPr/>
        </p:nvSpPr>
        <p:spPr>
          <a:xfrm>
            <a:off x="4412412" y="1257300"/>
            <a:ext cx="6419850" cy="4762500"/>
          </a:xfrm>
          <a:prstGeom prst="roundRect">
            <a:avLst>
              <a:gd name="adj" fmla="val 24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7" name="文本框 425" descr="{&quot;isTemplate&quot;:true,&quot;type&quot;:&quot;text&quot;}"/>
          <p:cNvSpPr txBox="1"/>
          <p:nvPr/>
        </p:nvSpPr>
        <p:spPr>
          <a:xfrm>
            <a:off x="4602912" y="1409700"/>
            <a:ext cx="60388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 b="1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ENS6Q </a:t>
            </a:r>
            <a:r>
              <a:rPr lang="zh-CN" sz="1350" b="1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六条目基线得分（</a:t>
            </a:r>
            <a:r>
              <a:rPr lang="en-US" sz="1350" b="1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0–5 </a:t>
            </a:r>
            <a:r>
              <a:rPr lang="zh-CN" sz="1350" b="1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分制，</a:t>
            </a:r>
            <a:r>
              <a:rPr lang="en-US" sz="1350" b="1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n = 53</a:t>
            </a:r>
            <a:r>
              <a:rPr lang="zh-CN" sz="1350" b="1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，多国在线招募）</a:t>
            </a:r>
            <a:endParaRPr lang="zh-CN" sz="1350" b="1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68" name="427"/>
          <p:cNvGraphicFramePr/>
          <p:nvPr/>
        </p:nvGraphicFramePr>
        <p:xfrm>
          <a:off x="4602912" y="1809750"/>
          <a:ext cx="6038850" cy="40005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469" name="文本框 427" descr="{&quot;isTemplate&quot;:true,&quot;type&quot;:&quot;text&quot;}"/>
          <p:cNvSpPr txBox="1"/>
          <p:nvPr/>
        </p:nvSpPr>
        <p:spPr>
          <a:xfrm>
            <a:off x="11098962" y="1514475"/>
            <a:ext cx="4286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最痛的两项</a:t>
            </a:r>
            <a:endParaRPr lang="zh-CN" sz="1125" b="1" spc="1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0" name="文本框 428" descr="{&quot;isTemplate&quot;:true,&quot;type&quot;:&quot;text&quot;}"/>
          <p:cNvSpPr txBox="1"/>
          <p:nvPr/>
        </p:nvSpPr>
        <p:spPr>
          <a:xfrm>
            <a:off x="11098962" y="1724025"/>
            <a:ext cx="1552575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4.07</a:t>
            </a:r>
            <a:endParaRPr lang="en-US" sz="57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1" name="文本框 429" descr="{&quot;isTemplate&quot;:true,&quot;type&quot;:&quot;text&quot;}"/>
          <p:cNvSpPr txBox="1"/>
          <p:nvPr/>
        </p:nvSpPr>
        <p:spPr>
          <a:xfrm>
            <a:off x="12803937" y="1724025"/>
            <a:ext cx="419100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干燥</a:t>
            </a:r>
            <a:endParaRPr lang="zh-CN" sz="16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2" name="文本框 430" descr="{&quot;isTemplate&quot;:true,&quot;type&quot;:&quot;text&quot;}"/>
          <p:cNvSpPr txBox="1"/>
          <p:nvPr/>
        </p:nvSpPr>
        <p:spPr>
          <a:xfrm>
            <a:off x="11098962" y="2638425"/>
            <a:ext cx="1552575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4.02</a:t>
            </a:r>
            <a:endParaRPr lang="en-US" sz="5700" b="1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3" name="文本框 431" descr="{&quot;isTemplate&quot;:true,&quot;type&quot;:&quot;text&quot;}"/>
          <p:cNvSpPr txBox="1"/>
          <p:nvPr/>
        </p:nvSpPr>
        <p:spPr>
          <a:xfrm>
            <a:off x="12803937" y="2638425"/>
            <a:ext cx="1257300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感觉不到气流</a:t>
            </a:r>
            <a:endParaRPr lang="zh-CN" sz="16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4" name="圆角矩形 432"/>
          <p:cNvSpPr/>
          <p:nvPr/>
        </p:nvSpPr>
        <p:spPr>
          <a:xfrm>
            <a:off x="11127537" y="3667125"/>
            <a:ext cx="4286250" cy="1390650"/>
          </a:xfrm>
          <a:prstGeom prst="roundRect">
            <a:avLst>
              <a:gd name="adj" fmla="val 4110"/>
            </a:avLst>
          </a:prstGeom>
          <a:solidFill>
            <a:srgbClr val="F5A524">
              <a:alpha val="8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475" name="任意多边形 433"/>
          <p:cNvSpPr/>
          <p:nvPr/>
        </p:nvSpPr>
        <p:spPr>
          <a:xfrm>
            <a:off x="11127537" y="3667125"/>
            <a:ext cx="4286250" cy="1390650"/>
          </a:xfrm>
          <a:custGeom>
            <a:avLst/>
            <a:gdLst/>
            <a:ahLst/>
            <a:cxnLst/>
            <a:pathLst>
              <a:path w="450" h="14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143"/>
                </a:lnTo>
                <a:cubicBezTo>
                  <a:pt x="3" y="144"/>
                  <a:pt x="4" y="146"/>
                  <a:pt x="5" y="146"/>
                </a:cubicBezTo>
                <a:cubicBezTo>
                  <a:pt x="2" y="146"/>
                  <a:pt x="0" y="143"/>
                  <a:pt x="0" y="14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5A524"/>
          </a:solidFill>
        </p:spPr>
        <p:txBody>
          <a:bodyPr/>
          <a:p>
            <a:pPr/>
            <a:endParaRPr/>
          </a:p>
        </p:txBody>
      </p:sp>
      <p:sp>
        <p:nvSpPr>
          <p:cNvPr id="476" name="文本框 434" descr="{&quot;isTemplate&quot;:true,&quot;type&quot;:&quot;text&quot;}"/>
          <p:cNvSpPr txBox="1"/>
          <p:nvPr/>
        </p:nvSpPr>
        <p:spPr>
          <a:xfrm>
            <a:off x="11318037" y="3838575"/>
            <a:ext cx="3876675" cy="1047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干燥与气流感知是患者最痛的两项，却恰恰是现有</a:t>
            </a:r>
            <a:r>
              <a:rPr lang="zh-CN" sz="14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鼻腔填充类方案改善最弱</a:t>
            </a:r>
            <a:r>
              <a:rPr lang="zh-CN" sz="142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的一对——所以产品目标不能只定在「恢复通气」。</a:t>
            </a:r>
            <a:endParaRPr lang="zh-CN" sz="142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7" name="文本框 435" descr="{&quot;isTemplate&quot;:true,&quot;type&quot;:&quot;text&quot;}"/>
          <p:cNvSpPr txBox="1"/>
          <p:nvPr/>
        </p:nvSpPr>
        <p:spPr>
          <a:xfrm>
            <a:off x="11098962" y="5210175"/>
            <a:ext cx="42862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出处：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Manji J, et al. </a:t>
            </a:r>
            <a:r>
              <a:rPr lang="en-US" sz="1125" i="1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Ann Otol Rhinol Laryngol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. 2019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（【实】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L1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同行评议）。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ENS6Q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满分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30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，总分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≥11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提示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ENS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8" name="任意多边形 436"/>
          <p:cNvSpPr/>
          <p:nvPr/>
        </p:nvSpPr>
        <p:spPr>
          <a:xfrm>
            <a:off x="4412412" y="6134100"/>
            <a:ext cx="10972800" cy="400050"/>
          </a:xfrm>
          <a:custGeom>
            <a:avLst/>
            <a:gdLst/>
            <a:ahLst/>
            <a:cxnLst/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479" name="文本框 437" descr="{&quot;isTemplate&quot;:true,&quot;type&quot;:&quot;text&quot;}"/>
          <p:cNvSpPr txBox="1"/>
          <p:nvPr/>
        </p:nvSpPr>
        <p:spPr>
          <a:xfrm>
            <a:off x="4412412" y="6257925"/>
            <a:ext cx="4667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数据落点：产品的价值主张由「让鼻子通气」修正为「让黏膜重新被气流刺激」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0" name="文本框 438" descr="{&quot;isTemplate&quot;:true,&quot;type&quot;:&quot;text&quot;}"/>
          <p:cNvSpPr txBox="1"/>
          <p:nvPr/>
        </p:nvSpPr>
        <p:spPr>
          <a:xfrm>
            <a:off x="14928012" y="62579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05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矩形 440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pic>
        <p:nvPicPr>
          <p:cNvPr id="483" name="图片 441"/>
          <p:cNvPicPr>
            <a:picLocks noChangeAspect="1"/>
          </p:cNvPicPr>
          <p:nvPr/>
        </p:nvPicPr>
        <p:blipFill>
          <a:blip r:embed="rId1"/>
          <a:srcRect t="3246" b="3246"/>
          <a:stretch>
            <a:fillRect/>
          </a:stretch>
        </p:blipFill>
        <p:spPr>
          <a:xfrm>
            <a:off x="0" y="0"/>
            <a:ext cx="19797624" cy="6858000"/>
          </a:xfrm>
          <a:prstGeom prst="rect">
            <a:avLst/>
          </a:prstGeom>
        </p:spPr>
      </p:pic>
      <p:sp>
        <p:nvSpPr>
          <p:cNvPr id="484" name="矩形 442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gradFill>
            <a:gsLst>
              <a:gs pos="0">
                <a:srgbClr val="0A1A2F">
                  <a:alpha val="98000"/>
                </a:srgbClr>
              </a:gs>
              <a:gs pos="42000">
                <a:srgbClr val="0A1A2F">
                  <a:alpha val="93000"/>
                </a:srgbClr>
              </a:gs>
              <a:gs pos="80000">
                <a:srgbClr val="0A1A2F">
                  <a:alpha val="28000"/>
                </a:srgbClr>
              </a:gs>
              <a:gs pos="100000">
                <a:srgbClr val="0A1A2F">
                  <a:alpha val="62000"/>
                </a:srgbClr>
              </a:gs>
            </a:gsLst>
            <a:lin ang="0" scaled="1"/>
          </a:gradFill>
        </p:spPr>
        <p:txBody>
          <a:bodyPr/>
          <a:p>
            <a:pPr/>
            <a:endParaRPr/>
          </a:p>
        </p:txBody>
      </p:sp>
      <p:sp>
        <p:nvSpPr>
          <p:cNvPr id="485" name="矩形 443"/>
          <p:cNvSpPr/>
          <p:nvPr/>
        </p:nvSpPr>
        <p:spPr>
          <a:xfrm>
            <a:off x="4564812" y="1809750"/>
            <a:ext cx="28575" cy="800100"/>
          </a:xfrm>
          <a:prstGeom prst="rect">
            <a:avLst/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486" name="文本框 444" descr="{&quot;isTemplate&quot;:true,&quot;type&quot;:&quot;text&quot;}"/>
          <p:cNvSpPr txBox="1"/>
          <p:nvPr/>
        </p:nvSpPr>
        <p:spPr>
          <a:xfrm>
            <a:off x="4783887" y="1800225"/>
            <a:ext cx="800100" cy="819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1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51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7" name="文本框 445" descr="{&quot;isTemplate&quot;:true,&quot;type&quot;:&quot;text&quot;}"/>
          <p:cNvSpPr txBox="1"/>
          <p:nvPr/>
        </p:nvSpPr>
        <p:spPr>
          <a:xfrm>
            <a:off x="5774487" y="1828800"/>
            <a:ext cx="4000500" cy="762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产品与解决方案</a:t>
            </a:r>
            <a:endParaRPr lang="zh-CN" sz="4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8" name="文本框 446" descr="{&quot;isTemplate&quot;:true,&quot;type&quot;:&quot;text&quot;}"/>
          <p:cNvSpPr txBox="1"/>
          <p:nvPr/>
        </p:nvSpPr>
        <p:spPr>
          <a:xfrm>
            <a:off x="4564812" y="2886075"/>
            <a:ext cx="72390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从一张</a:t>
            </a:r>
            <a:r>
              <a:rPr lang="en-US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CT</a:t>
            </a: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，到一个</a:t>
            </a:r>
            <a:r>
              <a:rPr lang="zh-CN" sz="18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可以出示的数字</a:t>
            </a: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——把「影像正常但功能丧失」翻译成医生、家属都看得懂的客观证据。</a:t>
            </a:r>
            <a:endParaRPr lang="zh-CN" sz="1800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9" name="圆角矩形 447"/>
          <p:cNvSpPr/>
          <p:nvPr/>
        </p:nvSpPr>
        <p:spPr>
          <a:xfrm>
            <a:off x="4564812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490" name="文本框 448" descr="{&quot;isTemplate&quot;:true,&quot;type&quot;:&quot;text&quot;}"/>
          <p:cNvSpPr txBox="1"/>
          <p:nvPr/>
        </p:nvSpPr>
        <p:spPr>
          <a:xfrm>
            <a:off x="4707687" y="4019550"/>
            <a:ext cx="11334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四步自动化链路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1" name="圆角矩形 449"/>
          <p:cNvSpPr/>
          <p:nvPr/>
        </p:nvSpPr>
        <p:spPr>
          <a:xfrm>
            <a:off x="6126912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492" name="文本框 450" descr="{&quot;isTemplate&quot;:true,&quot;type&quot;:&quot;text&quot;}"/>
          <p:cNvSpPr txBox="1"/>
          <p:nvPr/>
        </p:nvSpPr>
        <p:spPr>
          <a:xfrm>
            <a:off x="6269787" y="4019550"/>
            <a:ext cx="971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三大功能指标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3" name="圆角矩形 451"/>
          <p:cNvSpPr/>
          <p:nvPr/>
        </p:nvSpPr>
        <p:spPr>
          <a:xfrm>
            <a:off x="7527087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494" name="文本框 452" descr="{&quot;isTemplate&quot;:true,&quot;type&quot;:&quot;text&quot;}"/>
          <p:cNvSpPr txBox="1"/>
          <p:nvPr/>
        </p:nvSpPr>
        <p:spPr>
          <a:xfrm>
            <a:off x="7669962" y="4019550"/>
            <a:ext cx="8096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零许可成本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5" name="文本框 453" descr="{&quot;isTemplate&quot;:true,&quot;type&quot;:&quot;text&quot;}"/>
          <p:cNvSpPr txBox="1"/>
          <p:nvPr/>
        </p:nvSpPr>
        <p:spPr>
          <a:xfrm>
            <a:off x="4564812" y="4638675"/>
            <a:ext cx="942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SECTION</a:t>
            </a:r>
            <a:endParaRPr lang="en-US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6" name="文本框 454" descr="{&quot;isTemplate&quot;:true,&quot;type&quot;:&quot;text&quot;}"/>
          <p:cNvSpPr txBox="1"/>
          <p:nvPr/>
        </p:nvSpPr>
        <p:spPr>
          <a:xfrm>
            <a:off x="4564812" y="4838700"/>
            <a:ext cx="9429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P06 – P09</a:t>
            </a:r>
            <a:endParaRPr lang="en-US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7" name="文本框 455" descr="{&quot;isTemplate&quot;:true,&quot;type&quot;:&quot;text&quot;}"/>
          <p:cNvSpPr txBox="1"/>
          <p:nvPr/>
        </p:nvSpPr>
        <p:spPr>
          <a:xfrm>
            <a:off x="5888787" y="4638675"/>
            <a:ext cx="3838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本章回答</a:t>
            </a:r>
            <a:endParaRPr lang="zh-CN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8" name="文本框 456" descr="{&quot;isTemplate&quot;:true,&quot;type&quot;:&quot;text&quot;}"/>
          <p:cNvSpPr txBox="1"/>
          <p:nvPr/>
        </p:nvSpPr>
        <p:spPr>
          <a:xfrm>
            <a:off x="5888787" y="4838700"/>
            <a:ext cx="38385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产品是什么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核心功能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如何使用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可支付性</a:t>
            </a:r>
            <a:endParaRPr lang="zh-CN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9" name="圆角矩形 457"/>
          <p:cNvSpPr/>
          <p:nvPr/>
        </p:nvSpPr>
        <p:spPr>
          <a:xfrm>
            <a:off x="4564812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00" name="文本框 458" descr="{&quot;isTemplate&quot;:true,&quot;type&quot;:&quot;text&quot;}"/>
          <p:cNvSpPr txBox="1"/>
          <p:nvPr/>
        </p:nvSpPr>
        <p:spPr>
          <a:xfrm>
            <a:off x="4564812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01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问题与需求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1" name="圆角矩形 459"/>
          <p:cNvSpPr/>
          <p:nvPr/>
        </p:nvSpPr>
        <p:spPr>
          <a:xfrm>
            <a:off x="6726987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502" name="文本框 460" descr="{&quot;isTemplate&quot;:true,&quot;type&quot;:&quot;text&quot;}"/>
          <p:cNvSpPr txBox="1"/>
          <p:nvPr/>
        </p:nvSpPr>
        <p:spPr>
          <a:xfrm>
            <a:off x="6726987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02 </a:t>
            </a:r>
            <a:r>
              <a:rPr lang="zh-CN" sz="9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产品与解决方案</a:t>
            </a:r>
            <a:endParaRPr lang="zh-CN" sz="9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3" name="圆角矩形 461"/>
          <p:cNvSpPr/>
          <p:nvPr/>
        </p:nvSpPr>
        <p:spPr>
          <a:xfrm>
            <a:off x="8889162" y="6115050"/>
            <a:ext cx="2019300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04" name="文本框 462" descr="{&quot;isTemplate&quot;:true,&quot;type&quot;:&quot;text&quot;}"/>
          <p:cNvSpPr txBox="1"/>
          <p:nvPr/>
        </p:nvSpPr>
        <p:spPr>
          <a:xfrm>
            <a:off x="8889162" y="6219825"/>
            <a:ext cx="2019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03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一个月的协作故事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5" name="圆角矩形 463"/>
          <p:cNvSpPr/>
          <p:nvPr/>
        </p:nvSpPr>
        <p:spPr>
          <a:xfrm>
            <a:off x="11041812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06" name="文本框 464" descr="{&quot;isTemplate&quot;:true,&quot;type&quot;:&quot;text&quot;}"/>
          <p:cNvSpPr txBox="1"/>
          <p:nvPr/>
        </p:nvSpPr>
        <p:spPr>
          <a:xfrm>
            <a:off x="11041812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04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测试过程与真实反馈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7" name="圆角矩形 465"/>
          <p:cNvSpPr/>
          <p:nvPr/>
        </p:nvSpPr>
        <p:spPr>
          <a:xfrm>
            <a:off x="13203987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08" name="文本框 466" descr="{&quot;isTemplate&quot;:true,&quot;type&quot;:&quot;text&quot;}"/>
          <p:cNvSpPr txBox="1"/>
          <p:nvPr/>
        </p:nvSpPr>
        <p:spPr>
          <a:xfrm>
            <a:off x="13203987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05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团队与产品的未来计划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矩形 468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9009" name="矩形 469"/>
          <p:cNvSpPr/>
          <p:nvPr/>
        </p:nvSpPr>
        <p:spPr>
          <a:xfrm>
            <a:off x="-491417" y="0"/>
            <a:ext cx="4937760" cy="493776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9010" name="矩形 470"/>
          <p:cNvSpPr/>
          <p:nvPr/>
        </p:nvSpPr>
        <p:spPr>
          <a:xfrm>
            <a:off x="15351281" y="1920240"/>
            <a:ext cx="4937760" cy="493776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11" name="矩形 469"/>
          <p:cNvSpPr/>
          <p:nvPr/>
        </p:nvSpPr>
        <p:spPr>
          <a:xfrm>
            <a:off x="3802812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12" name="矩形 470"/>
          <p:cNvSpPr/>
          <p:nvPr/>
        </p:nvSpPr>
        <p:spPr>
          <a:xfrm>
            <a:off x="11994312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13" name="文本框 471" descr="{&quot;isTemplate&quot;:true,&quot;type&quot;:&quot;text&quot;}"/>
          <p:cNvSpPr txBox="1"/>
          <p:nvPr/>
        </p:nvSpPr>
        <p:spPr>
          <a:xfrm>
            <a:off x="4412412" y="381000"/>
            <a:ext cx="4324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02 / </a:t>
            </a: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产品与解决方案</a:t>
            </a:r>
            <a:endParaRPr lang="zh-CN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4" name="文本框 472" descr="{&quot;isTemplate&quot;:true,&quot;type&quot;:&quot;text&quot;}"/>
          <p:cNvSpPr txBox="1"/>
          <p:nvPr/>
        </p:nvSpPr>
        <p:spPr>
          <a:xfrm>
            <a:off x="4412412" y="609600"/>
            <a:ext cx="432435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一句话：</a:t>
            </a:r>
            <a:r>
              <a:rPr lang="en-US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CT </a:t>
            </a: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进，功能数字出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5" name="圆角矩形 473"/>
          <p:cNvSpPr/>
          <p:nvPr/>
        </p:nvSpPr>
        <p:spPr>
          <a:xfrm>
            <a:off x="14947062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6" name="文本框 474" descr="{&quot;isTemplate&quot;:true,&quot;type&quot;:&quot;text&quot;}"/>
          <p:cNvSpPr txBox="1"/>
          <p:nvPr/>
        </p:nvSpPr>
        <p:spPr>
          <a:xfrm>
            <a:off x="15080412" y="809625"/>
            <a:ext cx="180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Q2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7" name="圆角矩形 475"/>
          <p:cNvSpPr/>
          <p:nvPr/>
        </p:nvSpPr>
        <p:spPr>
          <a:xfrm>
            <a:off x="4412412" y="1257300"/>
            <a:ext cx="10972800" cy="2381250"/>
          </a:xfrm>
          <a:prstGeom prst="roundRect">
            <a:avLst>
              <a:gd name="adj" fmla="val 48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8" name="文本框 476" descr="{&quot;isTemplate&quot;:true,&quot;type&quot;:&quot;text&quot;}"/>
          <p:cNvSpPr txBox="1"/>
          <p:nvPr/>
        </p:nvSpPr>
        <p:spPr>
          <a:xfrm>
            <a:off x="4602912" y="1390650"/>
            <a:ext cx="10591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鼻腔功能评估管线：一条命令，六个阶段，无需人工点击</a:t>
            </a:r>
            <a:endParaRPr lang="zh-CN" sz="1350" b="1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19" name="图片 47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>
            <a:off x="4602912" y="1600200"/>
            <a:ext cx="10515600" cy="1771650"/>
          </a:xfrm>
          <a:prstGeom prst="rect">
            <a:avLst/>
          </a:prstGeom>
        </p:spPr>
      </p:pic>
      <p:sp>
        <p:nvSpPr>
          <p:cNvPr id="520" name="圆角矩形 478"/>
          <p:cNvSpPr/>
          <p:nvPr/>
        </p:nvSpPr>
        <p:spPr>
          <a:xfrm>
            <a:off x="4412412" y="3790950"/>
            <a:ext cx="3552825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1" name="文本框 479" descr="{&quot;isTemplate&quot;:true,&quot;type&quot;:&quot;text&quot;}"/>
          <p:cNvSpPr txBox="1"/>
          <p:nvPr/>
        </p:nvSpPr>
        <p:spPr>
          <a:xfrm>
            <a:off x="4621962" y="3981450"/>
            <a:ext cx="31337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 </a:t>
            </a:r>
            <a:r>
              <a:rPr lang="zh-CN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次</a:t>
            </a:r>
            <a:endParaRPr lang="zh-CN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2" name="文本框 480" descr="{&quot;isTemplate&quot;:true,&quot;type&quot;:&quot;text&quot;}"/>
          <p:cNvSpPr txBox="1"/>
          <p:nvPr/>
        </p:nvSpPr>
        <p:spPr>
          <a:xfrm>
            <a:off x="4621962" y="4381500"/>
            <a:ext cx="31337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人工交互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3" name="文本框 481" descr="{&quot;isTemplate&quot;:true,&quot;type&quot;:&quot;text&quot;}"/>
          <p:cNvSpPr txBox="1"/>
          <p:nvPr/>
        </p:nvSpPr>
        <p:spPr>
          <a:xfrm>
            <a:off x="4621962" y="4924425"/>
            <a:ext cx="3133725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不需要在三维软件里手工点击分割、封口、裁剪；分割与开口由物理判据自动裁定，每一步留下可复核的判据与指纹。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4" name="圆角矩形 482"/>
          <p:cNvSpPr/>
          <p:nvPr/>
        </p:nvSpPr>
        <p:spPr>
          <a:xfrm>
            <a:off x="8117637" y="3790950"/>
            <a:ext cx="3562350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5" name="文本框 483" descr="{&quot;isTemplate&quot;:true,&quot;type&quot;:&quot;text&quot;}"/>
          <p:cNvSpPr txBox="1"/>
          <p:nvPr/>
        </p:nvSpPr>
        <p:spPr>
          <a:xfrm>
            <a:off x="8327187" y="3981450"/>
            <a:ext cx="31432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lang="en-US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6" name="文本框 484" descr="{&quot;isTemplate&quot;:true,&quot;type&quot;:&quot;text&quot;}"/>
          <p:cNvSpPr txBox="1"/>
          <p:nvPr/>
        </p:nvSpPr>
        <p:spPr>
          <a:xfrm>
            <a:off x="8327187" y="4381500"/>
            <a:ext cx="31432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开源栈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7" name="文本框 485" descr="{&quot;isTemplate&quot;:true,&quot;type&quot;:&quot;text&quot;}"/>
          <p:cNvSpPr txBox="1"/>
          <p:nvPr/>
        </p:nvSpPr>
        <p:spPr>
          <a:xfrm>
            <a:off x="8327187" y="4924425"/>
            <a:ext cx="3143250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SimpleITK / Netgen / OpenFOAM / VTK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全开源，零商业许可成本；同一份输入在任何机器上可重放同一条命令。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8" name="圆角矩形 486"/>
          <p:cNvSpPr/>
          <p:nvPr/>
        </p:nvSpPr>
        <p:spPr>
          <a:xfrm>
            <a:off x="11832387" y="3790950"/>
            <a:ext cx="3552825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9" name="文本框 487" descr="{&quot;isTemplate&quot;:true,&quot;type&quot;:&quot;text&quot;}"/>
          <p:cNvSpPr txBox="1"/>
          <p:nvPr/>
        </p:nvSpPr>
        <p:spPr>
          <a:xfrm>
            <a:off x="12041937" y="3981450"/>
            <a:ext cx="31337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3 </a:t>
            </a:r>
            <a:r>
              <a:rPr lang="zh-CN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类</a:t>
            </a:r>
            <a:endParaRPr lang="zh-CN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0" name="文本框 488" descr="{&quot;isTemplate&quot;:true,&quot;type&quot;:&quot;text&quot;}"/>
          <p:cNvSpPr txBox="1"/>
          <p:nvPr/>
        </p:nvSpPr>
        <p:spPr>
          <a:xfrm>
            <a:off x="12041937" y="4381500"/>
            <a:ext cx="31337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功能指标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1" name="文本框 489" descr="{&quot;isTemplate&quot;:true,&quot;type&quot;:&quot;text&quot;}"/>
          <p:cNvSpPr txBox="1"/>
          <p:nvPr/>
        </p:nvSpPr>
        <p:spPr>
          <a:xfrm>
            <a:off x="12041937" y="4924425"/>
            <a:ext cx="3133725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鼻阻力、壁面剪应力、后鼻孔温湿度与热通量——分别对应患者的三个核心主诉，而不是泛泛的「流场图」。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2" name="任意多边形 490"/>
          <p:cNvSpPr/>
          <p:nvPr/>
        </p:nvSpPr>
        <p:spPr>
          <a:xfrm>
            <a:off x="4412412" y="6134100"/>
            <a:ext cx="10972800" cy="400050"/>
          </a:xfrm>
          <a:custGeom>
            <a:avLst/>
            <a:gdLst/>
            <a:ahLst/>
            <a:cxnLst/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33" name="文本框 491" descr="{&quot;isTemplate&quot;:true,&quot;type&quot;:&quot;text&quot;}"/>
          <p:cNvSpPr txBox="1"/>
          <p:nvPr/>
        </p:nvSpPr>
        <p:spPr>
          <a:xfrm>
            <a:off x="4412412" y="6257925"/>
            <a:ext cx="4600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数据落点：单例处理从人工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30–60 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分钟降到一条命令，且过程可复现、可审计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4" name="文本框 492" descr="{&quot;isTemplate&quot;:true,&quot;type&quot;:&quot;text&quot;}"/>
          <p:cNvSpPr txBox="1"/>
          <p:nvPr/>
        </p:nvSpPr>
        <p:spPr>
          <a:xfrm>
            <a:off x="14928012" y="62579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07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矩形 494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9011" name="矩形 495"/>
          <p:cNvSpPr/>
          <p:nvPr/>
        </p:nvSpPr>
        <p:spPr>
          <a:xfrm>
            <a:off x="-491417" y="0"/>
            <a:ext cx="4937760" cy="4937760"/>
          </a:xfrm>
          <a:prstGeom prst="rect">
            <a:avLst/>
          </a:prstGeom>
          <a:gradFill>
            <a:gsLst>
              <a:gs pos="0">
                <a:srgbClr val="22D3EE">
                  <a:alpha val="16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9012" name="矩形 496"/>
          <p:cNvSpPr/>
          <p:nvPr/>
        </p:nvSpPr>
        <p:spPr>
          <a:xfrm>
            <a:off x="15351281" y="1920240"/>
            <a:ext cx="4937760" cy="4937760"/>
          </a:xfrm>
          <a:prstGeom prst="rect">
            <a:avLst/>
          </a:prstGeom>
          <a:gradFill>
            <a:gsLst>
              <a:gs pos="0">
                <a:srgbClr val="F5A524">
                  <a:alpha val="10000"/>
                </a:srgbClr>
              </a:gs>
              <a:gs pos="70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37" name="矩形 495"/>
          <p:cNvSpPr/>
          <p:nvPr/>
        </p:nvSpPr>
        <p:spPr>
          <a:xfrm>
            <a:off x="3802812" y="0"/>
            <a:ext cx="5905500" cy="5905500"/>
          </a:xfrm>
          <a:prstGeom prst="rect">
            <a:avLst/>
          </a:prstGeom>
          <a:gradFill>
            <a:gsLst>
              <a:gs pos="0">
                <a:srgbClr val="22D3EE">
                  <a:alpha val="16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38" name="矩形 496"/>
          <p:cNvSpPr/>
          <p:nvPr/>
        </p:nvSpPr>
        <p:spPr>
          <a:xfrm>
            <a:off x="11613312" y="2476500"/>
            <a:ext cx="4381500" cy="4381500"/>
          </a:xfrm>
          <a:prstGeom prst="rect">
            <a:avLst/>
          </a:prstGeom>
          <a:gradFill>
            <a:gsLst>
              <a:gs pos="0">
                <a:srgbClr val="F5A524">
                  <a:alpha val="10000"/>
                </a:srgbClr>
              </a:gs>
              <a:gs pos="70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39" name="文本框 497" descr="{&quot;isTemplate&quot;:true,&quot;type&quot;:&quot;text&quot;}"/>
          <p:cNvSpPr txBox="1"/>
          <p:nvPr/>
        </p:nvSpPr>
        <p:spPr>
          <a:xfrm>
            <a:off x="4412412" y="381000"/>
            <a:ext cx="3771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02 / </a:t>
            </a: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产品与解决方案</a:t>
            </a:r>
            <a:endParaRPr lang="zh-CN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0" name="文本框 498" descr="{&quot;isTemplate&quot;:true,&quot;type&quot;:&quot;text&quot;}"/>
          <p:cNvSpPr txBox="1"/>
          <p:nvPr/>
        </p:nvSpPr>
        <p:spPr>
          <a:xfrm>
            <a:off x="4412412" y="609600"/>
            <a:ext cx="377190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三个数字，回答三个主诉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1" name="圆角矩形 499"/>
          <p:cNvSpPr/>
          <p:nvPr/>
        </p:nvSpPr>
        <p:spPr>
          <a:xfrm>
            <a:off x="14947062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2" name="文本框 500" descr="{&quot;isTemplate&quot;:true,&quot;type&quot;:&quot;text&quot;}"/>
          <p:cNvSpPr txBox="1"/>
          <p:nvPr/>
        </p:nvSpPr>
        <p:spPr>
          <a:xfrm>
            <a:off x="15080412" y="809625"/>
            <a:ext cx="180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Q2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3" name="圆角矩形 501"/>
          <p:cNvSpPr/>
          <p:nvPr/>
        </p:nvSpPr>
        <p:spPr>
          <a:xfrm>
            <a:off x="4412412" y="1257300"/>
            <a:ext cx="3552825" cy="3009900"/>
          </a:xfrm>
          <a:prstGeom prst="roundRect">
            <a:avLst>
              <a:gd name="adj" fmla="val 3797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22D3EE">
                <a:alpha val="3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4" name="文本框 502" descr="{&quot;isTemplate&quot;:true,&quot;type&quot;:&quot;text&quot;}"/>
          <p:cNvSpPr txBox="1"/>
          <p:nvPr/>
        </p:nvSpPr>
        <p:spPr>
          <a:xfrm>
            <a:off x="4641012" y="1466850"/>
            <a:ext cx="3095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鼻阻力</a:t>
            </a:r>
            <a:r>
              <a:rPr lang="en-US" sz="1125" b="1" spc="1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R = Δp / Q</a:t>
            </a:r>
            <a:endParaRPr lang="en-US" sz="1125" b="1" spc="1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5" name="文本框 503" descr="{&quot;isTemplate&quot;:true,&quot;type&quot;:&quot;text&quot;}"/>
          <p:cNvSpPr txBox="1"/>
          <p:nvPr/>
        </p:nvSpPr>
        <p:spPr>
          <a:xfrm>
            <a:off x="4641012" y="1714500"/>
            <a:ext cx="3095625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0.0685</a:t>
            </a:r>
            <a:endParaRPr lang="en-US" sz="57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6" name="文本框 504" descr="{&quot;isTemplate&quot;:true,&quot;type&quot;:&quot;text&quot;}"/>
          <p:cNvSpPr txBox="1"/>
          <p:nvPr/>
        </p:nvSpPr>
        <p:spPr>
          <a:xfrm>
            <a:off x="4641012" y="2667000"/>
            <a:ext cx="30956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Pa·s/mL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b15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扩展域实测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7" name="任意多边形 505"/>
          <p:cNvSpPr/>
          <p:nvPr/>
        </p:nvSpPr>
        <p:spPr>
          <a:xfrm>
            <a:off x="4641012" y="3095625"/>
            <a:ext cx="3095625" cy="971550"/>
          </a:xfrm>
          <a:custGeom>
            <a:avLst/>
            <a:gdLst/>
            <a:ahLst/>
            <a:cxnLst/>
            <a:pathLst>
              <a:path w="325" h="102">
                <a:moveTo>
                  <a:pt x="0" y="0"/>
                </a:moveTo>
                <a:lnTo>
                  <a:pt x="325" y="0"/>
                </a:lnTo>
                <a:lnTo>
                  <a:pt x="325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4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48" name="文本框 506" descr="{&quot;isTemplate&quot;:true,&quot;type&quot;:&quot;text&quot;}"/>
          <p:cNvSpPr txBox="1"/>
          <p:nvPr/>
        </p:nvSpPr>
        <p:spPr>
          <a:xfrm>
            <a:off x="4641012" y="3238500"/>
            <a:ext cx="3095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替患者回答「明明通气，却吸不到氧」</a:t>
            </a:r>
            <a:endParaRPr lang="zh-CN" sz="135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9" name="文本框 507" descr="{&quot;isTemplate&quot;:true,&quot;type&quot;:&quot;text&quot;}"/>
          <p:cNvSpPr txBox="1"/>
          <p:nvPr/>
        </p:nvSpPr>
        <p:spPr>
          <a:xfrm>
            <a:off x="4641012" y="3505200"/>
            <a:ext cx="30956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气流整体「太好走」——把鼻阻力量化出来，就是矛盾性鼻塞的客观读数。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0" name="圆角矩形 508"/>
          <p:cNvSpPr/>
          <p:nvPr/>
        </p:nvSpPr>
        <p:spPr>
          <a:xfrm>
            <a:off x="8117637" y="1257300"/>
            <a:ext cx="3562350" cy="3009900"/>
          </a:xfrm>
          <a:prstGeom prst="roundRect">
            <a:avLst>
              <a:gd name="adj" fmla="val 3797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1" name="文本框 509" descr="{&quot;isTemplate&quot;:true,&quot;type&quot;:&quot;text&quot;}"/>
          <p:cNvSpPr txBox="1"/>
          <p:nvPr/>
        </p:nvSpPr>
        <p:spPr>
          <a:xfrm>
            <a:off x="8346237" y="1466850"/>
            <a:ext cx="31051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壁面剪应力</a:t>
            </a:r>
            <a:r>
              <a:rPr lang="en-US" sz="1125" b="1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WSS</a:t>
            </a:r>
            <a:endParaRPr lang="en-US" sz="1125" b="1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2" name="文本框 510" descr="{&quot;isTemplate&quot;:true,&quot;type&quot;:&quot;text&quot;}"/>
          <p:cNvSpPr txBox="1"/>
          <p:nvPr/>
        </p:nvSpPr>
        <p:spPr>
          <a:xfrm>
            <a:off x="8346237" y="1714500"/>
            <a:ext cx="3105150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1.49</a:t>
            </a:r>
            <a:endParaRPr lang="en-US" sz="5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3" name="文本框 511" descr="{&quot;isTemplate&quot;:true,&quot;type&quot;:&quot;text&quot;}"/>
          <p:cNvSpPr txBox="1"/>
          <p:nvPr/>
        </p:nvSpPr>
        <p:spPr>
          <a:xfrm>
            <a:off x="8346237" y="2667000"/>
            <a:ext cx="31051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×10⁻³ N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积分力｜中位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0.068 Pa</a:t>
            </a:r>
            <a:endParaRPr lang="en-US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4" name="任意多边形 512"/>
          <p:cNvSpPr/>
          <p:nvPr/>
        </p:nvSpPr>
        <p:spPr>
          <a:xfrm>
            <a:off x="8346237" y="3095625"/>
            <a:ext cx="3105150" cy="971550"/>
          </a:xfrm>
          <a:custGeom>
            <a:avLst/>
            <a:gdLst/>
            <a:ahLst/>
            <a:cxnLst/>
            <a:pathLst>
              <a:path w="326" h="102">
                <a:moveTo>
                  <a:pt x="0" y="0"/>
                </a:moveTo>
                <a:lnTo>
                  <a:pt x="326" y="0"/>
                </a:lnTo>
                <a:lnTo>
                  <a:pt x="326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4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55" name="文本框 513" descr="{&quot;isTemplate&quot;:true,&quot;type&quot;:&quot;text&quot;}"/>
          <p:cNvSpPr txBox="1"/>
          <p:nvPr/>
        </p:nvSpPr>
        <p:spPr>
          <a:xfrm>
            <a:off x="8346237" y="3238500"/>
            <a:ext cx="3105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替患者回答「感觉不到空气在流动」</a:t>
            </a:r>
            <a:endParaRPr lang="zh-CN" sz="135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6" name="文本框 514" descr="{&quot;isTemplate&quot;:true,&quot;type&quot;:&quot;text&quot;}"/>
          <p:cNvSpPr txBox="1"/>
          <p:nvPr/>
        </p:nvSpPr>
        <p:spPr>
          <a:xfrm>
            <a:off x="8346237" y="3505200"/>
            <a:ext cx="31051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黏膜靠剪应力被感知；宽大鼻腔里气流贴壁溜走——这正是气流感丧失的机制。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7" name="圆角矩形 515"/>
          <p:cNvSpPr/>
          <p:nvPr/>
        </p:nvSpPr>
        <p:spPr>
          <a:xfrm>
            <a:off x="11832387" y="1257300"/>
            <a:ext cx="3552825" cy="3009900"/>
          </a:xfrm>
          <a:prstGeom prst="roundRect">
            <a:avLst>
              <a:gd name="adj" fmla="val 3797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F5A524">
                <a:alpha val="3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8" name="文本框 516" descr="{&quot;isTemplate&quot;:true,&quot;type&quot;:&quot;text&quot;}"/>
          <p:cNvSpPr txBox="1"/>
          <p:nvPr/>
        </p:nvSpPr>
        <p:spPr>
          <a:xfrm>
            <a:off x="12060987" y="1466850"/>
            <a:ext cx="3095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后鼻孔温湿度</a:t>
            </a:r>
            <a:r>
              <a:rPr lang="en-US" sz="1125" b="1" spc="15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/ </a:t>
            </a:r>
            <a:r>
              <a:rPr lang="zh-CN" sz="1125" b="1" spc="15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热通量</a:t>
            </a:r>
            <a:endParaRPr lang="zh-CN" sz="1125" b="1" spc="15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9" name="文本框 517" descr="{&quot;isTemplate&quot;:true,&quot;type&quot;:&quot;text&quot;}"/>
          <p:cNvSpPr txBox="1"/>
          <p:nvPr/>
        </p:nvSpPr>
        <p:spPr>
          <a:xfrm>
            <a:off x="12060987" y="1714500"/>
            <a:ext cx="3095625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32.2</a:t>
            </a:r>
            <a:endParaRPr lang="en-US" sz="5700" b="1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0" name="文本框 518" descr="{&quot;isTemplate&quot;:true,&quot;type&quot;:&quot;text&quot;}"/>
          <p:cNvSpPr txBox="1"/>
          <p:nvPr/>
        </p:nvSpPr>
        <p:spPr>
          <a:xfrm>
            <a:off x="12060987" y="2667000"/>
            <a:ext cx="30956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℃ / 93.5 %RH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｜健康对照实测基准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1" name="任意多边形 519"/>
          <p:cNvSpPr/>
          <p:nvPr/>
        </p:nvSpPr>
        <p:spPr>
          <a:xfrm>
            <a:off x="12060987" y="3095625"/>
            <a:ext cx="3095625" cy="971550"/>
          </a:xfrm>
          <a:custGeom>
            <a:avLst/>
            <a:gdLst/>
            <a:ahLst/>
            <a:cxnLst/>
            <a:pathLst>
              <a:path w="325" h="102">
                <a:moveTo>
                  <a:pt x="0" y="0"/>
                </a:moveTo>
                <a:lnTo>
                  <a:pt x="325" y="0"/>
                </a:lnTo>
                <a:lnTo>
                  <a:pt x="325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4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62" name="文本框 520" descr="{&quot;isTemplate&quot;:true,&quot;type&quot;:&quot;text&quot;}"/>
          <p:cNvSpPr txBox="1"/>
          <p:nvPr/>
        </p:nvSpPr>
        <p:spPr>
          <a:xfrm>
            <a:off x="12060987" y="3238500"/>
            <a:ext cx="3095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替患者回答「干、结痂、烧灼」</a:t>
            </a:r>
            <a:endParaRPr lang="zh-CN" sz="135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3" name="文本框 521" descr="{&quot;isTemplate&quot;:true,&quot;type&quot;:&quot;text&quot;}"/>
          <p:cNvSpPr txBox="1"/>
          <p:nvPr/>
        </p:nvSpPr>
        <p:spPr>
          <a:xfrm>
            <a:off x="12060987" y="3505200"/>
            <a:ext cx="30956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文献把「热通量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&gt; 50 W/m²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黏膜面积占比」列为与症状相关性最强的指标。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4" name="圆角矩形 522"/>
          <p:cNvSpPr/>
          <p:nvPr/>
        </p:nvSpPr>
        <p:spPr>
          <a:xfrm>
            <a:off x="4440987" y="4419600"/>
            <a:ext cx="10972800" cy="1600200"/>
          </a:xfrm>
          <a:prstGeom prst="roundRect">
            <a:avLst>
              <a:gd name="adj" fmla="val 4762"/>
            </a:avLst>
          </a:prstGeom>
          <a:solidFill>
            <a:srgbClr val="22D3EE">
              <a:alpha val="7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65" name="任意多边形 523"/>
          <p:cNvSpPr/>
          <p:nvPr/>
        </p:nvSpPr>
        <p:spPr>
          <a:xfrm>
            <a:off x="4440987" y="4419600"/>
            <a:ext cx="10972800" cy="1600200"/>
          </a:xfrm>
          <a:custGeom>
            <a:avLst/>
            <a:gdLst/>
            <a:ahLst/>
            <a:cxnLst/>
            <a:pathLst>
              <a:path w="1152" h="16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63"/>
                </a:lnTo>
                <a:cubicBezTo>
                  <a:pt x="3" y="165"/>
                  <a:pt x="5" y="167"/>
                  <a:pt x="7" y="168"/>
                </a:cubicBezTo>
                <a:cubicBezTo>
                  <a:pt x="3" y="167"/>
                  <a:pt x="0" y="164"/>
                  <a:pt x="0" y="16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566" name="文本框 524" descr="{&quot;isTemplate&quot;:true,&quot;type&quot;:&quot;text&quot;}"/>
          <p:cNvSpPr txBox="1"/>
          <p:nvPr/>
        </p:nvSpPr>
        <p:spPr>
          <a:xfrm>
            <a:off x="4707687" y="4991100"/>
            <a:ext cx="1905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为什么是这三个</a:t>
            </a:r>
            <a:endParaRPr lang="zh-CN" sz="1125" b="1" spc="1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7" name="文本框 525" descr="{&quot;isTemplate&quot;:true,&quot;type&quot;:&quot;text&quot;}"/>
          <p:cNvSpPr txBox="1"/>
          <p:nvPr/>
        </p:nvSpPr>
        <p:spPr>
          <a:xfrm>
            <a:off x="4707687" y="5219700"/>
            <a:ext cx="1905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不是「好看的流场图」</a:t>
            </a:r>
            <a:endParaRPr lang="zh-CN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8" name="文本框 526" descr="{&quot;isTemplate&quot;:true,&quot;type&quot;:&quot;text&quot;}"/>
          <p:cNvSpPr txBox="1"/>
          <p:nvPr/>
        </p:nvSpPr>
        <p:spPr>
          <a:xfrm>
            <a:off x="6879387" y="4686300"/>
            <a:ext cx="8239125" cy="1076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4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常规</a:t>
            </a:r>
            <a:r>
              <a:rPr lang="en-US" sz="14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CFD </a:t>
            </a:r>
            <a:r>
              <a:rPr lang="zh-CN" sz="14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报告输出的是速度云图与压降曲线，患者看不懂、医生用不上。我们做的是一次</a:t>
            </a: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需求到指标的翻译</a:t>
            </a:r>
            <a:r>
              <a:rPr lang="zh-CN" sz="14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：患者主诉</a:t>
            </a:r>
            <a:r>
              <a:rPr lang="en-US" sz="14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→ </a:t>
            </a:r>
            <a:r>
              <a:rPr lang="zh-CN" sz="14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可量化的功能量</a:t>
            </a:r>
            <a:r>
              <a:rPr lang="en-US" sz="14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→ </a:t>
            </a:r>
            <a:r>
              <a:rPr lang="zh-CN" sz="14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可比较的数值。三指标分别锚定「堵」「感受不到」「干」三大主诉，其中热通量与症状的相关性在文献中最强（</a:t>
            </a:r>
            <a:r>
              <a:rPr lang="en-US" sz="14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r ≈ −0.76</a:t>
            </a:r>
            <a:r>
              <a:rPr lang="zh-CN" sz="14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lang="zh-CN" sz="142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9" name="任意多边形 527"/>
          <p:cNvSpPr/>
          <p:nvPr/>
        </p:nvSpPr>
        <p:spPr>
          <a:xfrm>
            <a:off x="4412412" y="6134100"/>
            <a:ext cx="10972800" cy="400050"/>
          </a:xfrm>
          <a:custGeom>
            <a:avLst/>
            <a:gdLst/>
            <a:ahLst/>
            <a:cxnLst/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70" name="文本框 528" descr="{&quot;isTemplate&quot;:true,&quot;type&quot;:&quot;text&quot;}"/>
          <p:cNvSpPr txBox="1"/>
          <p:nvPr/>
        </p:nvSpPr>
        <p:spPr>
          <a:xfrm>
            <a:off x="4412412" y="6257925"/>
            <a:ext cx="6562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数值为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b15 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扩展域全链实测（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T-058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）；温湿度为健康对照实测基准，本项目为工程尺度验证，不构成临床诊断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1" name="文本框 529" descr="{&quot;isTemplate&quot;:true,&quot;type&quot;:&quot;text&quot;}"/>
          <p:cNvSpPr txBox="1"/>
          <p:nvPr/>
        </p:nvSpPr>
        <p:spPr>
          <a:xfrm>
            <a:off x="14928012" y="62579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08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矩形 531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9013" name="矩形 532"/>
          <p:cNvSpPr/>
          <p:nvPr/>
        </p:nvSpPr>
        <p:spPr>
          <a:xfrm>
            <a:off x="-491417" y="0"/>
            <a:ext cx="4937760" cy="493776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9014" name="矩形 533"/>
          <p:cNvSpPr/>
          <p:nvPr/>
        </p:nvSpPr>
        <p:spPr>
          <a:xfrm>
            <a:off x="15351281" y="1920240"/>
            <a:ext cx="4937760" cy="493776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74" name="矩形 532"/>
          <p:cNvSpPr/>
          <p:nvPr/>
        </p:nvSpPr>
        <p:spPr>
          <a:xfrm>
            <a:off x="3802812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75" name="矩形 533"/>
          <p:cNvSpPr/>
          <p:nvPr/>
        </p:nvSpPr>
        <p:spPr>
          <a:xfrm>
            <a:off x="11994312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76" name="文本框 534" descr="{&quot;isTemplate&quot;:true,&quot;type&quot;:&quot;text&quot;}"/>
          <p:cNvSpPr txBox="1"/>
          <p:nvPr/>
        </p:nvSpPr>
        <p:spPr>
          <a:xfrm>
            <a:off x="4412412" y="381000"/>
            <a:ext cx="4114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02 / </a:t>
            </a: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产品与解决方案</a:t>
            </a:r>
            <a:endParaRPr lang="zh-CN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7" name="文本框 535" descr="{&quot;isTemplate&quot;:true,&quot;type&quot;:&quot;text&quot;}"/>
          <p:cNvSpPr txBox="1"/>
          <p:nvPr/>
        </p:nvSpPr>
        <p:spPr>
          <a:xfrm>
            <a:off x="4412412" y="609600"/>
            <a:ext cx="411480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怎么用，以及为什么付得起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8" name="圆角矩形 536"/>
          <p:cNvSpPr/>
          <p:nvPr/>
        </p:nvSpPr>
        <p:spPr>
          <a:xfrm>
            <a:off x="14947062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79" name="文本框 537" descr="{&quot;isTemplate&quot;:true,&quot;type&quot;:&quot;text&quot;}"/>
          <p:cNvSpPr txBox="1"/>
          <p:nvPr/>
        </p:nvSpPr>
        <p:spPr>
          <a:xfrm>
            <a:off x="15080412" y="809625"/>
            <a:ext cx="180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Q2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0" name="文本框 538" descr="{&quot;isTemplate&quot;:true,&quot;type&quot;:&quot;text&quot;}"/>
          <p:cNvSpPr txBox="1"/>
          <p:nvPr/>
        </p:nvSpPr>
        <p:spPr>
          <a:xfrm>
            <a:off x="4412412" y="1800225"/>
            <a:ext cx="6419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使用路径：四步，全部在浏览器里完成</a:t>
            </a:r>
            <a:endParaRPr lang="zh-CN" sz="1350" b="1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1" name="圆角矩形 539"/>
          <p:cNvSpPr/>
          <p:nvPr/>
        </p:nvSpPr>
        <p:spPr>
          <a:xfrm>
            <a:off x="4412412" y="2124075"/>
            <a:ext cx="6419850" cy="752475"/>
          </a:xfrm>
          <a:prstGeom prst="roundRect">
            <a:avLst>
              <a:gd name="adj" fmla="val 1265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2" name="圆角矩形 540"/>
          <p:cNvSpPr/>
          <p:nvPr/>
        </p:nvSpPr>
        <p:spPr>
          <a:xfrm>
            <a:off x="4602912" y="2314575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3" name="文本框 541" descr="{&quot;isTemplate&quot;:true,&quot;type&quot;:&quot;text&quot;}"/>
          <p:cNvSpPr txBox="1"/>
          <p:nvPr/>
        </p:nvSpPr>
        <p:spPr>
          <a:xfrm>
            <a:off x="4745787" y="2409825"/>
            <a:ext cx="1047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4" name="文本框 542" descr="{&quot;isTemplate&quot;:true,&quot;type&quot;:&quot;text&quot;}"/>
          <p:cNvSpPr txBox="1"/>
          <p:nvPr/>
        </p:nvSpPr>
        <p:spPr>
          <a:xfrm>
            <a:off x="5155362" y="2276475"/>
            <a:ext cx="36480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上传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CT</a:t>
            </a:r>
            <a:endParaRPr lang="en-US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5" name="文本框 543" descr="{&quot;isTemplate&quot;:true,&quot;type&quot;:&quot;text&quot;}"/>
          <p:cNvSpPr txBox="1"/>
          <p:nvPr/>
        </p:nvSpPr>
        <p:spPr>
          <a:xfrm>
            <a:off x="5155362" y="2533650"/>
            <a:ext cx="36480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患者鼻窦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CT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DICOM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序列，系统自动校层厚与方位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6" name="圆角矩形 544"/>
          <p:cNvSpPr/>
          <p:nvPr/>
        </p:nvSpPr>
        <p:spPr>
          <a:xfrm>
            <a:off x="4412412" y="2990850"/>
            <a:ext cx="6419850" cy="752475"/>
          </a:xfrm>
          <a:prstGeom prst="roundRect">
            <a:avLst>
              <a:gd name="adj" fmla="val 1265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7" name="圆角矩形 545"/>
          <p:cNvSpPr/>
          <p:nvPr/>
        </p:nvSpPr>
        <p:spPr>
          <a:xfrm>
            <a:off x="4602912" y="3181350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8" name="文本框 546" descr="{&quot;isTemplate&quot;:true,&quot;type&quot;:&quot;text&quot;}"/>
          <p:cNvSpPr txBox="1"/>
          <p:nvPr/>
        </p:nvSpPr>
        <p:spPr>
          <a:xfrm>
            <a:off x="4745787" y="3276600"/>
            <a:ext cx="1047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9" name="文本框 547" descr="{&quot;isTemplate&quot;:true,&quot;type&quot;:&quot;text&quot;}"/>
          <p:cNvSpPr txBox="1"/>
          <p:nvPr/>
        </p:nvSpPr>
        <p:spPr>
          <a:xfrm>
            <a:off x="5155362" y="3143250"/>
            <a:ext cx="4038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自动建模</a:t>
            </a:r>
            <a:endParaRPr lang="zh-CN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0" name="文本框 548" descr="{&quot;isTemplate&quot;:true,&quot;type&quot;:&quot;text&quot;}"/>
          <p:cNvSpPr txBox="1"/>
          <p:nvPr/>
        </p:nvSpPr>
        <p:spPr>
          <a:xfrm>
            <a:off x="5155362" y="3400425"/>
            <a:ext cx="4038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分割鼻腔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鼻咽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口咽、重建表面、自动定位鼻孔与截断出口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1" name="圆角矩形 549"/>
          <p:cNvSpPr/>
          <p:nvPr/>
        </p:nvSpPr>
        <p:spPr>
          <a:xfrm>
            <a:off x="4412412" y="3857625"/>
            <a:ext cx="6419850" cy="752475"/>
          </a:xfrm>
          <a:prstGeom prst="roundRect">
            <a:avLst>
              <a:gd name="adj" fmla="val 1265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2" name="圆角矩形 550"/>
          <p:cNvSpPr/>
          <p:nvPr/>
        </p:nvSpPr>
        <p:spPr>
          <a:xfrm>
            <a:off x="4602912" y="4048125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3" name="文本框 551" descr="{&quot;isTemplate&quot;:true,&quot;type&quot;:&quot;text&quot;}"/>
          <p:cNvSpPr txBox="1"/>
          <p:nvPr/>
        </p:nvSpPr>
        <p:spPr>
          <a:xfrm>
            <a:off x="4745787" y="4143375"/>
            <a:ext cx="1047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4" name="文本框 552" descr="{&quot;isTemplate&quot;:true,&quot;type&quot;:&quot;text&quot;}"/>
          <p:cNvSpPr txBox="1"/>
          <p:nvPr/>
        </p:nvSpPr>
        <p:spPr>
          <a:xfrm>
            <a:off x="5155362" y="4010025"/>
            <a:ext cx="47053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一键求解</a:t>
            </a:r>
            <a:endParaRPr lang="zh-CN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5" name="文本框 553" descr="{&quot;isTemplate&quot;:true,&quot;type&quot;:&quot;text&quot;}"/>
          <p:cNvSpPr txBox="1"/>
          <p:nvPr/>
        </p:nvSpPr>
        <p:spPr>
          <a:xfrm>
            <a:off x="5155362" y="4267200"/>
            <a:ext cx="47053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体网格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+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稳态层流求解（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15 L/min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固定流量入口），自动提取三指标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6" name="圆角矩形 554"/>
          <p:cNvSpPr/>
          <p:nvPr/>
        </p:nvSpPr>
        <p:spPr>
          <a:xfrm>
            <a:off x="4412412" y="4724400"/>
            <a:ext cx="6419850" cy="752475"/>
          </a:xfrm>
          <a:prstGeom prst="roundRect">
            <a:avLst>
              <a:gd name="adj" fmla="val 1265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7" name="圆角矩形 555"/>
          <p:cNvSpPr/>
          <p:nvPr/>
        </p:nvSpPr>
        <p:spPr>
          <a:xfrm>
            <a:off x="4602912" y="4914900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F5A52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8" name="文本框 556" descr="{&quot;isTemplate&quot;:true,&quot;type&quot;:&quot;text&quot;}"/>
          <p:cNvSpPr txBox="1"/>
          <p:nvPr/>
        </p:nvSpPr>
        <p:spPr>
          <a:xfrm>
            <a:off x="4745787" y="5010150"/>
            <a:ext cx="1047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275" b="1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9" name="文本框 557" descr="{&quot;isTemplate&quot;:true,&quot;type&quot;:&quot;text&quot;}"/>
          <p:cNvSpPr txBox="1"/>
          <p:nvPr/>
        </p:nvSpPr>
        <p:spPr>
          <a:xfrm>
            <a:off x="5155362" y="4876800"/>
            <a:ext cx="45243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拿到可读报告</a:t>
            </a:r>
            <a:endParaRPr lang="zh-CN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0" name="文本框 558" descr="{&quot;isTemplate&quot;:true,&quot;type&quot;:&quot;text&quot;}"/>
          <p:cNvSpPr txBox="1"/>
          <p:nvPr/>
        </p:nvSpPr>
        <p:spPr>
          <a:xfrm>
            <a:off x="5155362" y="5133975"/>
            <a:ext cx="45243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三指标数值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+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三维气流流线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+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与参考带的对照，可直接向医生出示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1" name="圆角矩形 559"/>
          <p:cNvSpPr/>
          <p:nvPr/>
        </p:nvSpPr>
        <p:spPr>
          <a:xfrm>
            <a:off x="11098962" y="1257300"/>
            <a:ext cx="4286250" cy="4762500"/>
          </a:xfrm>
          <a:prstGeom prst="roundRect">
            <a:avLst>
              <a:gd name="adj" fmla="val 2667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F5A524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2" name="文本框 560" descr="{&quot;isTemplate&quot;:true,&quot;type&quot;:&quot;text&quot;}"/>
          <p:cNvSpPr txBox="1"/>
          <p:nvPr/>
        </p:nvSpPr>
        <p:spPr>
          <a:xfrm>
            <a:off x="11327562" y="1485900"/>
            <a:ext cx="3829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成本与可支付性</a:t>
            </a:r>
            <a:endParaRPr lang="zh-CN" sz="1125" b="1" spc="15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3" name="文本框 561" descr="{&quot;isTemplate&quot;:true,&quot;type&quot;:&quot;text&quot;}"/>
          <p:cNvSpPr txBox="1"/>
          <p:nvPr/>
        </p:nvSpPr>
        <p:spPr>
          <a:xfrm>
            <a:off x="11327562" y="2028825"/>
            <a:ext cx="38290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许可成本</a:t>
            </a:r>
            <a:r>
              <a:rPr lang="en-US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= 0</a:t>
            </a:r>
            <a:endParaRPr lang="en-US" sz="14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4" name="文本框 562" descr="{&quot;isTemplate&quot;:true,&quot;type&quot;:&quot;text&quot;}"/>
          <p:cNvSpPr txBox="1"/>
          <p:nvPr/>
        </p:nvSpPr>
        <p:spPr>
          <a:xfrm>
            <a:off x="11327562" y="2276475"/>
            <a:ext cx="38290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全链路开源（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SimpleITK / Netgen / OpenFOAM / VTK /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自研管线），不依赖任何商业</a:t>
            </a:r>
            <a:r>
              <a:rPr lang="en-US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CFD </a:t>
            </a: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许可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5" name="文本框 563" descr="{&quot;isTemplate&quot;:true,&quot;type&quot;:&quot;text&quot;}"/>
          <p:cNvSpPr txBox="1"/>
          <p:nvPr/>
        </p:nvSpPr>
        <p:spPr>
          <a:xfrm>
            <a:off x="11327562" y="2943225"/>
            <a:ext cx="38290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算力</a:t>
            </a:r>
            <a:r>
              <a:rPr lang="en-US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= </a:t>
            </a: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一台工作站</a:t>
            </a:r>
            <a:endParaRPr lang="zh-CN" sz="14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6" name="文本框 564" descr="{&quot;isTemplate&quot;:true,&quot;type&quot;:&quot;text&quot;}"/>
          <p:cNvSpPr txBox="1"/>
          <p:nvPr/>
        </p:nvSpPr>
        <p:spPr>
          <a:xfrm>
            <a:off x="11327562" y="3190875"/>
            <a:ext cx="38290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单例体网格百万级单元、稳态求解可在普通多核工作站完成；批量队列可上云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7" name="文本框 565" descr="{&quot;isTemplate&quot;:true,&quot;type&quot;:&quot;text&quot;}"/>
          <p:cNvSpPr txBox="1"/>
          <p:nvPr/>
        </p:nvSpPr>
        <p:spPr>
          <a:xfrm>
            <a:off x="11327562" y="3857625"/>
            <a:ext cx="38290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人力</a:t>
            </a:r>
            <a:r>
              <a:rPr lang="en-US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= </a:t>
            </a: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一次命令</a:t>
            </a:r>
            <a:endParaRPr lang="zh-CN" sz="14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8" name="文本框 566" descr="{&quot;isTemplate&quot;:true,&quot;type&quot;:&quot;text&quot;}"/>
          <p:cNvSpPr txBox="1"/>
          <p:nvPr/>
        </p:nvSpPr>
        <p:spPr>
          <a:xfrm>
            <a:off x="11327562" y="4105275"/>
            <a:ext cx="38290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免去三维软件里逐例手工分割与封口，人力成本从「工程师小时」降到「复核一次」</a:t>
            </a:r>
            <a:endParaRPr lang="zh-CN" sz="12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9" name="任意多边形 567"/>
          <p:cNvSpPr/>
          <p:nvPr/>
        </p:nvSpPr>
        <p:spPr>
          <a:xfrm>
            <a:off x="11327562" y="5019675"/>
            <a:ext cx="3829050" cy="781050"/>
          </a:xfrm>
          <a:custGeom>
            <a:avLst/>
            <a:gdLst/>
            <a:ahLst/>
            <a:cxnLst/>
            <a:pathLst>
              <a:path w="402" h="82">
                <a:moveTo>
                  <a:pt x="0" y="0"/>
                </a:moveTo>
                <a:lnTo>
                  <a:pt x="402" y="0"/>
                </a:lnTo>
                <a:lnTo>
                  <a:pt x="40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4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610" name="文本框 568" descr="{&quot;isTemplate&quot;:true,&quot;type&quot;:&quot;text&quot;}"/>
          <p:cNvSpPr txBox="1"/>
          <p:nvPr/>
        </p:nvSpPr>
        <p:spPr>
          <a:xfrm>
            <a:off x="11327562" y="5162550"/>
            <a:ext cx="38290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对科室而言，这是一条</a:t>
            </a:r>
            <a:r>
              <a:rPr lang="zh-CN" sz="12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不需要新增预算科目</a:t>
            </a: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就能跑起来的评估流程。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1" name="任意多边形 569"/>
          <p:cNvSpPr/>
          <p:nvPr/>
        </p:nvSpPr>
        <p:spPr>
          <a:xfrm>
            <a:off x="4412412" y="6134100"/>
            <a:ext cx="10972800" cy="400050"/>
          </a:xfrm>
          <a:custGeom>
            <a:avLst/>
            <a:gdLst/>
            <a:ahLst/>
            <a:cxnLst/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612" name="文本框 570" descr="{&quot;isTemplate&quot;:true,&quot;type&quot;:&quot;text&quot;}"/>
          <p:cNvSpPr txBox="1"/>
          <p:nvPr/>
        </p:nvSpPr>
        <p:spPr>
          <a:xfrm>
            <a:off x="4412412" y="6257925"/>
            <a:ext cx="5895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数据落点：成本结构的瓶颈不是许可费，而是「人」——自动化的直接收益就是把人力从流程里拿掉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3" name="文本框 571" descr="{&quot;isTemplate&quot;:true,&quot;type&quot;:&quot;text&quot;}"/>
          <p:cNvSpPr txBox="1"/>
          <p:nvPr/>
        </p:nvSpPr>
        <p:spPr>
          <a:xfrm>
            <a:off x="14928012" y="62579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09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rcRect t="3246" b="3246"/>
          <a:stretch>
            <a:fillRect/>
          </a:stretch>
        </p:blipFill>
        <p:spPr>
          <a:xfrm>
            <a:off x="0" y="0"/>
            <a:ext cx="19797624" cy="6858000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gradFill>
            <a:gsLst>
              <a:gs pos="0">
                <a:srgbClr val="0A1A2F">
                  <a:alpha val="98000"/>
                </a:srgbClr>
              </a:gs>
              <a:gs pos="42000">
                <a:srgbClr val="0A1A2F">
                  <a:alpha val="92000"/>
                </a:srgbClr>
              </a:gs>
              <a:gs pos="80000">
                <a:srgbClr val="0A1A2F">
                  <a:alpha val="30000"/>
                </a:srgbClr>
              </a:gs>
              <a:gs pos="100000">
                <a:srgbClr val="0A1A2F">
                  <a:alpha val="62000"/>
                </a:srgbClr>
              </a:gs>
            </a:gsLst>
            <a:lin ang="0" scaled="1"/>
          </a:gradFill>
        </p:spPr>
        <p:txBody>
          <a:bodyPr/>
          <a:p>
            <a:pPr/>
            <a:endParaRPr/>
          </a:p>
        </p:txBody>
      </p:sp>
      <p:sp>
        <p:nvSpPr>
          <p:cNvPr id="29" name="矩形 28"/>
          <p:cNvSpPr/>
          <p:nvPr/>
        </p:nvSpPr>
        <p:spPr>
          <a:xfrm>
            <a:off x="4564812" y="1809750"/>
            <a:ext cx="28575" cy="800100"/>
          </a:xfrm>
          <a:prstGeom prst="rect">
            <a:avLst/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4783887" y="1800225"/>
            <a:ext cx="800100" cy="819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1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51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5774487" y="1828800"/>
            <a:ext cx="4572000" cy="762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一个月的协作故事</a:t>
            </a:r>
            <a:endParaRPr lang="zh-CN" sz="4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4564812" y="2886075"/>
            <a:ext cx="74295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一个月，</a:t>
            </a:r>
            <a:r>
              <a:rPr lang="en-US" sz="18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59 </a:t>
            </a:r>
            <a:r>
              <a:rPr lang="zh-CN" sz="18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个编号任务</a:t>
            </a: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，每一次失败都被写成了判据——我们改过三次「前提」，每一次都留下了代价记录。</a:t>
            </a:r>
            <a:endParaRPr lang="zh-CN" sz="1800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4564812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4707687" y="4019550"/>
            <a:ext cx="1047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59 </a:t>
            </a: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个编号任务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041187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6184062" y="4019550"/>
            <a:ext cx="8096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三次改前提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7279437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7422312" y="4019550"/>
            <a:ext cx="647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四个星期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4564812" y="4638675"/>
            <a:ext cx="942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SECTION</a:t>
            </a:r>
            <a:endParaRPr lang="en-US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4564812" y="4838700"/>
            <a:ext cx="9429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P10 – P12</a:t>
            </a:r>
            <a:endParaRPr lang="en-US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5888787" y="4638675"/>
            <a:ext cx="32575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本章回答</a:t>
            </a:r>
            <a:endParaRPr lang="zh-CN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5888787" y="4838700"/>
            <a:ext cx="32575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如何从想法走到产品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困难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关键转折</a:t>
            </a:r>
            <a:endParaRPr lang="zh-CN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4564812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4564812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01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问题与需求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6726987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6726987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02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产品与解决方案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8889162" y="6115050"/>
            <a:ext cx="2019300" cy="28575"/>
          </a:xfrm>
          <a:prstGeom prst="roundRect">
            <a:avLst>
              <a:gd name="adj" fmla="val 66667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8889162" y="6219825"/>
            <a:ext cx="2019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03 </a:t>
            </a:r>
            <a:r>
              <a:rPr lang="zh-CN" sz="9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一个月的协作故事</a:t>
            </a:r>
            <a:endParaRPr lang="zh-CN" sz="9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11041812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11041812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04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测试过程与真实反馈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13203987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13203987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05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团队与产品的未来计划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9015" name="矩形 54"/>
          <p:cNvSpPr/>
          <p:nvPr/>
        </p:nvSpPr>
        <p:spPr>
          <a:xfrm>
            <a:off x="-491417" y="0"/>
            <a:ext cx="4937760" cy="493776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9016" name="矩形 55"/>
          <p:cNvSpPr/>
          <p:nvPr/>
        </p:nvSpPr>
        <p:spPr>
          <a:xfrm>
            <a:off x="15351281" y="1920240"/>
            <a:ext cx="4937760" cy="493776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5" name="矩形 54"/>
          <p:cNvSpPr/>
          <p:nvPr/>
        </p:nvSpPr>
        <p:spPr>
          <a:xfrm>
            <a:off x="3802812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6" name="矩形 55"/>
          <p:cNvSpPr/>
          <p:nvPr/>
        </p:nvSpPr>
        <p:spPr>
          <a:xfrm>
            <a:off x="11994312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4412412" y="381000"/>
            <a:ext cx="4191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03 / </a:t>
            </a: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一个月的协作故事</a:t>
            </a:r>
            <a:endParaRPr lang="zh-CN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4412412" y="609600"/>
            <a:ext cx="419100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从 0 到全链：四个星期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14947062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15080412" y="809625"/>
            <a:ext cx="180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Q3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4412412" y="1257300"/>
            <a:ext cx="3143250" cy="4857750"/>
          </a:xfrm>
          <a:prstGeom prst="roundRect">
            <a:avLst>
              <a:gd name="adj" fmla="val 3636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22D3EE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4641012" y="1504950"/>
            <a:ext cx="2686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协作机制</a:t>
            </a:r>
            <a:endParaRPr lang="zh-CN" sz="1125" b="1" spc="1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4641012" y="1828800"/>
            <a:ext cx="2686050" cy="1133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任务卡即合同：先立约、再执行；产物与判据全部落盘；</a:t>
            </a: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未参与创作的人</a:t>
            </a: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负责独立复验。</a:t>
            </a:r>
            <a:endParaRPr lang="zh-CN" sz="1500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任意多边形 63"/>
          <p:cNvSpPr/>
          <p:nvPr/>
        </p:nvSpPr>
        <p:spPr>
          <a:xfrm>
            <a:off x="4641012" y="4610100"/>
            <a:ext cx="2686050" cy="1266825"/>
          </a:xfrm>
          <a:custGeom>
            <a:avLst/>
            <a:gdLst/>
            <a:ahLst/>
            <a:cxnLst/>
            <a:pathLst>
              <a:path w="282" h="133">
                <a:moveTo>
                  <a:pt x="0" y="0"/>
                </a:moveTo>
                <a:lnTo>
                  <a:pt x="282" y="0"/>
                </a:lnTo>
                <a:lnTo>
                  <a:pt x="28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4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4641012" y="4772025"/>
            <a:ext cx="523875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59</a:t>
            </a:r>
            <a:endParaRPr lang="en-US" sz="33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5260137" y="4772025"/>
            <a:ext cx="809625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个编号任务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4641012" y="5353050"/>
            <a:ext cx="26860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每个结论都带可复现命令、原始日志与独立复验记录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7841412" y="2057400"/>
            <a:ext cx="7543800" cy="742950"/>
          </a:xfrm>
          <a:prstGeom prst="roundRect">
            <a:avLst>
              <a:gd name="adj" fmla="val 12821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8212887" y="2171700"/>
            <a:ext cx="466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1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1 </a:t>
            </a:r>
            <a:r>
              <a:rPr lang="zh-CN" sz="11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endParaRPr lang="zh-CN" sz="112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8193837" y="23431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打通链路</a:t>
            </a:r>
            <a:endParaRPr lang="zh-CN" sz="9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9051087" y="2171700"/>
            <a:ext cx="49053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DCM → </a:t>
            </a: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自动分割</a:t>
            </a:r>
            <a:r>
              <a:rPr lang="en-US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→ STL</a:t>
            </a:r>
            <a:endParaRPr lang="en-US" sz="14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9051087" y="2428875"/>
            <a:ext cx="49053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24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例中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21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例通过表面四门禁（水密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/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体积守恒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/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开口面积），患者例全过。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7841412" y="2895600"/>
            <a:ext cx="7543800" cy="742950"/>
          </a:xfrm>
          <a:prstGeom prst="roundRect">
            <a:avLst>
              <a:gd name="adj" fmla="val 12821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8212887" y="3009900"/>
            <a:ext cx="466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1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2 </a:t>
            </a:r>
            <a:r>
              <a:rPr lang="zh-CN" sz="11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endParaRPr lang="zh-CN" sz="112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8193837" y="31813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求解首战</a:t>
            </a:r>
            <a:endParaRPr lang="zh-CN" sz="9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9051087" y="3009900"/>
            <a:ext cx="50577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体网格</a:t>
            </a:r>
            <a:r>
              <a:rPr lang="en-US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+ </a:t>
            </a: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首次</a:t>
            </a:r>
            <a:r>
              <a:rPr lang="en-US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CFD</a:t>
            </a: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：崩溃</a:t>
            </a:r>
            <a:endParaRPr lang="zh-CN" sz="14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9051087" y="3267075"/>
            <a:ext cx="50577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首跑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Time = 260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报浮点异常；只改数值设置做单变量反证后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533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步稳定收敛。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7841412" y="3733800"/>
            <a:ext cx="7543800" cy="742950"/>
          </a:xfrm>
          <a:prstGeom prst="roundRect">
            <a:avLst>
              <a:gd name="adj" fmla="val 12821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8212887" y="3848100"/>
            <a:ext cx="466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1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3 </a:t>
            </a:r>
            <a:r>
              <a:rPr lang="zh-CN" sz="11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endParaRPr lang="zh-CN" sz="112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8260512" y="4019550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改判据</a:t>
            </a:r>
            <a:endParaRPr lang="zh-CN" sz="9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9051087" y="3848100"/>
            <a:ext cx="46005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判据重议与工具链核验</a:t>
            </a:r>
            <a:endParaRPr lang="zh-CN" sz="14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9051087" y="4105275"/>
            <a:ext cx="46005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出口改双轨判据收口；圆管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9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格判别把「网格致命」锁到退化单元一类。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7841412" y="4572000"/>
            <a:ext cx="7543800" cy="742950"/>
          </a:xfrm>
          <a:prstGeom prst="roundRect">
            <a:avLst>
              <a:gd name="adj" fmla="val 12821"/>
            </a:avLst>
          </a:prstGeom>
          <a:gradFill>
            <a:gsLst>
              <a:gs pos="0">
                <a:srgbClr val="1B3A5C"/>
              </a:gs>
              <a:gs pos="100000">
                <a:srgbClr val="12263F"/>
              </a:gs>
            </a:gsLst>
            <a:lin ang="3600000" scaled="1"/>
          </a:gradFill>
          <a:ln w="12700">
            <a:solidFill>
              <a:srgbClr val="F5A524">
                <a:alpha val="3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8212887" y="4686300"/>
            <a:ext cx="466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1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4 </a:t>
            </a:r>
            <a:r>
              <a:rPr lang="zh-CN" sz="11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周</a:t>
            </a:r>
            <a:endParaRPr lang="zh-CN" sz="1125" b="1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8260512" y="4857750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定标准</a:t>
            </a:r>
            <a:endParaRPr lang="zh-CN" sz="9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9051087" y="4686300"/>
            <a:ext cx="52101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域标准统一 + 全链对账</a:t>
            </a:r>
            <a:endParaRPr lang="zh-CN" sz="142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9051087" y="4943475"/>
            <a:ext cx="52101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域改为「鼻腔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+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鼻咽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+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可见口咽」；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b15 / b01 / b02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全链跑通并对账基线。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任意多边形 87"/>
          <p:cNvSpPr/>
          <p:nvPr/>
        </p:nvSpPr>
        <p:spPr>
          <a:xfrm>
            <a:off x="4412412" y="619125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4412412" y="6305550"/>
            <a:ext cx="5200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数据落点：这一个月真正产出的不是三张图，而是一套「失败也要留下判据」的工程记录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14928012" y="6305550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11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矩形 91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9017" name="矩形 92"/>
          <p:cNvSpPr/>
          <p:nvPr/>
        </p:nvSpPr>
        <p:spPr>
          <a:xfrm>
            <a:off x="-491417" y="0"/>
            <a:ext cx="4937760" cy="493776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9018" name="矩形 93"/>
          <p:cNvSpPr/>
          <p:nvPr/>
        </p:nvSpPr>
        <p:spPr>
          <a:xfrm>
            <a:off x="15351281" y="1920240"/>
            <a:ext cx="4937760" cy="493776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93" name="矩形 92"/>
          <p:cNvSpPr/>
          <p:nvPr/>
        </p:nvSpPr>
        <p:spPr>
          <a:xfrm>
            <a:off x="3802812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94" name="矩形 93"/>
          <p:cNvSpPr/>
          <p:nvPr/>
        </p:nvSpPr>
        <p:spPr>
          <a:xfrm>
            <a:off x="11994312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4412412" y="381000"/>
            <a:ext cx="5143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03 / </a:t>
            </a: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一个月的协作故事</a:t>
            </a:r>
            <a:endParaRPr lang="zh-CN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4412412" y="609600"/>
            <a:ext cx="514350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三个关键时刻：我们改了「前提」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圆角矩形 96"/>
          <p:cNvSpPr/>
          <p:nvPr/>
        </p:nvSpPr>
        <p:spPr>
          <a:xfrm>
            <a:off x="14947062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15080412" y="809625"/>
            <a:ext cx="180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Q3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4412412" y="1257300"/>
            <a:ext cx="4629150" cy="4914900"/>
          </a:xfrm>
          <a:prstGeom prst="roundRect">
            <a:avLst>
              <a:gd name="adj" fmla="val 246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4583862" y="1428750"/>
            <a:ext cx="4286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被改写的三个前提</a:t>
            </a:r>
            <a:endParaRPr lang="zh-CN" sz="1125" b="1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>
            <a:off x="4583862" y="1600200"/>
            <a:ext cx="4286250" cy="4000500"/>
          </a:xfrm>
          <a:prstGeom prst="rect">
            <a:avLst/>
          </a:prstGeom>
        </p:spPr>
      </p:pic>
      <p:sp>
        <p:nvSpPr>
          <p:cNvPr id="102" name="圆角矩形 101"/>
          <p:cNvSpPr/>
          <p:nvPr/>
        </p:nvSpPr>
        <p:spPr>
          <a:xfrm>
            <a:off x="9289212" y="1285875"/>
            <a:ext cx="247650" cy="247650"/>
          </a:xfrm>
          <a:prstGeom prst="roundRect">
            <a:avLst>
              <a:gd name="adj" fmla="val 50000"/>
            </a:avLst>
          </a:prstGeom>
          <a:ln w="1270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9374937" y="1333500"/>
            <a:ext cx="85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9632112" y="1285875"/>
            <a:ext cx="32004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网格被判「致命」，我们把它推翻了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9289212" y="1590675"/>
            <a:ext cx="60960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首跑在</a:t>
            </a:r>
            <a:r>
              <a:rPr lang="en-US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Time = 260 </a:t>
            </a: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报浮点异常，「网格质量差」一度成为结论。我们在同一网格上只改数值设置做单变量反证。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9289212" y="2276475"/>
            <a:ext cx="6096000" cy="552450"/>
          </a:xfrm>
          <a:prstGeom prst="rect">
            <a:avLst/>
          </a:prstGeom>
        </p:spPr>
        <p:txBody>
          <a:bodyPr wrap="square" lIns="85725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代价：</a:t>
            </a:r>
            <a:r>
              <a:rPr lang="en-US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533 </a:t>
            </a: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步稳定收敛、Δ</a:t>
            </a:r>
            <a:r>
              <a:rPr lang="en-US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p </a:t>
            </a: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落回合理带</a:t>
            </a:r>
            <a:r>
              <a:rPr lang="en-US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—— </a:t>
            </a: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承认是判据定得太松，全部已验证案例重跑。</a:t>
            </a:r>
            <a:endParaRPr lang="zh-CN" sz="120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9289212" y="2943225"/>
            <a:ext cx="247650" cy="247650"/>
          </a:xfrm>
          <a:prstGeom prst="roundRect">
            <a:avLst>
              <a:gd name="adj" fmla="val 50000"/>
            </a:avLst>
          </a:prstGeom>
          <a:ln w="1270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9374937" y="2990850"/>
            <a:ext cx="85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9632112" y="2943225"/>
            <a:ext cx="30003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计算域从「鼻腔」扩到「含口咽」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9289212" y="3248025"/>
            <a:ext cx="60960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原先只建鼻腔短域，把鼻咽与口咽切在域外。但患者最难受的位置，恰恰在鼻咽之后。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9289212" y="3933825"/>
            <a:ext cx="6096000" cy="552450"/>
          </a:xfrm>
          <a:prstGeom prst="rect">
            <a:avLst/>
          </a:prstGeom>
        </p:spPr>
        <p:txBody>
          <a:bodyPr wrap="square" lIns="85725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代价：</a:t>
            </a:r>
            <a:r>
              <a:rPr lang="en-US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b15 </a:t>
            </a: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鼻阻力由</a:t>
            </a:r>
            <a:r>
              <a:rPr lang="en-US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0.041 </a:t>
            </a: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升到</a:t>
            </a:r>
            <a:r>
              <a:rPr lang="en-US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0.068 Pa·s/mL —— </a:t>
            </a: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旧口径把阻力系统性低估了近四成。</a:t>
            </a:r>
            <a:endParaRPr lang="zh-CN" sz="120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圆角矩形 111"/>
          <p:cNvSpPr/>
          <p:nvPr/>
        </p:nvSpPr>
        <p:spPr>
          <a:xfrm>
            <a:off x="9289212" y="4600575"/>
            <a:ext cx="247650" cy="247650"/>
          </a:xfrm>
          <a:prstGeom prst="roundRect">
            <a:avLst>
              <a:gd name="adj" fmla="val 50000"/>
            </a:avLst>
          </a:prstGeom>
          <a:ln w="12700">
            <a:solidFill>
              <a:srgbClr val="22D3EE">
                <a:alpha val="6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9374937" y="4648200"/>
            <a:ext cx="85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9632112" y="4600575"/>
            <a:ext cx="2400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出口改由物理判据唯一定义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9289212" y="4905375"/>
            <a:ext cx="60960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出口截断位置不再依赖人工确认，而是由「</a:t>
            </a:r>
            <a:r>
              <a:rPr lang="en-US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mask </a:t>
            </a: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最底</a:t>
            </a:r>
            <a:r>
              <a:rPr lang="en-US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+ 0.5 mm</a:t>
            </a: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」这一条物理判据唯一确定。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9289212" y="5591175"/>
            <a:ext cx="6096000" cy="552450"/>
          </a:xfrm>
          <a:prstGeom prst="rect">
            <a:avLst/>
          </a:prstGeom>
        </p:spPr>
        <p:txBody>
          <a:bodyPr wrap="square" lIns="85725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代价：出口被明确声明为工程截断面而非解剖结构</a:t>
            </a:r>
            <a:r>
              <a:rPr lang="en-US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—— </a:t>
            </a: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数字因此站得住，也因此不可对标临床鼻测压。</a:t>
            </a:r>
            <a:endParaRPr lang="zh-CN" sz="120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任意多边形 116"/>
          <p:cNvSpPr/>
          <p:nvPr/>
        </p:nvSpPr>
        <p:spPr>
          <a:xfrm>
            <a:off x="4412412" y="6248400"/>
            <a:ext cx="10972800" cy="361950"/>
          </a:xfrm>
          <a:custGeom>
            <a:avLst/>
            <a:gdLst/>
            <a:ahLst/>
            <a:cxnLst/>
            <a:pathLst>
              <a:path w="1152" h="3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4412412" y="6353175"/>
            <a:ext cx="4371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数据落点：三个转折都留下了代价记录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—— 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前提可以改，但改了必须付账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14928012" y="635317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12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矩形 120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pic>
        <p:nvPicPr>
          <p:cNvPr id="122" name="图片 121"/>
          <p:cNvPicPr>
            <a:picLocks noChangeAspect="1"/>
          </p:cNvPicPr>
          <p:nvPr/>
        </p:nvPicPr>
        <p:blipFill>
          <a:blip r:embed="rId1"/>
          <a:srcRect t="3246" b="3246"/>
          <a:stretch>
            <a:fillRect/>
          </a:stretch>
        </p:blipFill>
        <p:spPr>
          <a:xfrm>
            <a:off x="0" y="0"/>
            <a:ext cx="19797624" cy="6858000"/>
          </a:xfrm>
          <a:prstGeom prst="rect">
            <a:avLst/>
          </a:prstGeom>
        </p:spPr>
      </p:pic>
      <p:sp>
        <p:nvSpPr>
          <p:cNvPr id="123" name="矩形 122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gradFill>
            <a:gsLst>
              <a:gs pos="0">
                <a:srgbClr val="0A1A2F">
                  <a:alpha val="98000"/>
                </a:srgbClr>
              </a:gs>
              <a:gs pos="40000">
                <a:srgbClr val="0A1A2F">
                  <a:alpha val="92000"/>
                </a:srgbClr>
              </a:gs>
              <a:gs pos="78000">
                <a:srgbClr val="0A1A2F">
                  <a:alpha val="25000"/>
                </a:srgbClr>
              </a:gs>
              <a:gs pos="100000">
                <a:srgbClr val="0A1A2F">
                  <a:alpha val="60000"/>
                </a:srgbClr>
              </a:gs>
            </a:gsLst>
            <a:lin ang="0" scaled="1"/>
          </a:gradFill>
        </p:spPr>
        <p:txBody>
          <a:bodyPr/>
          <a:p>
            <a:pPr/>
            <a:endParaRPr/>
          </a:p>
        </p:txBody>
      </p:sp>
      <p:sp>
        <p:nvSpPr>
          <p:cNvPr id="124" name="矩形 123"/>
          <p:cNvSpPr/>
          <p:nvPr/>
        </p:nvSpPr>
        <p:spPr>
          <a:xfrm>
            <a:off x="4564812" y="1809750"/>
            <a:ext cx="28575" cy="800100"/>
          </a:xfrm>
          <a:prstGeom prst="rect">
            <a:avLst/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4783887" y="1800225"/>
            <a:ext cx="800100" cy="819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1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51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5774487" y="1828800"/>
            <a:ext cx="5143500" cy="762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测试过程与真实反馈</a:t>
            </a:r>
            <a:endParaRPr lang="zh-CN" sz="4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4564812" y="2886075"/>
            <a:ext cx="68580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全链跑通——从原始</a:t>
            </a:r>
            <a:r>
              <a:rPr lang="en-US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CT </a:t>
            </a: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到功能数字，</a:t>
            </a:r>
            <a:r>
              <a:rPr lang="zh-CN" sz="18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每一步都留下可复核的判据</a:t>
            </a: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，而不是一张好看的流场图。</a:t>
            </a:r>
            <a:endParaRPr lang="zh-CN" sz="1800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圆角矩形 127"/>
          <p:cNvSpPr/>
          <p:nvPr/>
        </p:nvSpPr>
        <p:spPr>
          <a:xfrm>
            <a:off x="4564812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4707687" y="4019550"/>
            <a:ext cx="971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全链跑通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圆角矩形 129"/>
          <p:cNvSpPr/>
          <p:nvPr/>
        </p:nvSpPr>
        <p:spPr>
          <a:xfrm>
            <a:off x="5964987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6107862" y="4019550"/>
            <a:ext cx="971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工程尺度筛检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圆角矩形 131"/>
          <p:cNvSpPr/>
          <p:nvPr/>
        </p:nvSpPr>
        <p:spPr>
          <a:xfrm>
            <a:off x="7365162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7508037" y="4019550"/>
            <a:ext cx="647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独立复验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4564812" y="4638675"/>
            <a:ext cx="942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SECTION</a:t>
            </a:r>
            <a:endParaRPr lang="en-US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4564812" y="4838700"/>
            <a:ext cx="9429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P13 – P15</a:t>
            </a:r>
            <a:endParaRPr lang="en-US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5888787" y="4638675"/>
            <a:ext cx="32575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本章回答</a:t>
            </a:r>
            <a:endParaRPr lang="zh-CN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5888787" y="4838700"/>
            <a:ext cx="32575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跑通了吗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数字对不对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谁在独立复验</a:t>
            </a:r>
            <a:endParaRPr lang="zh-CN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圆角矩形 137"/>
          <p:cNvSpPr/>
          <p:nvPr/>
        </p:nvSpPr>
        <p:spPr>
          <a:xfrm>
            <a:off x="4564812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4564812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01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问题与需求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圆角矩形 139"/>
          <p:cNvSpPr/>
          <p:nvPr/>
        </p:nvSpPr>
        <p:spPr>
          <a:xfrm>
            <a:off x="6726987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6726987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02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产品与解决方案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圆角矩形 141"/>
          <p:cNvSpPr/>
          <p:nvPr/>
        </p:nvSpPr>
        <p:spPr>
          <a:xfrm>
            <a:off x="8889162" y="6115050"/>
            <a:ext cx="2019300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8889162" y="6219825"/>
            <a:ext cx="2019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03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一个月的协作故事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圆角矩形 143"/>
          <p:cNvSpPr/>
          <p:nvPr/>
        </p:nvSpPr>
        <p:spPr>
          <a:xfrm>
            <a:off x="11041812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11041812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04 </a:t>
            </a:r>
            <a:r>
              <a:rPr lang="zh-CN" sz="9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测试过程与真实反馈</a:t>
            </a:r>
            <a:endParaRPr lang="zh-CN" sz="9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圆角矩形 145"/>
          <p:cNvSpPr/>
          <p:nvPr/>
        </p:nvSpPr>
        <p:spPr>
          <a:xfrm>
            <a:off x="13203987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13203987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05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团队与产品的未来计划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矩形 148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9019" name="矩形 149"/>
          <p:cNvSpPr/>
          <p:nvPr/>
        </p:nvSpPr>
        <p:spPr>
          <a:xfrm>
            <a:off x="-491417" y="0"/>
            <a:ext cx="4937760" cy="4937760"/>
          </a:xfrm>
          <a:prstGeom prst="rect">
            <a:avLst/>
          </a:prstGeom>
          <a:gradFill>
            <a:gsLst>
              <a:gs pos="0">
                <a:srgbClr val="22D3EE">
                  <a:alpha val="12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9020" name="矩形 150"/>
          <p:cNvSpPr/>
          <p:nvPr/>
        </p:nvSpPr>
        <p:spPr>
          <a:xfrm>
            <a:off x="15351281" y="1920240"/>
            <a:ext cx="4937760" cy="4937760"/>
          </a:xfrm>
          <a:prstGeom prst="rect">
            <a:avLst/>
          </a:prstGeom>
          <a:gradFill>
            <a:gsLst>
              <a:gs pos="0">
                <a:srgbClr val="F5A524">
                  <a:alpha val="8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150" name="矩形 149"/>
          <p:cNvSpPr/>
          <p:nvPr/>
        </p:nvSpPr>
        <p:spPr>
          <a:xfrm>
            <a:off x="3802812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2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151" name="矩形 150"/>
          <p:cNvSpPr/>
          <p:nvPr/>
        </p:nvSpPr>
        <p:spPr>
          <a:xfrm>
            <a:off x="11994312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8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4412412" y="381000"/>
            <a:ext cx="61055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04 / </a:t>
            </a: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测试过程与真实反馈</a:t>
            </a:r>
            <a:endParaRPr lang="zh-CN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4412412" y="609600"/>
            <a:ext cx="6105525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全链结果：几何 → 网格 → 求解 → 指标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圆角矩形 153"/>
          <p:cNvSpPr/>
          <p:nvPr/>
        </p:nvSpPr>
        <p:spPr>
          <a:xfrm>
            <a:off x="14947062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5080412" y="809625"/>
            <a:ext cx="180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Q4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4412412" y="1257300"/>
            <a:ext cx="6572250" cy="4762500"/>
          </a:xfrm>
          <a:prstGeom prst="roundRect">
            <a:avLst>
              <a:gd name="adj" fmla="val 24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4621962" y="1447800"/>
            <a:ext cx="61531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扩展域全链结果</a:t>
            </a:r>
            <a:r>
              <a:rPr lang="en-US" sz="1125" b="1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125" b="1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现行基线</a:t>
            </a:r>
            <a:endParaRPr lang="zh-CN" sz="1125" b="1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任意多边形 157"/>
          <p:cNvSpPr/>
          <p:nvPr/>
        </p:nvSpPr>
        <p:spPr>
          <a:xfrm>
            <a:off x="4621962" y="1752600"/>
            <a:ext cx="6153150" cy="276225"/>
          </a:xfrm>
          <a:custGeom>
            <a:avLst/>
            <a:gdLst/>
            <a:ahLst/>
            <a:cxnLst/>
            <a:pathLst>
              <a:path w="646" h="29">
                <a:moveTo>
                  <a:pt x="0" y="28"/>
                </a:moveTo>
                <a:lnTo>
                  <a:pt x="646" y="28"/>
                </a:lnTo>
                <a:lnTo>
                  <a:pt x="646" y="29"/>
                </a:lnTo>
                <a:lnTo>
                  <a:pt x="0" y="29"/>
                </a:lnTo>
                <a:close/>
              </a:path>
            </a:pathLst>
          </a:custGeom>
          <a:solidFill>
            <a:srgbClr val="8BA6C1">
              <a:alpha val="30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4621962" y="1752600"/>
            <a:ext cx="1905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指标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7155612" y="1752600"/>
            <a:ext cx="247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b15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8565312" y="1752600"/>
            <a:ext cx="247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b01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9984537" y="1752600"/>
            <a:ext cx="247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b02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4621962" y="2133600"/>
            <a:ext cx="1905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鼻阻力</a:t>
            </a:r>
            <a:r>
              <a:rPr lang="en-US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R</a:t>
            </a: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Pa·s/mL</a:t>
            </a: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7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6965112" y="2124075"/>
            <a:ext cx="6191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0.0685</a:t>
            </a:r>
            <a:endParaRPr lang="en-US" sz="142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8384337" y="2124075"/>
            <a:ext cx="6191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0.0618</a:t>
            </a:r>
            <a:endParaRPr lang="en-US" sz="142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9794037" y="2124075"/>
            <a:ext cx="6191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0.1729</a:t>
            </a:r>
            <a:endParaRPr lang="en-US" sz="1425" b="1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4621962" y="2552700"/>
            <a:ext cx="1905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压差</a:t>
            </a:r>
            <a:r>
              <a:rPr lang="en-US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Δp</a:t>
            </a: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Pa</a:t>
            </a: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7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6984162" y="2543175"/>
            <a:ext cx="5810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17.120</a:t>
            </a:r>
            <a:endParaRPr lang="en-US" sz="142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8403387" y="2543175"/>
            <a:ext cx="5810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15.460</a:t>
            </a:r>
            <a:endParaRPr lang="en-US" sz="142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9813087" y="2543175"/>
            <a:ext cx="5810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43.231</a:t>
            </a:r>
            <a:endParaRPr lang="en-US" sz="1425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4621962" y="2971800"/>
            <a:ext cx="1905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WSS </a:t>
            </a: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合力（</a:t>
            </a:r>
            <a:r>
              <a:rPr lang="en-US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7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6946062" y="2962275"/>
            <a:ext cx="6572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1.49e-3</a:t>
            </a:r>
            <a:endParaRPr lang="en-US" sz="142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8365287" y="2962275"/>
            <a:ext cx="6572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1.27e-3</a:t>
            </a:r>
            <a:endParaRPr lang="en-US" sz="142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9774987" y="2962275"/>
            <a:ext cx="6572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2.37e-3</a:t>
            </a:r>
            <a:endParaRPr lang="en-US" sz="1425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4621962" y="3390900"/>
            <a:ext cx="1905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WSS </a:t>
            </a: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中位（</a:t>
            </a:r>
            <a:r>
              <a:rPr lang="en-US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Pa</a:t>
            </a: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7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7041312" y="3381375"/>
            <a:ext cx="476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0.068</a:t>
            </a:r>
            <a:endParaRPr lang="en-US" sz="142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8451012" y="3381375"/>
            <a:ext cx="476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0.050</a:t>
            </a:r>
            <a:endParaRPr lang="en-US" sz="142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9870237" y="3381375"/>
            <a:ext cx="476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0.090</a:t>
            </a:r>
            <a:endParaRPr lang="en-US" sz="1425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4621962" y="3810000"/>
            <a:ext cx="1905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网格单元数</a:t>
            </a:r>
            <a:endParaRPr lang="zh-CN" sz="127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6955587" y="3800475"/>
            <a:ext cx="647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653,789</a:t>
            </a:r>
            <a:endParaRPr lang="en-US" sz="1350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8365287" y="3800475"/>
            <a:ext cx="647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710,101</a:t>
            </a:r>
            <a:endParaRPr lang="en-US" sz="1350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9784512" y="3800475"/>
            <a:ext cx="647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590,961</a:t>
            </a:r>
            <a:endParaRPr lang="en-US" sz="1350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4621962" y="4229100"/>
            <a:ext cx="1905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质量不平衡</a:t>
            </a:r>
            <a:endParaRPr lang="zh-CN" sz="1275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7022262" y="4219575"/>
            <a:ext cx="514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6.0e-8</a:t>
            </a:r>
            <a:endParaRPr lang="en-US" sz="1350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8431962" y="4219575"/>
            <a:ext cx="514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4.5e-7</a:t>
            </a:r>
            <a:endParaRPr lang="en-US" sz="1350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9851187" y="4219575"/>
            <a:ext cx="514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4.6e-7</a:t>
            </a:r>
            <a:endParaRPr lang="en-US" sz="1350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" name="圆角矩形 186"/>
          <p:cNvSpPr/>
          <p:nvPr/>
        </p:nvSpPr>
        <p:spPr>
          <a:xfrm>
            <a:off x="4621962" y="4533900"/>
            <a:ext cx="6153150" cy="419100"/>
          </a:xfrm>
          <a:prstGeom prst="roundRect">
            <a:avLst>
              <a:gd name="adj" fmla="val 18182"/>
            </a:avLst>
          </a:prstGeom>
          <a:solidFill>
            <a:srgbClr val="22D3EE">
              <a:alpha val="7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4698162" y="4648200"/>
            <a:ext cx="1828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工程验证</a:t>
            </a:r>
            <a:endParaRPr lang="zh-CN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7117512" y="4648200"/>
            <a:ext cx="323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endParaRPr lang="zh-CN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8527212" y="4648200"/>
            <a:ext cx="323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endParaRPr lang="zh-CN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9946437" y="4648200"/>
            <a:ext cx="323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endParaRPr lang="zh-CN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4621962" y="5524500"/>
            <a:ext cx="6153150" cy="304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均为全链 CHAIN-DONE（几何 → 开口 → 网格 → 求解 → 指标）；网格数为 checkMesh 口径。b02 为本项目首次进入求解链的病例，上表即其首产基线。</a:t>
            </a:r>
            <a:endParaRPr lang="zh-CN" sz="975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" name="圆角矩形 192"/>
          <p:cNvSpPr/>
          <p:nvPr/>
        </p:nvSpPr>
        <p:spPr>
          <a:xfrm>
            <a:off x="11260887" y="1257300"/>
            <a:ext cx="4152900" cy="1714500"/>
          </a:xfrm>
          <a:prstGeom prst="roundRect">
            <a:avLst>
              <a:gd name="adj" fmla="val 5556"/>
            </a:avLst>
          </a:prstGeom>
          <a:solidFill>
            <a:srgbClr val="F5A524">
              <a:alpha val="8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194" name="任意多边形 193"/>
          <p:cNvSpPr/>
          <p:nvPr/>
        </p:nvSpPr>
        <p:spPr>
          <a:xfrm>
            <a:off x="11260887" y="1257300"/>
            <a:ext cx="4152900" cy="1714500"/>
          </a:xfrm>
          <a:custGeom>
            <a:avLst/>
            <a:gdLst/>
            <a:ahLst/>
            <a:cxnLst/>
            <a:pathLst>
              <a:path w="436" h="180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173"/>
                </a:lnTo>
                <a:cubicBezTo>
                  <a:pt x="3" y="176"/>
                  <a:pt x="5" y="179"/>
                  <a:pt x="8" y="180"/>
                </a:cubicBezTo>
                <a:cubicBezTo>
                  <a:pt x="3" y="179"/>
                  <a:pt x="0" y="175"/>
                  <a:pt x="0" y="17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5A524"/>
          </a:solidFill>
        </p:spPr>
        <p:txBody>
          <a:bodyPr/>
          <a:p>
            <a:pPr/>
            <a:endParaRPr/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11432337" y="1409700"/>
            <a:ext cx="3781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口径声明</a:t>
            </a:r>
            <a:r>
              <a:rPr lang="en-US" sz="1050" b="1" spc="7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050" b="1" spc="7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必读</a:t>
            </a:r>
            <a:endParaRPr lang="zh-CN" sz="1050" b="1" spc="75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11432337" y="1647825"/>
            <a:ext cx="378142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C9D8E6"/>
                </a:solidFill>
                <a:latin typeface="微软雅黑" panose="020B0503020204020204" charset="-122"/>
                <a:ea typeface="微软雅黑" panose="020B0503020204020204" charset="-122"/>
              </a:rPr>
              <a:t>均为</a:t>
            </a:r>
            <a:r>
              <a:rPr lang="zh-CN" sz="10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稳态层流工程尺度验证</a:t>
            </a:r>
            <a:r>
              <a:rPr lang="zh-CN" sz="1050">
                <a:solidFill>
                  <a:srgbClr val="C9D8E6"/>
                </a:solidFill>
                <a:latin typeface="微软雅黑" panose="020B0503020204020204" charset="-122"/>
                <a:ea typeface="微软雅黑" panose="020B0503020204020204" charset="-122"/>
              </a:rPr>
              <a:t>，非临床诊断；出口下游阻力缺失</a:t>
            </a:r>
            <a:r>
              <a:rPr lang="en-US" sz="1050">
                <a:solidFill>
                  <a:srgbClr val="C9D8E6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→ Δp </a:t>
            </a:r>
            <a:r>
              <a:rPr lang="zh-CN" sz="1050">
                <a:solidFill>
                  <a:srgbClr val="C9D8E6"/>
                </a:solidFill>
                <a:latin typeface="微软雅黑" panose="020B0503020204020204" charset="-122"/>
                <a:ea typeface="微软雅黑" panose="020B0503020204020204" charset="-122"/>
              </a:rPr>
              <a:t>已知偏低。</a:t>
            </a:r>
            <a:endParaRPr lang="zh-CN" sz="1050">
              <a:solidFill>
                <a:srgbClr val="C9D8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11432337" y="2228850"/>
            <a:ext cx="37814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C9D8E6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R </a:t>
            </a:r>
            <a:r>
              <a:rPr lang="zh-CN" sz="1050">
                <a:solidFill>
                  <a:srgbClr val="C9D8E6"/>
                </a:solidFill>
                <a:latin typeface="微软雅黑" panose="020B0503020204020204" charset="-122"/>
                <a:ea typeface="微软雅黑" panose="020B0503020204020204" charset="-122"/>
              </a:rPr>
              <a:t>绝对值不可对标临床鼻测压</a:t>
            </a:r>
            <a:r>
              <a:rPr lang="en-US" sz="1050">
                <a:solidFill>
                  <a:srgbClr val="C9D8E6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—— </a:t>
            </a:r>
            <a:r>
              <a:rPr lang="zh-CN" sz="1050">
                <a:solidFill>
                  <a:srgbClr val="C9D8E6"/>
                </a:solidFill>
                <a:latin typeface="微软雅黑" panose="020B0503020204020204" charset="-122"/>
                <a:ea typeface="微软雅黑" panose="020B0503020204020204" charset="-122"/>
              </a:rPr>
              <a:t>只有</a:t>
            </a:r>
            <a:r>
              <a:rPr lang="zh-CN" sz="10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配对相对变化</a:t>
            </a:r>
            <a:r>
              <a:rPr lang="zh-CN" sz="1050">
                <a:solidFill>
                  <a:srgbClr val="C9D8E6"/>
                </a:solidFill>
                <a:latin typeface="微软雅黑" panose="020B0503020204020204" charset="-122"/>
                <a:ea typeface="微软雅黑" panose="020B0503020204020204" charset="-122"/>
              </a:rPr>
              <a:t>可采信。</a:t>
            </a:r>
            <a:endParaRPr lang="zh-CN" sz="1050">
              <a:solidFill>
                <a:srgbClr val="C9D8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11432337" y="2562225"/>
            <a:ext cx="37814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通过的是</a:t>
            </a:r>
            <a:r>
              <a:rPr lang="zh-CN" sz="1050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工程尺度筛检</a:t>
            </a:r>
            <a:r>
              <a:rPr lang="zh-CN" sz="105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，而非严格残差意义上的完全收敛。</a:t>
            </a:r>
            <a:endParaRPr lang="zh-CN" sz="105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圆角矩形 198"/>
          <p:cNvSpPr/>
          <p:nvPr/>
        </p:nvSpPr>
        <p:spPr>
          <a:xfrm>
            <a:off x="11232312" y="3105150"/>
            <a:ext cx="4152900" cy="2914650"/>
          </a:xfrm>
          <a:prstGeom prst="roundRect">
            <a:avLst>
              <a:gd name="adj" fmla="val 326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11403762" y="3276600"/>
            <a:ext cx="381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域不同，数字不可比</a:t>
            </a:r>
            <a:endParaRPr lang="zh-CN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11403762" y="3514725"/>
            <a:ext cx="3810000" cy="828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40%</a:t>
            </a:r>
            <a:endParaRPr lang="en-US" sz="5400" b="1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11403762" y="4419600"/>
            <a:ext cx="38100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用「鼻腔短域」口径算</a:t>
            </a:r>
            <a:r>
              <a:rPr lang="en-US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b15</a:t>
            </a:r>
            <a:r>
              <a:rPr lang="zh-CN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，Δ</a:t>
            </a:r>
            <a:r>
              <a:rPr lang="en-US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p </a:t>
            </a:r>
            <a:r>
              <a:rPr lang="zh-CN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只有</a:t>
            </a:r>
            <a:r>
              <a:rPr lang="en-US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10.29 Pa</a:t>
            </a:r>
            <a:r>
              <a:rPr lang="zh-CN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；含口咽的扩展域是</a:t>
            </a:r>
            <a:r>
              <a:rPr lang="en-US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17.12 Pa</a:t>
            </a:r>
            <a:r>
              <a:rPr lang="zh-CN" sz="112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2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11403762" y="5505450"/>
            <a:ext cx="3810000" cy="342900"/>
          </a:xfrm>
          <a:prstGeom prst="rect">
            <a:avLst/>
          </a:prstGeom>
        </p:spPr>
        <p:txBody>
          <a:bodyPr wrap="none" lIns="0" tIns="71438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域变一次，结论翻一次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—— 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域标准必须锁死。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任意多边形 203"/>
          <p:cNvSpPr/>
          <p:nvPr/>
        </p:nvSpPr>
        <p:spPr>
          <a:xfrm>
            <a:off x="4412412" y="6134100"/>
            <a:ext cx="10972800" cy="400050"/>
          </a:xfrm>
          <a:custGeom>
            <a:avLst/>
            <a:gdLst/>
            <a:ahLst/>
            <a:cxnLst/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4412412" y="6257925"/>
            <a:ext cx="5114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口径：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generalisation_test_only_no_human_review · 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出口为工程截断面，缺下游阻力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14928012" y="62579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14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矩形 207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9021" name="矩形 208"/>
          <p:cNvSpPr/>
          <p:nvPr/>
        </p:nvSpPr>
        <p:spPr>
          <a:xfrm>
            <a:off x="-491417" y="0"/>
            <a:ext cx="4937760" cy="493776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9022" name="矩形 209"/>
          <p:cNvSpPr/>
          <p:nvPr/>
        </p:nvSpPr>
        <p:spPr>
          <a:xfrm>
            <a:off x="15351281" y="1920240"/>
            <a:ext cx="4937760" cy="493776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209" name="矩形 208"/>
          <p:cNvSpPr/>
          <p:nvPr/>
        </p:nvSpPr>
        <p:spPr>
          <a:xfrm>
            <a:off x="3802812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210" name="矩形 209"/>
          <p:cNvSpPr/>
          <p:nvPr/>
        </p:nvSpPr>
        <p:spPr>
          <a:xfrm>
            <a:off x="11994312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4412412" y="381000"/>
            <a:ext cx="4114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04 / </a:t>
            </a: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测试过程与真实反馈</a:t>
            </a:r>
            <a:endParaRPr lang="zh-CN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4412412" y="609600"/>
            <a:ext cx="411480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为什么这些数字可以被相信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14947062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15080412" y="809625"/>
            <a:ext cx="180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Q4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214"/>
          <p:cNvSpPr/>
          <p:nvPr/>
        </p:nvSpPr>
        <p:spPr>
          <a:xfrm>
            <a:off x="4412412" y="1257300"/>
            <a:ext cx="10972800" cy="2381250"/>
          </a:xfrm>
          <a:prstGeom prst="roundRect">
            <a:avLst>
              <a:gd name="adj" fmla="val 48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4602912" y="1390650"/>
            <a:ext cx="10591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验证三重门：三个不依赖「我们说自己严谨」的独立关卡</a:t>
            </a:r>
            <a:endParaRPr lang="zh-CN" sz="1350" b="1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7" name="图片 2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>
            <a:off x="4602912" y="1600200"/>
            <a:ext cx="10515600" cy="1771650"/>
          </a:xfrm>
          <a:prstGeom prst="rect">
            <a:avLst/>
          </a:prstGeom>
        </p:spPr>
      </p:pic>
      <p:sp>
        <p:nvSpPr>
          <p:cNvPr id="218" name="圆角矩形 217"/>
          <p:cNvSpPr/>
          <p:nvPr/>
        </p:nvSpPr>
        <p:spPr>
          <a:xfrm>
            <a:off x="4412412" y="3790950"/>
            <a:ext cx="3552825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4621962" y="3981450"/>
            <a:ext cx="31337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0.087%</a:t>
            </a:r>
            <a:endParaRPr lang="en-US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4621962" y="4381500"/>
            <a:ext cx="31337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解出来的力和输入对得上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4621962" y="4924425"/>
            <a:ext cx="3133725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壁面应力积分的合力与压差反作用力相差不到千分之一；纯解析圆管泊肃叶解也逐档对上。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圆角矩形 221"/>
          <p:cNvSpPr/>
          <p:nvPr/>
        </p:nvSpPr>
        <p:spPr>
          <a:xfrm>
            <a:off x="8117637" y="3790950"/>
            <a:ext cx="3562350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8327187" y="3981450"/>
            <a:ext cx="31432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独立</a:t>
            </a:r>
            <a:endParaRPr lang="zh-CN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8327187" y="4381500"/>
            <a:ext cx="31432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不是自己给自己签字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8327187" y="5219700"/>
            <a:ext cx="3143250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每个关键结论都由未参与创作的人按同一套判据重走一遍，逐项对上才写入结论卡。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圆角矩形 225"/>
          <p:cNvSpPr/>
          <p:nvPr/>
        </p:nvSpPr>
        <p:spPr>
          <a:xfrm>
            <a:off x="11832387" y="3790950"/>
            <a:ext cx="3552825" cy="222885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12041937" y="3981450"/>
            <a:ext cx="31337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42 s</a:t>
            </a:r>
            <a:endParaRPr lang="en-US" sz="19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12041937" y="4381500"/>
            <a:ext cx="31337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别人能重来一遍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12041937" y="4924425"/>
            <a:ext cx="3133725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删掉旧现场从原始案例重建，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42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秒完成：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12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个已知值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+ 6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个输入</a:t>
            </a:r>
            <a:r>
              <a:rPr lang="en-US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SHA256 </a:t>
            </a:r>
            <a:r>
              <a:rPr lang="zh-CN" sz="127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逐位匹配。</a:t>
            </a:r>
            <a:endParaRPr lang="zh-CN" sz="127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任意多边形 229"/>
          <p:cNvSpPr/>
          <p:nvPr/>
        </p:nvSpPr>
        <p:spPr>
          <a:xfrm>
            <a:off x="4412412" y="6134100"/>
            <a:ext cx="10972800" cy="400050"/>
          </a:xfrm>
          <a:custGeom>
            <a:avLst/>
            <a:gdLst/>
            <a:ahLst/>
            <a:cxnLst/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4412412" y="6257925"/>
            <a:ext cx="5200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文献对照：静息呼吸稳态层流解与全分辨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LES 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预测近乎一致</a:t>
            </a: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—— </a:t>
            </a: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本管线的层流口径合规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14928012" y="62579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15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矩形 233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pic>
        <p:nvPicPr>
          <p:cNvPr id="235" name="图片 234"/>
          <p:cNvPicPr>
            <a:picLocks noChangeAspect="1"/>
          </p:cNvPicPr>
          <p:nvPr/>
        </p:nvPicPr>
        <p:blipFill>
          <a:blip r:embed="rId1"/>
          <a:srcRect t="3246" b="3246"/>
          <a:stretch>
            <a:fillRect/>
          </a:stretch>
        </p:blipFill>
        <p:spPr>
          <a:xfrm>
            <a:off x="0" y="0"/>
            <a:ext cx="19797624" cy="6858000"/>
          </a:xfrm>
          <a:prstGeom prst="rect">
            <a:avLst/>
          </a:prstGeom>
        </p:spPr>
      </p:pic>
      <p:sp>
        <p:nvSpPr>
          <p:cNvPr id="236" name="矩形 235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gradFill>
            <a:gsLst>
              <a:gs pos="0">
                <a:srgbClr val="0A1A2F">
                  <a:alpha val="98000"/>
                </a:srgbClr>
              </a:gs>
              <a:gs pos="40000">
                <a:srgbClr val="0A1A2F">
                  <a:alpha val="92000"/>
                </a:srgbClr>
              </a:gs>
              <a:gs pos="78000">
                <a:srgbClr val="0A1A2F">
                  <a:alpha val="25000"/>
                </a:srgbClr>
              </a:gs>
              <a:gs pos="100000">
                <a:srgbClr val="0A1A2F">
                  <a:alpha val="60000"/>
                </a:srgbClr>
              </a:gs>
            </a:gsLst>
            <a:lin ang="0" scaled="1"/>
          </a:gradFill>
        </p:spPr>
        <p:txBody>
          <a:bodyPr/>
          <a:p>
            <a:pPr/>
            <a:endParaRPr/>
          </a:p>
        </p:txBody>
      </p:sp>
      <p:sp>
        <p:nvSpPr>
          <p:cNvPr id="237" name="矩形 236"/>
          <p:cNvSpPr/>
          <p:nvPr/>
        </p:nvSpPr>
        <p:spPr>
          <a:xfrm>
            <a:off x="4564812" y="1809750"/>
            <a:ext cx="28575" cy="800100"/>
          </a:xfrm>
          <a:prstGeom prst="rect">
            <a:avLst/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4783887" y="1800225"/>
            <a:ext cx="800100" cy="819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1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51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5774487" y="1828800"/>
            <a:ext cx="5715000" cy="762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团队与产品的未来计划</a:t>
            </a:r>
            <a:endParaRPr lang="zh-CN" sz="4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4564812" y="2886075"/>
            <a:ext cx="68580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从「看得见」到「改得动」——先把功能量出来、</a:t>
            </a:r>
            <a:r>
              <a:rPr lang="zh-CN" sz="18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把标准立起来</a:t>
            </a:r>
            <a:r>
              <a:rPr lang="zh-CN" sz="18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，再让数字反过来指导器件设计。</a:t>
            </a:r>
            <a:endParaRPr lang="zh-CN" sz="1800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1" name="圆角矩形 240"/>
          <p:cNvSpPr/>
          <p:nvPr/>
        </p:nvSpPr>
        <p:spPr>
          <a:xfrm>
            <a:off x="4564812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4707687" y="4019550"/>
            <a:ext cx="10477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24 </a:t>
            </a: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例队列常模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" name="圆角矩形 242"/>
          <p:cNvSpPr/>
          <p:nvPr/>
        </p:nvSpPr>
        <p:spPr>
          <a:xfrm>
            <a:off x="6041187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6184062" y="4019550"/>
            <a:ext cx="971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定制器件终局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" name="圆角矩形 244"/>
          <p:cNvSpPr/>
          <p:nvPr/>
        </p:nvSpPr>
        <p:spPr>
          <a:xfrm>
            <a:off x="7441362" y="4095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7584237" y="4019550"/>
            <a:ext cx="647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所需支持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4564812" y="4638675"/>
            <a:ext cx="942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SECTION</a:t>
            </a:r>
            <a:endParaRPr lang="en-US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4564812" y="4838700"/>
            <a:ext cx="9429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P16 – P17</a:t>
            </a:r>
            <a:endParaRPr lang="en-US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5888787" y="4638675"/>
            <a:ext cx="3448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本章回答</a:t>
            </a:r>
            <a:endParaRPr lang="zh-CN" sz="1050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5888787" y="4838700"/>
            <a:ext cx="3448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下一步做什么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需要什么支持</a:t>
            </a:r>
            <a:r>
              <a:rPr lang="en-US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谁来一起</a:t>
            </a:r>
            <a:endParaRPr lang="zh-CN" sz="15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圆角矩形 250"/>
          <p:cNvSpPr/>
          <p:nvPr/>
        </p:nvSpPr>
        <p:spPr>
          <a:xfrm>
            <a:off x="4564812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4564812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01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问题与需求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圆角矩形 252"/>
          <p:cNvSpPr/>
          <p:nvPr/>
        </p:nvSpPr>
        <p:spPr>
          <a:xfrm>
            <a:off x="6726987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6726987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02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产品与解决方案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圆角矩形 254"/>
          <p:cNvSpPr/>
          <p:nvPr/>
        </p:nvSpPr>
        <p:spPr>
          <a:xfrm>
            <a:off x="8889162" y="6115050"/>
            <a:ext cx="2019300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8889162" y="6219825"/>
            <a:ext cx="2019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03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一个月的协作故事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圆角矩形 256"/>
          <p:cNvSpPr/>
          <p:nvPr/>
        </p:nvSpPr>
        <p:spPr>
          <a:xfrm>
            <a:off x="11041812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11041812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04 </a:t>
            </a:r>
            <a:r>
              <a:rPr lang="zh-CN" sz="900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测试过程与真实反馈</a:t>
            </a:r>
            <a:endParaRPr lang="zh-CN" sz="900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圆角矩形 258"/>
          <p:cNvSpPr/>
          <p:nvPr/>
        </p:nvSpPr>
        <p:spPr>
          <a:xfrm>
            <a:off x="13203987" y="6115050"/>
            <a:ext cx="2028825" cy="28575"/>
          </a:xfrm>
          <a:prstGeom prst="roundRect">
            <a:avLst>
              <a:gd name="adj" fmla="val 66667"/>
            </a:avLst>
          </a:prstGeom>
          <a:solidFill>
            <a:srgbClr val="22D3EE"/>
          </a:solidFill>
        </p:spPr>
        <p:txBody>
          <a:bodyPr/>
          <a:p>
            <a:pPr/>
            <a:endParaRPr/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13203987" y="6219825"/>
            <a:ext cx="20288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05 </a:t>
            </a:r>
            <a:r>
              <a:rPr lang="zh-CN" sz="9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团队与产品的未来计划</a:t>
            </a:r>
            <a:endParaRPr lang="zh-CN" sz="9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矩形 261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9023" name="矩形 262"/>
          <p:cNvSpPr/>
          <p:nvPr/>
        </p:nvSpPr>
        <p:spPr>
          <a:xfrm>
            <a:off x="-491417" y="0"/>
            <a:ext cx="4937760" cy="4937760"/>
          </a:xfrm>
          <a:prstGeom prst="rect">
            <a:avLst/>
          </a:prstGeom>
          <a:gradFill>
            <a:gsLst>
              <a:gs pos="0">
                <a:srgbClr val="22D3EE">
                  <a:alpha val="12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9024" name="矩形 263"/>
          <p:cNvSpPr/>
          <p:nvPr/>
        </p:nvSpPr>
        <p:spPr>
          <a:xfrm>
            <a:off x="15351281" y="1920240"/>
            <a:ext cx="4937760" cy="4937760"/>
          </a:xfrm>
          <a:prstGeom prst="rect">
            <a:avLst/>
          </a:prstGeom>
          <a:gradFill>
            <a:gsLst>
              <a:gs pos="0">
                <a:srgbClr val="F5A524">
                  <a:alpha val="8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263" name="矩形 262"/>
          <p:cNvSpPr/>
          <p:nvPr/>
        </p:nvSpPr>
        <p:spPr>
          <a:xfrm>
            <a:off x="3802812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2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r="100000" b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264" name="矩形 263"/>
          <p:cNvSpPr/>
          <p:nvPr/>
        </p:nvSpPr>
        <p:spPr>
          <a:xfrm>
            <a:off x="11994312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8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4412412" y="381000"/>
            <a:ext cx="48006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05 / </a:t>
            </a:r>
            <a:r>
              <a:rPr lang="zh-CN" sz="1125" b="1" spc="22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团队与产品的未来计划</a:t>
            </a:r>
            <a:endParaRPr lang="zh-CN" sz="1125" b="1" spc="22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4412412" y="609600"/>
            <a:ext cx="480060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70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下一步：从评估工具到定制器件</a:t>
            </a:r>
            <a:endParaRPr lang="zh-CN" sz="270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圆角矩形 266"/>
          <p:cNvSpPr/>
          <p:nvPr/>
        </p:nvSpPr>
        <p:spPr>
          <a:xfrm>
            <a:off x="14947062" y="6667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15080412" y="809625"/>
            <a:ext cx="180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Q5</a:t>
            </a:r>
            <a:endParaRPr lang="en-US" sz="9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圆角矩形 268"/>
          <p:cNvSpPr/>
          <p:nvPr/>
        </p:nvSpPr>
        <p:spPr>
          <a:xfrm>
            <a:off x="4412412" y="1257300"/>
            <a:ext cx="5848350" cy="3429000"/>
          </a:xfrm>
          <a:prstGeom prst="roundRect">
            <a:avLst>
              <a:gd name="adj" fmla="val 3333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22D3EE">
                <a:alpha val="3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4641012" y="1466850"/>
            <a:ext cx="53911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阶段</a:t>
            </a:r>
            <a:r>
              <a:rPr lang="en-US" sz="1125" b="1" spc="1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A · </a:t>
            </a:r>
            <a:r>
              <a:rPr lang="zh-CN" sz="1125" b="1" spc="1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评估工具（进行中）</a:t>
            </a:r>
            <a:endParaRPr lang="zh-CN" sz="1125" b="1" spc="1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4641012" y="1733550"/>
            <a:ext cx="895350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endParaRPr lang="en-US" sz="570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5631612" y="1733550"/>
            <a:ext cx="1495425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例副鼻窦</a:t>
            </a:r>
            <a:r>
              <a:rPr lang="en-US" sz="15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CT </a:t>
            </a:r>
            <a:r>
              <a:rPr lang="zh-CN" sz="150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队列</a:t>
            </a:r>
            <a:endParaRPr lang="zh-CN" sz="150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4641012" y="2724150"/>
            <a:ext cx="53911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从单例演示到队列常模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4641012" y="3048000"/>
            <a:ext cx="53911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24 </a:t>
            </a: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例几何层已批量重跑（</a:t>
            </a:r>
            <a:r>
              <a:rPr lang="en-US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23/24 </a:t>
            </a: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通过表面判据）。下一步把网格、求解、指标一并批量，建立队列常模分布，并用无监督聚类做表型分层。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4641012" y="4105275"/>
            <a:ext cx="5391150" cy="371475"/>
          </a:xfrm>
          <a:prstGeom prst="rect">
            <a:avLst/>
          </a:prstGeom>
        </p:spPr>
        <p:txBody>
          <a:bodyPr wrap="none" lIns="0" tIns="85725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边界：表型分层是文献迁移的解释层，未在本队列验证；不做个体化症状预测。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圆角矩形 275"/>
          <p:cNvSpPr/>
          <p:nvPr/>
        </p:nvSpPr>
        <p:spPr>
          <a:xfrm>
            <a:off x="10508412" y="1257300"/>
            <a:ext cx="4876800" cy="3429000"/>
          </a:xfrm>
          <a:prstGeom prst="roundRect">
            <a:avLst>
              <a:gd name="adj" fmla="val 3333"/>
            </a:avLst>
          </a:prstGeom>
          <a:gradFill>
            <a:gsLst>
              <a:gs pos="0">
                <a:srgbClr val="1B3A5C"/>
              </a:gs>
              <a:gs pos="100000">
                <a:srgbClr val="12263F"/>
              </a:gs>
            </a:gsLst>
            <a:lin ang="3600000" scaled="1"/>
          </a:gra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10737012" y="1466850"/>
            <a:ext cx="44196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阶段</a:t>
            </a:r>
            <a:r>
              <a:rPr lang="en-US" sz="1125" b="1" spc="15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B · </a:t>
            </a:r>
            <a:r>
              <a:rPr lang="zh-CN" sz="1125" b="1" spc="15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终局产品（设计目标）</a:t>
            </a:r>
            <a:endParaRPr lang="zh-CN" sz="1125" b="1" spc="15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10737012" y="1733550"/>
            <a:ext cx="1447800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&gt;50</a:t>
            </a:r>
            <a:endParaRPr lang="en-US" sz="5700" b="1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12261012" y="1733550"/>
            <a:ext cx="1219200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W/m² </a:t>
            </a:r>
            <a:r>
              <a:rPr lang="zh-CN" sz="13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黏膜占比</a:t>
            </a:r>
            <a:endParaRPr lang="zh-CN" sz="13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10737012" y="2724150"/>
            <a:ext cx="44196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把「气流重新导回下鼻道」写成设计目标</a:t>
            </a:r>
            <a:endParaRPr lang="zh-CN" sz="1575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10737012" y="3048000"/>
            <a:ext cx="44196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以热通量与壁面剪应力为约束，反向求解鼻腔填充器件的形状与位置</a:t>
            </a:r>
            <a:r>
              <a:rPr lang="en-US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—— </a:t>
            </a:r>
            <a:r>
              <a:rPr lang="zh-CN" sz="1275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从「读出功能」变成「改回功能」。</a:t>
            </a:r>
            <a:endParaRPr lang="zh-CN" sz="1275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10737012" y="4105275"/>
            <a:ext cx="4419600" cy="371475"/>
          </a:xfrm>
          <a:prstGeom prst="rect">
            <a:avLst/>
          </a:prstGeom>
        </p:spPr>
        <p:txBody>
          <a:bodyPr wrap="none" lIns="0" tIns="85725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前置：需先有队列常模，否则器件设计没有可比的基线。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圆角矩形 282"/>
          <p:cNvSpPr/>
          <p:nvPr/>
        </p:nvSpPr>
        <p:spPr>
          <a:xfrm>
            <a:off x="4412412" y="4857750"/>
            <a:ext cx="10972800" cy="11430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4621962" y="4991100"/>
            <a:ext cx="10553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我们需要什么</a:t>
            </a:r>
            <a:endParaRPr lang="zh-CN" sz="1125" b="1" spc="1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4621962" y="5257800"/>
            <a:ext cx="3381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1 · </a:t>
            </a:r>
            <a:r>
              <a:rPr lang="zh-CN" sz="13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真实病例数据</a:t>
            </a:r>
            <a:endParaRPr lang="zh-CN" sz="135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4621962" y="5495925"/>
            <a:ext cx="33813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带症状记录的病例尤其稀缺</a:t>
            </a:r>
            <a:r>
              <a:rPr lang="en-US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—— </a:t>
            </a: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这是最大缺口。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8212887" y="5257800"/>
            <a:ext cx="3371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2 · </a:t>
            </a:r>
            <a:r>
              <a:rPr lang="zh-CN" sz="13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临床合作</a:t>
            </a:r>
            <a:endParaRPr lang="zh-CN" sz="135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8212887" y="5495925"/>
            <a:ext cx="33718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术前术后配对随访，让「相对变化」落地。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11794287" y="5257800"/>
            <a:ext cx="3381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3 · </a:t>
            </a:r>
            <a:r>
              <a:rPr lang="zh-CN" sz="13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算力与工程人手</a:t>
            </a:r>
            <a:endParaRPr lang="zh-CN" sz="135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11794287" y="5495925"/>
            <a:ext cx="33813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队列批量求解与器件设计，需要更多算力与人力。</a:t>
            </a:r>
            <a:endParaRPr lang="zh-CN" sz="1125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" name="任意多边形 290"/>
          <p:cNvSpPr/>
          <p:nvPr/>
        </p:nvSpPr>
        <p:spPr>
          <a:xfrm>
            <a:off x="4412412" y="6134100"/>
            <a:ext cx="10972800" cy="400050"/>
          </a:xfrm>
          <a:custGeom>
            <a:avLst/>
            <a:gdLst/>
            <a:ahLst/>
            <a:cxnLst/>
            <a:pathLst>
              <a:path w="1152" h="4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4412412" y="6257925"/>
            <a:ext cx="4667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路径逻辑：先有可信的功能读数，再有队列基线，最后才谈得上按目标设计器件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14928012" y="62579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17 / 18</a:t>
            </a:r>
            <a:endParaRPr lang="en-US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矩形 294"/>
          <p:cNvSpPr/>
          <p:nvPr/>
        </p:nvSpPr>
        <p:spPr>
          <a:xfrm>
            <a:off x="0" y="0"/>
            <a:ext cx="19797624" cy="6858000"/>
          </a:xfrm>
          <a:prstGeom prst="rect">
            <a:avLst/>
          </a:prstGeom>
          <a:solidFill>
            <a:srgbClr val="0A1A2F"/>
          </a:solidFill>
        </p:spPr>
        <p:txBody>
          <a:bodyPr/>
          <a:p>
            <a:pPr/>
            <a:endParaRPr/>
          </a:p>
        </p:txBody>
      </p:sp>
      <p:sp>
        <p:nvSpPr>
          <p:cNvPr id="9025" name="任意多边形 295"/>
          <p:cNvSpPr/>
          <p:nvPr/>
        </p:nvSpPr>
        <p:spPr>
          <a:xfrm>
            <a:off x="-491417" y="0"/>
            <a:ext cx="4937760" cy="4937760"/>
          </a:xfrm>
          <a:custGeom>
            <a:avLst/>
            <a:gdLst/>
            <a:ahLst/>
            <a:cxnLst/>
            <a:pathLst>
              <a:path w="760" h="760">
                <a:moveTo>
                  <a:pt x="760" y="720"/>
                </a:moveTo>
                <a:lnTo>
                  <a:pt x="0" y="720"/>
                </a:lnTo>
                <a:lnTo>
                  <a:pt x="0" y="0"/>
                </a:lnTo>
                <a:lnTo>
                  <a:pt x="760" y="0"/>
                </a:lnTo>
                <a:close/>
              </a:path>
            </a:pathLst>
          </a:custGeom>
          <a:gradFill>
            <a:gsLst>
              <a:gs pos="0">
                <a:srgbClr val="22D3EE">
                  <a:alpha val="16000"/>
                </a:srgbClr>
              </a:gs>
              <a:gs pos="62000">
                <a:srgbClr val="22D3EE">
                  <a:alpha val="0"/>
                </a:srgbClr>
              </a:gs>
            </a:gsLst>
            <a:path path="circle">
              <a:fillToRect l="50000" t="42000" r="50000" b="58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9026" name="矩形 296"/>
          <p:cNvSpPr/>
          <p:nvPr/>
        </p:nvSpPr>
        <p:spPr>
          <a:xfrm>
            <a:off x="15351281" y="1920240"/>
            <a:ext cx="4937760" cy="4937760"/>
          </a:xfrm>
          <a:prstGeom prst="rect">
            <a:avLst/>
          </a:prstGeom>
          <a:gradFill>
            <a:gsLst>
              <a:gs pos="0">
                <a:srgbClr val="F5A524">
                  <a:alpha val="9000"/>
                </a:srgbClr>
              </a:gs>
              <a:gs pos="66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296" name="任意多边形 295"/>
          <p:cNvSpPr/>
          <p:nvPr/>
        </p:nvSpPr>
        <p:spPr>
          <a:xfrm>
            <a:off x="3802812" y="0"/>
            <a:ext cx="7239000" cy="7239000"/>
          </a:xfrm>
          <a:custGeom>
            <a:avLst/>
            <a:gdLst/>
            <a:ahLst/>
            <a:cxnLst/>
            <a:pathLst>
              <a:path w="760" h="760">
                <a:moveTo>
                  <a:pt x="760" y="720"/>
                </a:moveTo>
                <a:lnTo>
                  <a:pt x="0" y="720"/>
                </a:lnTo>
                <a:lnTo>
                  <a:pt x="0" y="0"/>
                </a:lnTo>
                <a:lnTo>
                  <a:pt x="760" y="0"/>
                </a:lnTo>
                <a:close/>
              </a:path>
            </a:pathLst>
          </a:custGeom>
          <a:gradFill>
            <a:gsLst>
              <a:gs pos="0">
                <a:srgbClr val="22D3EE">
                  <a:alpha val="16000"/>
                </a:srgbClr>
              </a:gs>
              <a:gs pos="62000">
                <a:srgbClr val="22D3EE">
                  <a:alpha val="0"/>
                </a:srgbClr>
              </a:gs>
            </a:gsLst>
            <a:path path="circle">
              <a:fillToRect l="50000" t="42000" r="50000" b="58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297" name="矩形 296"/>
          <p:cNvSpPr/>
          <p:nvPr/>
        </p:nvSpPr>
        <p:spPr>
          <a:xfrm>
            <a:off x="11041812" y="1905000"/>
            <a:ext cx="4953000" cy="4953000"/>
          </a:xfrm>
          <a:prstGeom prst="rect">
            <a:avLst/>
          </a:prstGeom>
          <a:gradFill>
            <a:gsLst>
              <a:gs pos="0">
                <a:srgbClr val="F5A524">
                  <a:alpha val="9000"/>
                </a:srgbClr>
              </a:gs>
              <a:gs pos="66000">
                <a:srgbClr val="F5A524">
                  <a:alpha val="0"/>
                </a:srgbClr>
              </a:gs>
            </a:gsLst>
            <a:path path="circle">
              <a:fillToRect l="100000" t="100000"/>
            </a:path>
          </a:gradFill>
        </p:spPr>
        <p:txBody>
          <a:bodyPr/>
          <a:p>
            <a:pPr/>
            <a:endParaRPr/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9508287" y="790575"/>
            <a:ext cx="790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30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ENDING</a:t>
            </a:r>
            <a:endParaRPr lang="en-US" sz="1050" b="1" spc="30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5041062" y="1200150"/>
            <a:ext cx="9715500" cy="18192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8000"/>
              </a:lnSpc>
            </a:pPr>
            <a:r>
              <a:rPr lang="zh-CN" sz="46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让「说不出的难受」</a:t>
            </a:r>
            <a:endParaRPr lang="zh-CN" sz="4650" b="1">
              <a:solidFill>
                <a:srgbClr val="E8F1F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8000"/>
              </a:lnSpc>
            </a:pPr>
            <a:r>
              <a:rPr lang="zh-CN" sz="4650" b="1">
                <a:solidFill>
                  <a:srgbClr val="E8F1FA"/>
                </a:solidFill>
                <a:latin typeface="微软雅黑" panose="020B0503020204020204" charset="-122"/>
                <a:ea typeface="微软雅黑" panose="020B0503020204020204" charset="-122"/>
              </a:rPr>
              <a:t>变成</a:t>
            </a:r>
            <a:r>
              <a:rPr lang="zh-CN" sz="46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看得见的数字</a:t>
            </a:r>
            <a:endParaRPr lang="zh-CN" sz="46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" name="矩形 299"/>
          <p:cNvSpPr/>
          <p:nvPr/>
        </p:nvSpPr>
        <p:spPr>
          <a:xfrm>
            <a:off x="9327312" y="3343275"/>
            <a:ext cx="1143000" cy="28575"/>
          </a:xfrm>
          <a:prstGeom prst="rect">
            <a:avLst/>
          </a:prstGeom>
          <a:gradFill>
            <a:gsLst>
              <a:gs pos="0">
                <a:srgbClr val="22D3EE">
                  <a:alpha val="0"/>
                </a:srgbClr>
              </a:gs>
              <a:gs pos="50000">
                <a:srgbClr val="22D3EE"/>
              </a:gs>
              <a:gs pos="100000">
                <a:srgbClr val="22D3EE">
                  <a:alpha val="0"/>
                </a:srgbClr>
              </a:gs>
            </a:gsLst>
            <a:lin ang="0" scaled="1"/>
          </a:gradFill>
        </p:spPr>
        <p:txBody>
          <a:bodyPr/>
          <a:p>
            <a:pPr/>
            <a:endParaRPr/>
          </a:p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5422062" y="3657600"/>
            <a:ext cx="8953500" cy="781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空鼻症鼻腔功能客观化评估</a:t>
            </a:r>
            <a:r>
              <a:rPr lang="en-US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· </a:t>
            </a: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一张</a:t>
            </a:r>
            <a:r>
              <a:rPr lang="en-US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CT → </a:t>
            </a: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自动建模</a:t>
            </a:r>
            <a:r>
              <a:rPr lang="en-US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→ </a:t>
            </a: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稳态流场</a:t>
            </a:r>
            <a:r>
              <a:rPr lang="en-US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→ </a:t>
            </a: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鼻阻力</a:t>
            </a:r>
            <a:r>
              <a:rPr lang="en-US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/ </a:t>
            </a: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壁面剪应力</a:t>
            </a:r>
            <a:r>
              <a:rPr lang="en-US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/ </a:t>
            </a:r>
            <a:r>
              <a:rPr lang="zh-CN" sz="1500">
                <a:solidFill>
                  <a:srgbClr val="B7CBDD"/>
                </a:solidFill>
                <a:latin typeface="微软雅黑" panose="020B0503020204020204" charset="-122"/>
                <a:ea typeface="微软雅黑" panose="020B0503020204020204" charset="-122"/>
              </a:rPr>
              <a:t>后鼻孔温湿与热通量</a:t>
            </a:r>
            <a:endParaRPr lang="zh-CN" sz="1500">
              <a:solidFill>
                <a:srgbClr val="B7CBD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8565312" y="4857750"/>
            <a:ext cx="1809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lang="en-US" sz="22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8317662" y="5238750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开源可复现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矩形 303"/>
          <p:cNvSpPr/>
          <p:nvPr/>
        </p:nvSpPr>
        <p:spPr>
          <a:xfrm>
            <a:off x="9270162" y="4857750"/>
            <a:ext cx="9525" cy="438150"/>
          </a:xfrm>
          <a:prstGeom prst="rect">
            <a:avLst/>
          </a:prstGeom>
          <a:solidFill>
            <a:srgbClr val="8BA6C1">
              <a:alpha val="28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9813087" y="4857750"/>
            <a:ext cx="1809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22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9565437" y="5238750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条命令跑通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" name="矩形 306"/>
          <p:cNvSpPr/>
          <p:nvPr/>
        </p:nvSpPr>
        <p:spPr>
          <a:xfrm>
            <a:off x="10517937" y="4857750"/>
            <a:ext cx="9525" cy="438150"/>
          </a:xfrm>
          <a:prstGeom prst="rect">
            <a:avLst/>
          </a:prstGeom>
          <a:solidFill>
            <a:srgbClr val="8BA6C1">
              <a:alpha val="28000"/>
            </a:srgbClr>
          </a:solidFill>
        </p:spPr>
        <p:txBody>
          <a:bodyPr/>
          <a:p>
            <a:pPr/>
            <a:endParaRPr/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11060862" y="4857750"/>
            <a:ext cx="1809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22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10813212" y="5238750"/>
            <a:ext cx="666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微软雅黑" panose="020B0503020204020204" charset="-122"/>
                <a:ea typeface="微软雅黑" panose="020B0503020204020204" charset="-122"/>
              </a:rPr>
              <a:t>次人工交互</a:t>
            </a:r>
            <a:endParaRPr lang="zh-CN" sz="1050">
              <a:solidFill>
                <a:srgbClr val="8BA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4945812" y="5838825"/>
            <a:ext cx="9906000" cy="2381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3B5675"/>
                </a:solidFill>
                <a:latin typeface="微软雅黑" panose="020B0503020204020204" charset="-122"/>
                <a:ea typeface="微软雅黑" panose="020B0503020204020204" charset="-122"/>
              </a:rPr>
              <a:t>本项目输出为工程尺度的功能指标，用于研究与器械设计评估，不构成临床诊断或治疗建议；患者数据均经脱敏处理。</a:t>
            </a:r>
            <a:endParaRPr lang="zh-CN" sz="975">
              <a:solidFill>
                <a:srgbClr val="3B5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11" name="" descr="&lt;Slide style={{ width: 1280, height: 720, background: '#0A1A2F', padding: '24px 64px', position: 'relative', overflow: 'hidden', fontFamily: &quot;'Microsoft YaHei','PingFang SC',sans-serif&quot; }}&gt;&#10;    &lt;Box style={{ position: 'absolute', top: 0, left: 0, width: 600, height: 600, background: 'radial-gradient(circle at 0% 0%, rgba(34,211,238,0.10) 0%, rgba(34,211,238,0) 68%)' }} /&gt;&#10;    &lt;Box style={{ position: 'absolute', bottom: 0, right: 0, width: 420, height: 420, background: 'radial-gradient(circle at 100% 100%, rgba(245,165,36,0.07) 0%, rgba(245,165,36,0) 68%)' }} /&gt;&#10;&#10;    &lt;Box style={{ position: 'relative', zIndex: 1, width: '100%', flexDirection: 'column' }}&gt;&#10;        &lt;Box style={{ height: 84, flexDirection: 'row', alignItems: 'flex-end', justifyContent: 'space-between' }}&gt;&#10;            &lt;Box style={{ flexDirection: 'column', gap: 6 }}&gt;&#10;                &lt;Text style={{ fontSize: 15, fontWeight: 600, letterSpacing: 3, color: '#22D3EE' }}&gt;APPENDIX / 支撑材料与依据来源&lt;/Text&gt;&#10;                &lt;Text style={{ fontSize: 34, fontWeight: 700, color: '#E8F1FA', lineHeight: 1.2 }}&gt;每个数字都有出处：调研 · 链路 · 验证 · 训练 · Demo&lt;/Text&gt;&#10;            &lt;/Box&gt;&#10;            &lt;Box style={{ width: 46, height: 46, borderRadius: 23, border: '2px solid rgba(34,211,238,0.55)', justifyContent: 'center', alignItems: 'center' }}&gt;&#10;                &lt;Text style={{ fontSize: 13, fontWeight: 700, color: '#22D3EE' }}&gt;A&lt;/Text&gt;&#10;            &lt;/Box&gt;&#10;        &lt;/Box&gt;&#10;&#10;        &lt;Box style={{ height: 508, marginTop: 14, flexDirection: 'column', gap: 11 }}&gt;&#10;            &lt;Box style={{ height: 76, flexDirection: 'row', alignItems: 'center', gap: 18, padding: '10px 24px', background: 'linear-gradient(150deg, #14294A 0%, #0E2039 100%)', borderRadius: 12, border: '1px solid rgba(139,166,193,0.22)' }}&gt;&#10;                &lt;Box style={{ width: 40, height: 40, borderRadius: 20, border: '2px solid rgba(34,211,238,0.55)', justifyContent: 'center', alignItems: 'center' }}&gt;&#10;                    &lt;Text style={{ fontSize: 13, fontWeight: 700, color: '#22D3EE' }}&gt;01&lt;/Text&gt;&#10;                &lt;/Box&gt;&#10;                &lt;Box style={{ flex: 1, flexDirection: 'column', gap: 3 }}&gt;&#10;                    &lt;Text style={{ fontSize: 16, fontWeight: 600, color: '#7DE3F4' }}&gt;01 · 患者需求调研包（7 份 · 交叉验证表 / 需求→指标交叉分析 / 两轮 ENS 外部调研 / 原始材料）&lt;/Text&gt;&#10;                    &lt;Text style={{ fontSize: 13, color: '#8BA6C1', lineHeight: 1.45 }}&gt;P03–05 患者画像与量表的依据来源；全部逐字入库、口径可追溯&lt;/Text&gt;&#10;                &lt;/Box&gt;&#10;            &lt;/Box&gt;&#10;&#10;            &lt;Box style={{ height: 76, flexDirection: 'row', alignItems: 'center', gap: 18, padding: '10px 24px', background: 'linear-gradient(150deg, #14294A 0%, #0E2039 100%)', borderRadius: 12, border: '1px solid rgba(139,166,193,0.22)' }}&gt;&#10;                &lt;Box style={{ width: 40, height: 40, borderRadius: 20, border: '2px solid rgba(34,211,238,0.55)', justifyContent: 'center', alignItems: 'center' }}&gt;&#10;                    &lt;Text style={{ fontSize: 13, fontWeight: 700, color: '#22D3EE' }}&gt;02&lt;/Text&gt;&#10;                &lt;/Box&gt;&#10;                &lt;Box style={{ flex: 1, flexDirection: 'column', gap: 3 }}&gt;&#10;                    &lt;Text style={{ fontSize: 16, fontWeight: 600, color: '#7DE3F4' }}&gt;02 · 详细技术链路（8 份 · DICOM → 几何 → 网格 → 求解 → 指标 → 工作台）&lt;/Text&gt;&#10;                    &lt;Text style={{ fontSize: 13, color: '#8BA6C1', lineHeight: 1.45 }}&gt;P07「CT 进功能数字出」每一步的方法文档；从权威 SOP 起读&lt;/Text&gt;&#10;                &lt;/Box&gt;&#10;            &lt;/Box&gt;&#10;&#10;            &lt;Box style={{ height: 76, flexDirection: 'row', alignItems: 'center', gap: 18, padding: '10px 24px', background: 'linear-gradient(150deg, #14294A 0%, #0E2039 100%)', borderRadius: 12, border: '1px solid rgba(139,166,193,0.22)' }}&gt;&#10;                &lt;Box style={{ width: 40, height: 40, borderRadius: 20, border: '2px solid rgba(34,211,238,0.55)', justifyContent: 'center', alignItems: 'center' }}&gt;&#10;                    &lt;Text style={{ fontSize: 13, fontWeight: 700, color: '#22D3EE' }}&gt;03&lt;/Text&gt;&#10;                &lt;/Box&gt;&#10;                &lt;Box style={{ flex: 1, flexDirection: 'column', gap: 3 }}&gt;&#10;                    &lt;Text style={{ fontSize: 16, fontWeight: 600, color: '#7DE3F4' }}&gt;03 · 验证与校准依据（6 份 · 验证三重门的底稿）&lt;/Text&gt;&#10;                    &lt;Text style={{ fontSize: 13, color: '#8BA6C1', lineHeight: 1.45 }}&gt;0.087% 已知答案对照 / 独立复验 / 42 秒一条命令复现 —— P15 的出处&lt;/Text&gt;&#10;                &lt;/Box&gt;&#10;            &lt;/Box&gt;&#10;&#10;            &lt;Box style={{ height: 76, flexDirection: 'row', alignItems: 'center', gap: 18, padding: '10px 24px', background: 'linear-gradient(150deg, #14294A 0%, #0E2039 100%)', borderRadius: 12, border: '1px solid rgba(139,166,193,0.22)' }}&gt;&#10;                &lt;Box style={{ width: 40, height: 40, borderRadius: 20, border: '2px solid rgba(34,211,238,0.55)', justifyContent: 'center', alignItems: 'center' }}&gt;&#10;                    &lt;Text style={{ fontSize: 13, fontWeight: 700, color: '#22D3EE' }}&gt;04&lt;/Text&gt;&#10;                &lt;/Box&gt;&#10;                &lt;Box style={{ flex: 1, flexDirection: 'column', gap: 3 }}&gt;&#10;                    &lt;Text style={{ fontSize: 16, fontWeight: 600, color: '#7DE3F4' }}&gt;04 · 未来的依据（5 份 · 症状关联证据分级 + 症状标签探查）&lt;/Text&gt;&#10;                    &lt;Text style={{ fontSize: 13, color: '#8BA6C1', lineHeight: 1.45 }}&gt;愿景页热通量 r≈−0.76 等关联数字的文献出处，与「标签不可得」的探查记录&lt;/Text&gt;&#10;                &lt;/Box&gt;&#10;            &lt;/Box&gt;&#10;&#10;            &lt;Box style={{ height: 76, flexDirection: 'row', alignItems: 'center', gap: 18, padding: '10px 24px', background: 'linear-gradient(150deg, #1B3A5C 0%, #12263F 100%)', borderRadius: 12, border: '1px solid rgba(245,165,36,0.40)' }}&gt;&#10;                &lt;Box style={{ width: 40, height: 40, borderRadius: 20, border: '2px solid rgba(245,165,36,0.55)', justifyContent: 'center', alignItems: 'center' }}&gt;&#10;                    &lt;Text style={{ fontSize: 13, fontWeight: 700, color: '#F5A524' }}&gt;05&lt;/Text&gt;&#10;                &lt;/Box&gt;&#10;                &lt;Box style={{ flex: 1, flexDirection: 'column', gap: 3 }}&gt;&#10;                    &lt;Text style={{ fontSize: 16, fontWeight: 600, color: '#7DE3F4' }}&gt;05 · 标准训练方法与队列就绪（4 份 · 训练设计 v1 + 24 例批量实跑）&lt;/Text&gt;&#10;                    &lt;Text style={{ fontSize: 13, color: '#8BA6C1', lineHeight: 1.45 }}&gt;从评估工具到标准的路线图；「24 例已就绪」出处 = T-059 批量 23/24 auto_pass&lt;/Text&gt;&#10;                &lt;/Box&gt;&#10;            &lt;/Box&gt;&#10;&#10;            &lt;Box style={{ height: 76, flexDirection: 'row', alignItems: 'center', gap: 18, padding: '10px 24px', background: 'linear-gradient(150deg, #14294A 0%, #0E2039 100%)', borderRadius: 12, border: '1px solid rgba(139,166,193,0.34)' }}&gt;&#10;                &lt;Box style={{ width: 40, height: 40, borderRadius: 20, border: '2px solid rgba(34,211,238,0.55)', justifyContent: 'center', alignItems: 'center' }}&gt;&#10;                    &lt;Text style={{ fontSize: 13, fontWeight: 700, color: '#22D3EE' }}&gt;06&lt;/Text&gt;&#10;                &lt;/Box&gt;&#10;                &lt;Box style={{ flex: 1, flexDirection: 'column', gap: 3 }}&gt;&#10;                    &lt;Text style={{ fontSize: 16, fontWeight: 600, color: '#7DE3F4' }}&gt;06 · 功能演示 Demo（三维检查 · 流线 · 对比 · 任务控制台）&lt;/Text&gt;&#10;                    &lt;Text style={{ fontSize: 13, color: '#8BA6C1', lineHeight: 1.45 }}&gt;真实脱敏数据；现场演示前需先启动本地服务（启动三维工作台.ps1）&lt;/Text&gt;&#10;                &lt;/Box&gt;&#10;            &lt;/Box&gt;&#10;        &lt;/Box&gt;&#10;&#10;        &lt;Box style={{ height: 38, marginTop: 10, flexDirection: 'row', alignItems: 'center', justifyContent: 'space-between', borderTop: '1px solid rgba(139,166,193,0.22)' }}&gt;&#10;            &lt;Text style={{ fontSize: 13, color: '#8BA6C1' }}&gt;依据来源：三例指标 = T-058 §6（patient_metrics.json）· 24 例 = T-059 批量结果 · 判据 = T-002——30 份材料均可点击，每份标注原件路径&lt;/Text&gt;&#10;            &lt;Text style={{ fontSize: 14, color: '#8BA6C1' }}&gt;附录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"/>
          <p:cNvSpPr/>
          <p:nvPr/>
        </p:nvSpPr>
        <p:spPr>
          <a:xfrm rot="0" flipH="0" flipV="0">
            <a:off x="0" y="0"/>
            <a:ext cx="19797624" cy="6858000"/>
          </a:xfrm>
          <a:prstGeom prst="rect">
            <a:avLst/>
          </a:prstGeom>
          <a:solidFill>
            <a:srgbClr val="0A1A2F"/>
          </a:solidFill>
          <a:ln/>
        </p:spPr>
        <p:txBody>
          <a:bodyPr/>
          <a:p/>
        </p:txBody>
      </p:sp>
      <p:sp>
        <p:nvSpPr>
          <p:cNvPr id="9027" name=""/>
          <p:cNvSpPr/>
          <p:nvPr/>
        </p:nvSpPr>
        <p:spPr>
          <a:xfrm rot="0" flipH="0" flipV="0">
            <a:off x="-491417" y="0"/>
            <a:ext cx="4937760" cy="493776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/>
        </p:txBody>
      </p:sp>
      <p:sp>
        <p:nvSpPr>
          <p:cNvPr id="9028" name=""/>
          <p:cNvSpPr/>
          <p:nvPr/>
        </p:nvSpPr>
        <p:spPr>
          <a:xfrm rot="0" flipH="0" flipV="0">
            <a:off x="15351281" y="1920240"/>
            <a:ext cx="4937760" cy="493776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3802812" y="0"/>
            <a:ext cx="5715000" cy="5715000"/>
          </a:xfrm>
          <a:prstGeom prst="rect">
            <a:avLst/>
          </a:prstGeom>
          <a:gradFill>
            <a:gsLst>
              <a:gs pos="0">
                <a:srgbClr val="22D3EE">
                  <a:alpha val="10000"/>
                </a:srgbClr>
              </a:gs>
              <a:gs pos="68000">
                <a:srgbClr val="22D3EE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11994312" y="2857500"/>
            <a:ext cx="4000500" cy="4000500"/>
          </a:xfrm>
          <a:prstGeom prst="rect">
            <a:avLst/>
          </a:prstGeom>
          <a:gradFill>
            <a:gsLst>
              <a:gs pos="0">
                <a:srgbClr val="F5A524">
                  <a:alpha val="7000"/>
                </a:srgbClr>
              </a:gs>
              <a:gs pos="68000">
                <a:srgbClr val="F5A524">
                  <a:alpha val="0"/>
                </a:srgbClr>
              </a:gs>
            </a:gsLst>
            <a:path path="circle">
              <a:fillToRect l="100000" t="100000" r="0" b="0"/>
            </a:path>
          </a:gra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4412412" y="333375"/>
            <a:ext cx="782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 xml:space="preserve">APPENDIX / </a:t>
            </a:r>
            <a:r>
              <a:rPr lang="zh-CN" sz="1125" b="1" spc="225">
                <a:solidFill>
                  <a:srgbClr val="22D3EE"/>
                </a:solidFill>
                <a:latin typeface="Microsoft YaHei"/>
                <a:ea typeface="Microsoft YaHei"/>
              </a:rPr>
              <a:t>支撑材料与依据来源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412412" y="561975"/>
            <a:ext cx="78295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E8F1FA"/>
                </a:solidFill>
                <a:latin typeface="Microsoft YaHei"/>
                <a:ea typeface="Microsoft YaHei"/>
              </a:rPr>
              <a:t>每个数字都有出处：调研</a:t>
            </a:r>
            <a:r>
              <a:rPr lang="en-US" sz="255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E8F1FA"/>
                </a:solidFill>
                <a:latin typeface="Microsoft YaHei"/>
                <a:ea typeface="Microsoft YaHei"/>
              </a:rPr>
              <a:t>链路</a:t>
            </a:r>
            <a:r>
              <a:rPr lang="en-US" sz="255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E8F1FA"/>
                </a:solidFill>
                <a:latin typeface="Microsoft YaHei"/>
                <a:ea typeface="Microsoft YaHei"/>
              </a:rPr>
              <a:t>验证</a:t>
            </a:r>
            <a:r>
              <a:rPr lang="en-US" sz="255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E8F1FA"/>
                </a:solidFill>
                <a:latin typeface="Microsoft YaHei"/>
                <a:ea typeface="Microsoft YaHei"/>
              </a:rPr>
              <a:t>训练</a:t>
            </a:r>
            <a:r>
              <a:rPr lang="en-US" sz="2550" b="1">
                <a:solidFill>
                  <a:srgbClr val="E8F1FA"/>
                </a:solidFill>
                <a:latin typeface="Microsoft YaHei"/>
                <a:ea typeface="Microsoft YaHei"/>
              </a:rPr>
              <a:t xml:space="preserve"> · Demo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14947062" y="590550"/>
            <a:ext cx="438150" cy="43815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5118512" y="733425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4412412" y="1162050"/>
            <a:ext cx="10972800" cy="723900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4641012" y="1333500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755312" y="144780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193462" y="1304925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0="http://schemas.openxmlformats.org/officeDocument/2006/relationships" ns0:id="rId2"/>
              </a:rPr>
              <a:t xml:space="preserve">01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1="http://schemas.openxmlformats.org/officeDocument/2006/relationships" ns1:id="rId2"/>
              </a:rPr>
              <a:t>患者需求调研包（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2="http://schemas.openxmlformats.org/officeDocument/2006/relationships" ns2:id="rId2"/>
              </a:rPr>
              <a:t xml:space="preserve">7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3="http://schemas.openxmlformats.org/officeDocument/2006/relationships" ns3:id="rId2"/>
              </a:rPr>
              <a:t>份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4="http://schemas.openxmlformats.org/officeDocument/2006/relationships" ns4:id="rId2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5="http://schemas.openxmlformats.org/officeDocument/2006/relationships" ns5:id="rId2"/>
              </a:rPr>
              <a:t>交叉验证表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6="http://schemas.openxmlformats.org/officeDocument/2006/relationships" ns6:id="rId2"/>
              </a:rPr>
              <a:t xml:space="preserve"> /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7="http://schemas.openxmlformats.org/officeDocument/2006/relationships" ns7:id="rId2"/>
              </a:rPr>
              <a:t>需求→指标交叉分析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8="http://schemas.openxmlformats.org/officeDocument/2006/relationships" ns8:id="rId2"/>
              </a:rPr>
              <a:t xml:space="preserve"> /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9="http://schemas.openxmlformats.org/officeDocument/2006/relationships" ns9:id="rId2"/>
              </a:rPr>
              <a:t>两轮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10="http://schemas.openxmlformats.org/officeDocument/2006/relationships" ns10:id="rId2"/>
              </a:rPr>
              <a:t xml:space="preserve"> ENS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11="http://schemas.openxmlformats.org/officeDocument/2006/relationships" ns11:id="rId2"/>
              </a:rPr>
              <a:t>外部调研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12="http://schemas.openxmlformats.org/officeDocument/2006/relationships" ns12:id="rId2"/>
              </a:rPr>
              <a:t xml:space="preserve"> /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13="http://schemas.openxmlformats.org/officeDocument/2006/relationships" ns13:id="rId2"/>
              </a:rPr>
              <a:t>原始材料）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5193462" y="1524000"/>
            <a:ext cx="99631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P03–05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患者画像与量表的依据来源；全部逐字入库、口径可追溯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4412412" y="1990725"/>
            <a:ext cx="10972800" cy="723900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5" name=""/>
          <p:cNvSpPr/>
          <p:nvPr/>
        </p:nvSpPr>
        <p:spPr>
          <a:xfrm rot="0" flipH="0" flipV="0">
            <a:off x="4641012" y="2162175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4755312" y="227647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5193462" y="2133600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14="http://schemas.openxmlformats.org/officeDocument/2006/relationships" ns14:id="rId3"/>
              </a:rPr>
              <a:t xml:space="preserve">02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15="http://schemas.openxmlformats.org/officeDocument/2006/relationships" ns15:id="rId3"/>
              </a:rPr>
              <a:t>详细技术链路（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16="http://schemas.openxmlformats.org/officeDocument/2006/relationships" ns16:id="rId3"/>
              </a:rPr>
              <a:t xml:space="preserve">8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17="http://schemas.openxmlformats.org/officeDocument/2006/relationships" ns17:id="rId3"/>
              </a:rPr>
              <a:t>份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18="http://schemas.openxmlformats.org/officeDocument/2006/relationships" ns18:id="rId3"/>
              </a:rPr>
              <a:t xml:space="preserve"> · DICOM →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19="http://schemas.openxmlformats.org/officeDocument/2006/relationships" ns19:id="rId3"/>
              </a:rPr>
              <a:t>几何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20="http://schemas.openxmlformats.org/officeDocument/2006/relationships" ns20:id="rId3"/>
              </a:rPr>
              <a:t xml:space="preserve"> →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21="http://schemas.openxmlformats.org/officeDocument/2006/relationships" ns21:id="rId3"/>
              </a:rPr>
              <a:t>网格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22="http://schemas.openxmlformats.org/officeDocument/2006/relationships" ns22:id="rId3"/>
              </a:rPr>
              <a:t xml:space="preserve"> →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23="http://schemas.openxmlformats.org/officeDocument/2006/relationships" ns23:id="rId3"/>
              </a:rPr>
              <a:t>求解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24="http://schemas.openxmlformats.org/officeDocument/2006/relationships" ns24:id="rId3"/>
              </a:rPr>
              <a:t xml:space="preserve"> →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25="http://schemas.openxmlformats.org/officeDocument/2006/relationships" ns25:id="rId3"/>
              </a:rPr>
              <a:t>指标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26="http://schemas.openxmlformats.org/officeDocument/2006/relationships" ns26:id="rId3"/>
              </a:rPr>
              <a:t xml:space="preserve"> →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27="http://schemas.openxmlformats.org/officeDocument/2006/relationships" ns27:id="rId3"/>
              </a:rPr>
              <a:t>工作台）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5193462" y="2352675"/>
            <a:ext cx="99631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>P07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「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CT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进功能数字出」每一步的方法文档；从权威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起读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4412412" y="2819400"/>
            <a:ext cx="10972800" cy="723900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0" name=""/>
          <p:cNvSpPr/>
          <p:nvPr/>
        </p:nvSpPr>
        <p:spPr>
          <a:xfrm rot="0" flipH="0" flipV="0">
            <a:off x="4641012" y="2990850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755312" y="310515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5193462" y="2962275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28="http://schemas.openxmlformats.org/officeDocument/2006/relationships" ns28:id="rId4"/>
              </a:rPr>
              <a:t xml:space="preserve">03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29="http://schemas.openxmlformats.org/officeDocument/2006/relationships" ns29:id="rId4"/>
              </a:rPr>
              <a:t>验证与校准依据（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30="http://schemas.openxmlformats.org/officeDocument/2006/relationships" ns30:id="rId4"/>
              </a:rPr>
              <a:t xml:space="preserve">6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31="http://schemas.openxmlformats.org/officeDocument/2006/relationships" ns31:id="rId4"/>
              </a:rPr>
              <a:t>份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32="http://schemas.openxmlformats.org/officeDocument/2006/relationships" ns32:id="rId4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33="http://schemas.openxmlformats.org/officeDocument/2006/relationships" ns33:id="rId4"/>
              </a:rPr>
              <a:t>验证三重门的底稿）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5193462" y="3181350"/>
            <a:ext cx="99631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0.087%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已知答案对照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独立复验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/ 42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秒一条命令复现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—— P15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的出处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4412412" y="3648075"/>
            <a:ext cx="10972800" cy="723900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5" name=""/>
          <p:cNvSpPr/>
          <p:nvPr/>
        </p:nvSpPr>
        <p:spPr>
          <a:xfrm rot="0" flipH="0" flipV="0">
            <a:off x="4641012" y="3819525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755312" y="393382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5193462" y="3790950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34="http://schemas.openxmlformats.org/officeDocument/2006/relationships" ns34:id="rId5"/>
              </a:rPr>
              <a:t xml:space="preserve">04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35="http://schemas.openxmlformats.org/officeDocument/2006/relationships" ns35:id="rId5"/>
              </a:rPr>
              <a:t>未来的依据（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36="http://schemas.openxmlformats.org/officeDocument/2006/relationships" ns36:id="rId5"/>
              </a:rPr>
              <a:t xml:space="preserve">5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37="http://schemas.openxmlformats.org/officeDocument/2006/relationships" ns37:id="rId5"/>
              </a:rPr>
              <a:t>份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38="http://schemas.openxmlformats.org/officeDocument/2006/relationships" ns38:id="rId5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39="http://schemas.openxmlformats.org/officeDocument/2006/relationships" ns39:id="rId5"/>
              </a:rPr>
              <a:t>症状关联证据分级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40="http://schemas.openxmlformats.org/officeDocument/2006/relationships" ns40:id="rId5"/>
              </a:rPr>
              <a:t xml:space="preserve"> +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41="http://schemas.openxmlformats.org/officeDocument/2006/relationships" ns41:id="rId5"/>
              </a:rPr>
              <a:t>症状标签探查）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5193462" y="4010025"/>
            <a:ext cx="99631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愿景页热通量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r≈−0.76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等关联数字的文献出处，与「标签不可得」的探查记录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4412412" y="4476750"/>
            <a:ext cx="10972800" cy="723900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1B3A5C"/>
              </a:gs>
              <a:gs pos="100000">
                <a:srgbClr val="12263F"/>
              </a:gs>
            </a:gsLst>
            <a:lin ang="3600000" scaled="1"/>
          </a:gra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4641012" y="4648200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F5A524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755312" y="4762500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5A5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5193462" y="4619625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42="http://schemas.openxmlformats.org/officeDocument/2006/relationships" ns42:id="rId6"/>
              </a:rPr>
              <a:t xml:space="preserve">05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43="http://schemas.openxmlformats.org/officeDocument/2006/relationships" ns43:id="rId6"/>
              </a:rPr>
              <a:t>标准训练方法与队列就绪（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44="http://schemas.openxmlformats.org/officeDocument/2006/relationships" ns44:id="rId6"/>
              </a:rPr>
              <a:t xml:space="preserve">4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45="http://schemas.openxmlformats.org/officeDocument/2006/relationships" ns45:id="rId6"/>
              </a:rPr>
              <a:t>份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46="http://schemas.openxmlformats.org/officeDocument/2006/relationships" ns46:id="rId6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47="http://schemas.openxmlformats.org/officeDocument/2006/relationships" ns47:id="rId6"/>
              </a:rPr>
              <a:t>训练设计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48="http://schemas.openxmlformats.org/officeDocument/2006/relationships" ns48:id="rId6"/>
              </a:rPr>
              <a:t xml:space="preserve"> v1 + 24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49="http://schemas.openxmlformats.org/officeDocument/2006/relationships" ns49:id="rId6"/>
              </a:rPr>
              <a:t>例批量实跑）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5193462" y="4838700"/>
            <a:ext cx="99631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从评估工具到标准的路线图；「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24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例已就绪」出处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= T-059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批量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23/24 auto_pass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4412412" y="5305425"/>
            <a:ext cx="10972800" cy="723900"/>
          </a:xfrm>
          <a:prstGeom prst="roundRect">
            <a:avLst>
              <a:gd name="adj" fmla="val 15789"/>
            </a:avLst>
          </a:prstGeom>
          <a:gradFill>
            <a:gsLst>
              <a:gs pos="0">
                <a:srgbClr val="14294A"/>
              </a:gs>
              <a:gs pos="100000">
                <a:srgbClr val="0E2039"/>
              </a:gs>
            </a:gsLst>
            <a:lin ang="3600000" scaled="1"/>
          </a:gradFill>
          <a:ln w="12700">
            <a:solidFill>
              <a:srgbClr val="8BA6C1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5" name=""/>
          <p:cNvSpPr/>
          <p:nvPr/>
        </p:nvSpPr>
        <p:spPr>
          <a:xfrm rot="0" flipH="0" flipV="0">
            <a:off x="4641012" y="5476875"/>
            <a:ext cx="381000" cy="381000"/>
          </a:xfrm>
          <a:prstGeom prst="roundRect">
            <a:avLst>
              <a:gd name="adj" fmla="val 50000"/>
            </a:avLst>
          </a:prstGeom>
          <a:ln w="25400">
            <a:solidFill>
              <a:srgbClr val="22D3EE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4755312" y="5591175"/>
            <a:ext cx="161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2D3EE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193462" y="5448300"/>
            <a:ext cx="996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50="http://schemas.openxmlformats.org/officeDocument/2006/relationships" ns50:id="rId7"/>
              </a:rPr>
              <a:t xml:space="preserve">06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51="http://schemas.openxmlformats.org/officeDocument/2006/relationships" ns51:id="rId7"/>
              </a:rPr>
              <a:t>功能演示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52="http://schemas.openxmlformats.org/officeDocument/2006/relationships" ns52:id="rId7"/>
              </a:rPr>
              <a:t xml:space="preserve"> Demo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53="http://schemas.openxmlformats.org/officeDocument/2006/relationships" ns53:id="rId7"/>
              </a:rPr>
              <a:t>（三维检查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54="http://schemas.openxmlformats.org/officeDocument/2006/relationships" ns54:id="rId7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55="http://schemas.openxmlformats.org/officeDocument/2006/relationships" ns55:id="rId7"/>
              </a:rPr>
              <a:t>流线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56="http://schemas.openxmlformats.org/officeDocument/2006/relationships" ns56:id="rId7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57="http://schemas.openxmlformats.org/officeDocument/2006/relationships" ns57:id="rId7"/>
              </a:rPr>
              <a:t>对比</a:t>
            </a:r>
            <a:r>
              <a:rPr lang="en-US" sz="1200" b="1" u="sng">
                <a:solidFill>
                  <a:srgbClr val="7DE3F4"/>
                </a:solidFill>
                <a:latin typeface="Microsoft YaHei"/>
                <a:ea typeface="Microsoft YaHei"/>
                <a:hlinkClick xmlns:ns58="http://schemas.openxmlformats.org/officeDocument/2006/relationships" ns58:id="rId7"/>
              </a:rPr>
              <a:t xml:space="preserve"> · </a:t>
            </a:r>
            <a:r>
              <a:rPr lang="zh-CN" sz="1200" b="1" u="sng">
                <a:solidFill>
                  <a:srgbClr val="7DE3F4"/>
                </a:solidFill>
                <a:latin typeface="Microsoft YaHei"/>
                <a:ea typeface="Microsoft YaHei"/>
                <a:hlinkClick xmlns:ns59="http://schemas.openxmlformats.org/officeDocument/2006/relationships" ns59:id="rId7"/>
              </a:rPr>
              <a:t>任务控制台）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5193462" y="5667375"/>
            <a:ext cx="99631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真实脱敏数据；现场演示前需先启动本地服务（启动三维工作台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>.ps1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4412412" y="6096000"/>
            <a:ext cx="10972800" cy="361950"/>
          </a:xfrm>
          <a:custGeom>
            <a:pathLst>
              <a:path w="1152" h="3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8BA6C1">
              <a:alpha val="22000"/>
            </a:srgbClr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412412" y="6210300"/>
            <a:ext cx="7924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依据来源：三例指标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= T-058 §6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（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>patient_metrics.json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）·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24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例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= T-059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批量结果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判据</a:t>
            </a:r>
            <a:r>
              <a:rPr lang="en-US" sz="975">
                <a:solidFill>
                  <a:srgbClr val="8BA6C1"/>
                </a:solidFill>
                <a:latin typeface="Microsoft YaHei"/>
                <a:ea typeface="Microsoft YaHei"/>
              </a:rPr>
              <a:t xml:space="preserve"> = T-002——30 </a:t>
            </a:r>
            <a:r>
              <a:rPr lang="zh-CN" sz="975">
                <a:solidFill>
                  <a:srgbClr val="8BA6C1"/>
                </a:solidFill>
                <a:latin typeface="Microsoft YaHei"/>
                <a:ea typeface="Microsoft YaHei"/>
              </a:rPr>
              <a:t>份材料均可点击，每份标注原件路径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5118512" y="62007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A6C1"/>
                </a:solidFill>
                <a:latin typeface="Microsoft YaHei"/>
                <a:ea typeface="Microsoft YaHei"/>
              </a:rPr>
              <a:t>附录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2026-10-16T19:13:34Z</dcterms:created>
  <dcterms:modified xsi:type="dcterms:W3CDTF">2026-10-16T19:13:34Z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5A8E80B12DA247968C6036AB0BE95E27_12</vt:lpwstr>
  </property>
  <property fmtid="{D5CDD505-2E9C-101B-9397-08002B2CF9AE}" pid="3" name="KSOProductBuildVer">
    <vt:lpwstr>2052-12.1.0.29161</vt:lpwstr>
  </property>
</Properties>
</file>